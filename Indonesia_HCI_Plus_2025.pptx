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0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1828800"/>
            <a:ext cx="1645920" cy="5080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6400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Human Capital</a:t>
            </a:r>
            <a:br/>
            <a:r>
              <a:t>Index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E87D1E"/>
                </a:solidFill>
                <a:latin typeface="Calibri"/>
              </a:defRPr>
            </a:pPr>
            <a:r>
              <a:t>HCI+  | 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297680"/>
            <a:ext cx="3657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INDONESIA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303520"/>
            <a:ext cx="5486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8899AA"/>
                </a:solidFill>
                <a:latin typeface="Calibri"/>
              </a:defRPr>
            </a:pPr>
            <a:r>
              <a:t>Comparing Indonesia with East Asia &amp; Pacific regional averages</a:t>
            </a:r>
            <a:br/>
            <a:r>
              <a:t>across health, education, and employment 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6035040"/>
            <a:ext cx="2011680" cy="292608"/>
          </a:xfrm>
          <a:prstGeom prst="round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6035040"/>
            <a:ext cx="2011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E87D1E"/>
                </a:solidFill>
                <a:latin typeface="Calibri"/>
              </a:defRPr>
            </a:pPr>
            <a:r>
              <a:t>East Asia &amp; Pacific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6035040"/>
            <a:ext cx="2011680" cy="292608"/>
          </a:xfrm>
          <a:prstGeom prst="round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6035040"/>
            <a:ext cx="2011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0">
                <a:solidFill>
                  <a:srgbClr val="E87D1E"/>
                </a:solidFill>
                <a:latin typeface="Calibri"/>
              </a:defRPr>
            </a:pPr>
            <a:r>
              <a:t>Lower Middle Income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74720" cy="4572000"/>
          </a:xfrm>
          <a:prstGeom prst="round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554480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E87D1E"/>
                </a:solidFill>
                <a:latin typeface="Calibri"/>
              </a:defRPr>
            </a:pPr>
            <a:r>
              <a:t>OVERALL HCI+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47472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7200" b="1">
                <a:solidFill>
                  <a:srgbClr val="FFFFFF"/>
                </a:solidFill>
                <a:latin typeface="Calibri Light"/>
              </a:defRPr>
            </a:pPr>
            <a:r>
              <a:t>175.4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65760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7A7A8C"/>
                </a:solidFill>
                <a:latin typeface="Calibri"/>
              </a:defRPr>
            </a:pPr>
            <a:r>
              <a:t>out of 325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20624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AABBCC"/>
                </a:solidFill>
                <a:latin typeface="Calibri"/>
              </a:defRPr>
            </a:pPr>
            <a:r>
              <a:t>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4206240"/>
            <a:ext cx="6400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1">
                <a:solidFill>
                  <a:srgbClr val="2B4C7E"/>
                </a:solidFill>
                <a:latin typeface="Calibri"/>
              </a:defRPr>
            </a:pPr>
            <a:r>
              <a:t>40.7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4407408"/>
            <a:ext cx="2926080" cy="91440"/>
          </a:xfrm>
          <a:prstGeom prst="round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21040" y="4407408"/>
            <a:ext cx="2381829" cy="91440"/>
          </a:xfrm>
          <a:prstGeom prst="roundRect">
            <a:avLst/>
          </a:prstGeom>
          <a:solidFill>
            <a:srgbClr val="2B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70916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AABBCC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4709160"/>
            <a:ext cx="6400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1">
                <a:solidFill>
                  <a:srgbClr val="D4533B"/>
                </a:solidFill>
                <a:latin typeface="Calibri"/>
              </a:defRPr>
            </a:pPr>
            <a:r>
              <a:t>96.5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4910328"/>
            <a:ext cx="2926080" cy="91440"/>
          </a:xfrm>
          <a:prstGeom prst="round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21040" y="4910328"/>
            <a:ext cx="1568704" cy="91440"/>
          </a:xfrm>
          <a:prstGeom prst="roundRect">
            <a:avLst/>
          </a:prstGeom>
          <a:solidFill>
            <a:srgbClr val="D45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5212080"/>
            <a:ext cx="1097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AABBCC"/>
                </a:solidFill>
                <a:latin typeface="Calibri"/>
              </a:defRPr>
            </a:pPr>
            <a:r>
              <a:t>Employment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5212080"/>
            <a:ext cx="6400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1">
                <a:solidFill>
                  <a:srgbClr val="4E9A51"/>
                </a:solidFill>
                <a:latin typeface="Calibri"/>
              </a:defRPr>
            </a:pPr>
            <a:r>
              <a:t>38.1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5413248"/>
            <a:ext cx="2926080" cy="91440"/>
          </a:xfrm>
          <a:prstGeom prst="round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0" y="5413248"/>
            <a:ext cx="1592623" cy="91440"/>
          </a:xfrm>
          <a:prstGeom prst="roundRect">
            <a:avLst/>
          </a:prstGeom>
          <a:solidFill>
            <a:srgbClr val="4E9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553212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1">
                <a:solidFill>
                  <a:srgbClr val="E87D1E"/>
                </a:solidFill>
                <a:latin typeface="Calibri"/>
              </a:defRPr>
            </a:pPr>
            <a:r>
              <a:t>Ranked #17 in EAP  |  #93 Globally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Indonesia  |  Overall HCI+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003F72"/>
                </a:solidFill>
                <a:latin typeface="Calibri"/>
              </a:defRPr>
            </a:pPr>
            <a:r>
              <a:t>175.4 / 325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A7A8C"/>
                </a:solidFill>
                <a:latin typeface="Calibri"/>
              </a:defRPr>
            </a:pPr>
            <a:r>
              <a:t>Indonesia's overall human capital score compared with the East Asia &amp; Pacific regional average.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685800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INDONESIA vs EAP AVERAGE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1828800" cy="3810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94560" y="2423160"/>
            <a:ext cx="3383280" cy="3383280"/>
          </a:xfrm>
          <a:prstGeom prst="ellipse">
            <a:avLst/>
          </a:prstGeom>
          <a:solidFill>
            <a:srgbClr val="C6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53540" y="2782140"/>
            <a:ext cx="2665319" cy="2665319"/>
          </a:xfrm>
          <a:prstGeom prst="ellipse">
            <a:avLst/>
          </a:prstGeom>
          <a:noFill/>
          <a:ln w="38100">
            <a:solidFill>
              <a:srgbClr val="E8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43457" y="2872057"/>
            <a:ext cx="2485484" cy="2485484"/>
          </a:xfrm>
          <a:prstGeom prst="ellipse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644980"/>
            <a:ext cx="914400" cy="274320"/>
          </a:xfrm>
          <a:prstGeom prst="rect">
            <a:avLst/>
          </a:prstGeom>
          <a:noFill/>
        </p:spPr>
        <p:txBody>
          <a:bodyPr wrap="square" anchor="b"/>
          <a:lstStyle/>
          <a:p>
            <a:pPr algn="ctr">
              <a:defRPr sz="1800" b="1">
                <a:solidFill>
                  <a:srgbClr val="E87D1E"/>
                </a:solidFill>
                <a:latin typeface="Calibri"/>
              </a:defRPr>
            </a:pPr>
            <a:r>
              <a:t>202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931920"/>
            <a:ext cx="914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CCDDEE"/>
                </a:solidFill>
                <a:latin typeface="Calibri"/>
              </a:defRPr>
            </a:pPr>
            <a:r>
              <a:t>175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5623560"/>
            <a:ext cx="228600" cy="13716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605272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East Asia &amp; Pacific HCI+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5623560"/>
            <a:ext cx="228600" cy="13716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5605272"/>
            <a:ext cx="18288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Indonesia HCI+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5623560"/>
            <a:ext cx="228600" cy="137160"/>
          </a:xfrm>
          <a:prstGeom prst="rect">
            <a:avLst/>
          </a:prstGeom>
          <a:solidFill>
            <a:srgbClr val="C6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5605272"/>
            <a:ext cx="18288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Potential Productivity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1828800"/>
            <a:ext cx="411480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1828800"/>
            <a:ext cx="63500" cy="429768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201168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3F72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37744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Indonesia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237744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1">
                <a:solidFill>
                  <a:srgbClr val="003F72"/>
                </a:solidFill>
                <a:latin typeface="Calibri"/>
              </a:defRPr>
            </a:pPr>
            <a:r>
              <a:t>175.4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2697480"/>
            <a:ext cx="356616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88036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EAP Average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88036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1">
                <a:solidFill>
                  <a:srgbClr val="E87D1E"/>
                </a:solidFill>
                <a:latin typeface="Calibri"/>
              </a:defRPr>
            </a:pPr>
            <a:r>
              <a:t>201.7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3200400"/>
            <a:ext cx="356616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338328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Maximum Potential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338328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1">
                <a:solidFill>
                  <a:srgbClr val="7A7A8C"/>
                </a:solidFill>
                <a:latin typeface="Calibri"/>
              </a:defRPr>
            </a:pPr>
            <a:r>
              <a:t>325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3703320"/>
            <a:ext cx="356616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388620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Gap to EAP Avg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388620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1">
                <a:solidFill>
                  <a:srgbClr val="C0392B"/>
                </a:solidFill>
                <a:latin typeface="Calibri"/>
              </a:defRPr>
            </a:pPr>
            <a:r>
              <a:t>+26.3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4206240"/>
            <a:ext cx="356616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438912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% of Potential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438912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54%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3F72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5212080"/>
            <a:ext cx="35661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Indonesia scores 175.4 on the HCI+, below the EAP regional average of 201.7 (a gap of 26.3 points). Indonesia realizes 54% of its potential productivity. The largest gap with the EAP average is in education (21.6 points below), followed by health (2.1 points) and employment (2.6 points).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2B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Health Component  |  Indonesia vs EAP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2B4C7E"/>
                </a:solidFill>
                <a:latin typeface="Calibri"/>
              </a:defRPr>
            </a:pPr>
            <a:r>
              <a:t>40.7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A7A8C"/>
                </a:solidFill>
                <a:latin typeface="Calibri"/>
              </a:defRPr>
            </a:pPr>
            <a:r>
              <a:t>Health captures adult survival (ages 15-60) and freedom from childhood stunting.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685800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INDONESIA vs EAP AVERAGE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1828800" cy="38100"/>
          </a:xfrm>
          <a:prstGeom prst="rect">
            <a:avLst/>
          </a:prstGeom>
          <a:solidFill>
            <a:srgbClr val="2B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94560" y="2423160"/>
            <a:ext cx="3383280" cy="3383280"/>
          </a:xfrm>
          <a:prstGeom prst="ellipse">
            <a:avLst/>
          </a:prstGeom>
          <a:solidFill>
            <a:srgbClr val="C6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21090" y="2549690"/>
            <a:ext cx="3130219" cy="3130219"/>
          </a:xfrm>
          <a:prstGeom prst="ellipse">
            <a:avLst/>
          </a:prstGeom>
          <a:noFill/>
          <a:ln w="38100">
            <a:solidFill>
              <a:srgbClr val="E8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59969" y="2588569"/>
            <a:ext cx="3052461" cy="3052461"/>
          </a:xfrm>
          <a:prstGeom prst="ellipse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412530"/>
            <a:ext cx="914400" cy="274320"/>
          </a:xfrm>
          <a:prstGeom prst="rect">
            <a:avLst/>
          </a:prstGeom>
          <a:noFill/>
        </p:spPr>
        <p:txBody>
          <a:bodyPr wrap="square" anchor="b"/>
          <a:lstStyle/>
          <a:p>
            <a:pPr algn="ctr">
              <a:defRPr sz="1800" b="1">
                <a:solidFill>
                  <a:srgbClr val="E87D1E"/>
                </a:solidFill>
                <a:latin typeface="Calibri"/>
              </a:defRPr>
            </a:pPr>
            <a:r>
              <a:t>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931920"/>
            <a:ext cx="914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CCDDEE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5623560"/>
            <a:ext cx="228600" cy="13716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605272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East Asia &amp; Pacific HCI+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5623560"/>
            <a:ext cx="228600" cy="13716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5605272"/>
            <a:ext cx="18288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Indonesia HCI+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5623560"/>
            <a:ext cx="228600" cy="137160"/>
          </a:xfrm>
          <a:prstGeom prst="rect">
            <a:avLst/>
          </a:prstGeom>
          <a:solidFill>
            <a:srgbClr val="C6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5605272"/>
            <a:ext cx="18288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Potential Productivity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1828800"/>
            <a:ext cx="411480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1828800"/>
            <a:ext cx="63500" cy="4297680"/>
          </a:xfrm>
          <a:prstGeom prst="rect">
            <a:avLst/>
          </a:prstGeom>
          <a:solidFill>
            <a:srgbClr val="2B4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201168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2B4C7E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37744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Indonesia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237744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1">
                <a:solidFill>
                  <a:srgbClr val="003F72"/>
                </a:solidFill>
                <a:latin typeface="Calibri"/>
              </a:defRPr>
            </a:pPr>
            <a:r>
              <a:t>40.7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2697480"/>
            <a:ext cx="356616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88036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EAP Average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88036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1">
                <a:solidFill>
                  <a:srgbClr val="E87D1E"/>
                </a:solidFill>
                <a:latin typeface="Calibri"/>
              </a:defRPr>
            </a:pPr>
            <a:r>
              <a:t>42.8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3200400"/>
            <a:ext cx="356616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338328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Maximum Potential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338328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1">
                <a:solidFill>
                  <a:srgbClr val="7A7A8C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3703320"/>
            <a:ext cx="356616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388620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Gap to EAP Avg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388620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1">
                <a:solidFill>
                  <a:srgbClr val="C0392B"/>
                </a:solidFill>
                <a:latin typeface="Calibri"/>
              </a:defRPr>
            </a:pPr>
            <a:r>
              <a:t>+2.1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4206240"/>
            <a:ext cx="356616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438912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% of Potential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438912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81%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B4C7E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5212080"/>
            <a:ext cx="35661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Indonesia's health score of 40.7 is close to the EAP average of 42.8 (gap of 2.1 points). Adult survival stands at ~81%, and child stunting (~21.6%) remains a key challenge. The EAP best performer (Korea) scores 48.8, indicating room for improvement especially in nutrition outcomes.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5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Education Component  |  Indonesia vs EAP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D4533B"/>
                </a:solidFill>
                <a:latin typeface="Calibri"/>
              </a:defRPr>
            </a:pPr>
            <a:r>
              <a:t>96.5 / 180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A7A8C"/>
                </a:solidFill>
                <a:latin typeface="Calibri"/>
              </a:defRPr>
            </a:pPr>
            <a:r>
              <a:t>Education captures learning quality, years of schooling, pre-primary education, and tertiary enrollment.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685800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INDONESIA vs EAP AVERAGE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1828800" cy="38100"/>
          </a:xfrm>
          <a:prstGeom prst="rect">
            <a:avLst/>
          </a:prstGeom>
          <a:solidFill>
            <a:srgbClr val="D45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94560" y="2423160"/>
            <a:ext cx="3383280" cy="3383280"/>
          </a:xfrm>
          <a:prstGeom prst="ellipse">
            <a:avLst/>
          </a:prstGeom>
          <a:solidFill>
            <a:srgbClr val="C6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15959" y="2744559"/>
            <a:ext cx="2740480" cy="2740480"/>
          </a:xfrm>
          <a:prstGeom prst="ellipse">
            <a:avLst/>
          </a:prstGeom>
          <a:noFill/>
          <a:ln w="38100">
            <a:solidFill>
              <a:srgbClr val="E8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47587" y="2876187"/>
            <a:ext cx="2477224" cy="2477224"/>
          </a:xfrm>
          <a:prstGeom prst="ellipse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607399"/>
            <a:ext cx="914400" cy="274320"/>
          </a:xfrm>
          <a:prstGeom prst="rect">
            <a:avLst/>
          </a:prstGeom>
          <a:noFill/>
        </p:spPr>
        <p:txBody>
          <a:bodyPr wrap="square" anchor="b"/>
          <a:lstStyle/>
          <a:p>
            <a:pPr algn="ctr">
              <a:defRPr sz="1800" b="1">
                <a:solidFill>
                  <a:srgbClr val="E87D1E"/>
                </a:solidFill>
                <a:latin typeface="Calibri"/>
              </a:defRPr>
            </a:pPr>
            <a:r>
              <a:t>118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931920"/>
            <a:ext cx="914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CCDDEE"/>
                </a:solidFill>
                <a:latin typeface="Calibri"/>
              </a:defRPr>
            </a:pPr>
            <a:r>
              <a:t>96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5623560"/>
            <a:ext cx="228600" cy="13716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605272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East Asia &amp; Pacific HCI+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5623560"/>
            <a:ext cx="228600" cy="13716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5605272"/>
            <a:ext cx="18288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Indonesia HCI+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5623560"/>
            <a:ext cx="228600" cy="137160"/>
          </a:xfrm>
          <a:prstGeom prst="rect">
            <a:avLst/>
          </a:prstGeom>
          <a:solidFill>
            <a:srgbClr val="C6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5605272"/>
            <a:ext cx="18288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Potential Productivity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1828800"/>
            <a:ext cx="411480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1828800"/>
            <a:ext cx="63500" cy="4297680"/>
          </a:xfrm>
          <a:prstGeom prst="rect">
            <a:avLst/>
          </a:prstGeom>
          <a:solidFill>
            <a:srgbClr val="D45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201168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D4533B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37744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Indonesia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237744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1">
                <a:solidFill>
                  <a:srgbClr val="003F72"/>
                </a:solidFill>
                <a:latin typeface="Calibri"/>
              </a:defRPr>
            </a:pPr>
            <a:r>
              <a:t>96.5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2697480"/>
            <a:ext cx="356616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88036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EAP Average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88036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1">
                <a:solidFill>
                  <a:srgbClr val="E87D1E"/>
                </a:solidFill>
                <a:latin typeface="Calibri"/>
              </a:defRPr>
            </a:pPr>
            <a:r>
              <a:t>118.1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3200400"/>
            <a:ext cx="356616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338328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Maximum Potential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338328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1">
                <a:solidFill>
                  <a:srgbClr val="7A7A8C"/>
                </a:solidFill>
                <a:latin typeface="Calibri"/>
              </a:defRPr>
            </a:pPr>
            <a:r>
              <a:t>180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3703320"/>
            <a:ext cx="356616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388620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Gap to EAP Avg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388620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1">
                <a:solidFill>
                  <a:srgbClr val="C0392B"/>
                </a:solidFill>
                <a:latin typeface="Calibri"/>
              </a:defRPr>
            </a:pPr>
            <a:r>
              <a:t>+21.6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4206240"/>
            <a:ext cx="356616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438912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% of Potential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438912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54%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D4533B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5212080"/>
            <a:ext cx="35661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Education is Indonesia's largest gap with the EAP average — scoring 96.5 vs the regional average of 118.1 (a gap of 21.6 points). Indonesia realizes only 54% of education potential. Key areas for improvement include learning quality (HLO ~392 vs EAP avg 436) and tertiary enrollment. The EAP best performer (Singapore) scores 179.4.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4E9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400" b="1">
                <a:solidFill>
                  <a:srgbClr val="FFFFFF"/>
                </a:solidFill>
                <a:latin typeface="Calibri Light"/>
              </a:defRPr>
            </a:pPr>
            <a:r>
              <a:t>Employment Component  |  Indonesia vs EAP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200" b="1">
                <a:solidFill>
                  <a:srgbClr val="4E9A51"/>
                </a:solidFill>
                <a:latin typeface="Calibri"/>
              </a:defRPr>
            </a:pPr>
            <a:r>
              <a:t>38.1 / 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7A7A8C"/>
                </a:solidFill>
                <a:latin typeface="Calibri"/>
              </a:defRPr>
            </a:pPr>
            <a:r>
              <a:t>Employment captures labor force participation, wage employment, and skill accumulation for youth and working-age populations.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685800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7A7A8C"/>
                </a:solidFill>
                <a:latin typeface="Calibri"/>
              </a:defRPr>
            </a:pPr>
            <a:r>
              <a:t>INDONESIA vs EAP AVERAGE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1828800" cy="38100"/>
          </a:xfrm>
          <a:prstGeom prst="rect">
            <a:avLst/>
          </a:prstGeom>
          <a:solidFill>
            <a:srgbClr val="4E9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94560" y="2423160"/>
            <a:ext cx="3383280" cy="3383280"/>
          </a:xfrm>
          <a:prstGeom prst="ellipse">
            <a:avLst/>
          </a:prstGeom>
          <a:solidFill>
            <a:srgbClr val="C6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96299" y="2824899"/>
            <a:ext cx="2579800" cy="2579800"/>
          </a:xfrm>
          <a:prstGeom prst="ellipse">
            <a:avLst/>
          </a:prstGeom>
          <a:noFill/>
          <a:ln w="38100">
            <a:solidFill>
              <a:srgbClr val="E87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38180" y="2866780"/>
            <a:ext cx="2496039" cy="2496039"/>
          </a:xfrm>
          <a:prstGeom prst="ellipse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687739"/>
            <a:ext cx="914400" cy="274320"/>
          </a:xfrm>
          <a:prstGeom prst="rect">
            <a:avLst/>
          </a:prstGeom>
          <a:noFill/>
        </p:spPr>
        <p:txBody>
          <a:bodyPr wrap="square" anchor="b"/>
          <a:lstStyle/>
          <a:p>
            <a:pPr algn="ctr">
              <a:defRPr sz="1800" b="1">
                <a:solidFill>
                  <a:srgbClr val="E87D1E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931920"/>
            <a:ext cx="914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CCDDEE"/>
                </a:solidFill>
                <a:latin typeface="Calibri"/>
              </a:defRPr>
            </a:pPr>
            <a:r>
              <a:t>38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5623560"/>
            <a:ext cx="228600" cy="13716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605272"/>
            <a:ext cx="2286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East Asia &amp; Pacific HCI+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5623560"/>
            <a:ext cx="228600" cy="137160"/>
          </a:xfrm>
          <a:prstGeom prst="rect">
            <a:avLst/>
          </a:prstGeom>
          <a:solidFill>
            <a:srgbClr val="003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5605272"/>
            <a:ext cx="18288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Indonesia HCI+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5623560"/>
            <a:ext cx="228600" cy="137160"/>
          </a:xfrm>
          <a:prstGeom prst="rect">
            <a:avLst/>
          </a:prstGeom>
          <a:solidFill>
            <a:srgbClr val="C6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5605272"/>
            <a:ext cx="18288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1A1A2E"/>
                </a:solidFill>
                <a:latin typeface="Calibri"/>
              </a:defRPr>
            </a:pPr>
            <a:r>
              <a:t>Potential Productivity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1828800"/>
            <a:ext cx="411480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0" y="1828800"/>
            <a:ext cx="63500" cy="4297680"/>
          </a:xfrm>
          <a:prstGeom prst="rect">
            <a:avLst/>
          </a:prstGeom>
          <a:solidFill>
            <a:srgbClr val="4E9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201168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4E9A51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37744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Indonesia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237744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1">
                <a:solidFill>
                  <a:srgbClr val="003F72"/>
                </a:solidFill>
                <a:latin typeface="Calibri"/>
              </a:defRPr>
            </a:pPr>
            <a:r>
              <a:t>38.1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2697480"/>
            <a:ext cx="356616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288036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EAP Average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88036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1">
                <a:solidFill>
                  <a:srgbClr val="E87D1E"/>
                </a:solidFill>
                <a:latin typeface="Calibri"/>
              </a:defRPr>
            </a:pPr>
            <a:r>
              <a:t>40.7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3200400"/>
            <a:ext cx="356616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338328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Maximum Potential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338328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1">
                <a:solidFill>
                  <a:srgbClr val="7A7A8C"/>
                </a:solidFill>
                <a:latin typeface="Calibri"/>
              </a:defRPr>
            </a:pPr>
            <a:r>
              <a:t>70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3703320"/>
            <a:ext cx="356616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388620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Gap to EAP Avg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388620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1">
                <a:solidFill>
                  <a:srgbClr val="C0392B"/>
                </a:solidFill>
                <a:latin typeface="Calibri"/>
              </a:defRPr>
            </a:pPr>
            <a:r>
              <a:t>+2.6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4206240"/>
            <a:ext cx="356616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438912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7A7A8C"/>
                </a:solidFill>
                <a:latin typeface="Calibri"/>
              </a:defRPr>
            </a:pPr>
            <a:r>
              <a:t>% of Potential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438912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54%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4E9A51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5212080"/>
            <a:ext cx="35661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1A1A2E"/>
                </a:solidFill>
                <a:latin typeface="Calibri"/>
              </a:defRPr>
            </a:pPr>
            <a:r>
              <a:t>Indonesia's employment score of 38.1 is close to the EAP average of 40.7 (gap of 2.6 points). Indonesia has a notable gender gap in employment (+33.4 favoring males). Youth labor force participation and wage employment shares offer room for growth. The EAP best performer (New Zealand) scores 61.5.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464808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ABBCC"/>
                </a:solidFill>
                <a:latin typeface="Calibri"/>
              </a:defRPr>
            </a:pPr>
            <a:r>
              <a:t>Source: World Bank Human Capital Index Plus (HCI+)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6464808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00889E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21440" y="6464808"/>
            <a:ext cx="457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8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