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0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1828800"/>
            <a:ext cx="164592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6400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Human Capital</a:t>
            </a:r>
            <a:br/>
            <a:r>
              <a:t>Index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E87D1E"/>
                </a:solidFill>
                <a:latin typeface="Calibri"/>
              </a:defRPr>
            </a:pPr>
            <a:r>
              <a:t>HCI+  |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3657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03520"/>
            <a:ext cx="5486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Comparing Indonesia with East Asia &amp; Pacific regional averages</a:t>
            </a:r>
            <a:br/>
            <a:r>
              <a:t>across health, education, and employment dimensions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E87D1E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E87D1E"/>
                </a:solidFill>
                <a:latin typeface="Calibri"/>
              </a:defRPr>
            </a:pPr>
            <a:r>
              <a:t>Upper Middle Income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4572000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5544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E87D1E"/>
                </a:solidFill>
                <a:latin typeface="Calibri"/>
              </a:defRPr>
            </a:pPr>
            <a:r>
              <a:t>OVERALL HCI+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47472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7200" b="1">
                <a:solidFill>
                  <a:srgbClr val="FFFFFF"/>
                </a:solidFill>
                <a:latin typeface="Calibri Light"/>
              </a:defRPr>
            </a:pPr>
            <a:r>
              <a:t>175.4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474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7A7A8C"/>
                </a:solidFill>
                <a:latin typeface="Calibri"/>
              </a:defRPr>
            </a:pPr>
            <a:r>
              <a:t>out of 325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20624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2B4C7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40740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4407408"/>
            <a:ext cx="2381829" cy="91440"/>
          </a:xfrm>
          <a:prstGeom prst="round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470916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D4533B"/>
                </a:solidFill>
                <a:latin typeface="Calibri"/>
              </a:defRPr>
            </a:pPr>
            <a:r>
              <a:t>96.5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491032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4910328"/>
            <a:ext cx="1568704" cy="91440"/>
          </a:xfrm>
          <a:prstGeom prst="round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21208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521208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4E9A51"/>
                </a:solidFill>
                <a:latin typeface="Calibri"/>
              </a:defRPr>
            </a:pPr>
            <a:r>
              <a:t>38.1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541324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1040" y="5413248"/>
            <a:ext cx="1592623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532120"/>
            <a:ext cx="29260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Ranked #17 in EAP  |  #93 Globally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Indonesia  |  Overall HCI+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3F72"/>
                </a:solidFill>
                <a:latin typeface="Calibri"/>
              </a:defRPr>
            </a:pPr>
            <a:r>
              <a:t>175.4 / 325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Indonesia's overall human capital score compared with the East Asia &amp; Pacific regional average.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68580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INDONESIA vs EAP AVERAGE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1828800" cy="381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94560" y="2423160"/>
            <a:ext cx="3383280" cy="3383280"/>
          </a:xfrm>
          <a:prstGeom prst="ellipse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53540" y="2782140"/>
            <a:ext cx="2665319" cy="2665319"/>
          </a:xfrm>
          <a:prstGeom prst="ellipse">
            <a:avLst/>
          </a:prstGeom>
          <a:noFill/>
          <a:ln w="381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43457" y="2872057"/>
            <a:ext cx="2485484" cy="2485484"/>
          </a:xfrm>
          <a:prstGeom prst="ellipse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644980"/>
            <a:ext cx="914400" cy="27432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>
              <a:defRPr sz="1800" b="1">
                <a:solidFill>
                  <a:srgbClr val="E87D1E"/>
                </a:solidFill>
                <a:latin typeface="Calibri"/>
              </a:defRPr>
            </a:pPr>
            <a:r>
              <a:t>202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93192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175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5623560"/>
            <a:ext cx="228600" cy="13716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560527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East Asia &amp; Pacific HCI+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5623560"/>
            <a:ext cx="228600" cy="13716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Indonesia HCI+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5623560"/>
            <a:ext cx="228600" cy="137160"/>
          </a:xfrm>
          <a:prstGeom prst="rect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Potential Productivity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828800"/>
            <a:ext cx="41148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1828800"/>
            <a:ext cx="63500" cy="429768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011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03F72"/>
                </a:solidFill>
                <a:latin typeface="Calibri"/>
              </a:defRPr>
            </a:pPr>
            <a: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37744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37744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003F72"/>
                </a:solidFill>
                <a:latin typeface="Calibri"/>
              </a:defRPr>
            </a:pPr>
            <a:r>
              <a:t>175.4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69748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88036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8036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E87D1E"/>
                </a:solidFill>
                <a:latin typeface="Calibri"/>
              </a:defRPr>
            </a:pPr>
            <a:r>
              <a:t>201.7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320040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338328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Maximum Potential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338328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7A7A8C"/>
                </a:solidFill>
                <a:latin typeface="Calibri"/>
              </a:defRPr>
            </a:pPr>
            <a:r>
              <a:t>325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70332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388620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Gap to EAP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388620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+26.3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420624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0" y="438912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% of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38912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54%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3F72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212080"/>
            <a:ext cx="35661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Indonesia scores 175.4 on the HCI+, below the EAP regional average of 201.7 (a gap of 26.3 points). Indonesia realizes 54% of its potential productivity. The largest gap with the EAP average is in education (21.6 points below), followed by health (2.1 points) and employment (2.6 points).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Health Component  |  Indonesia vs EAP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B4C7E"/>
                </a:solidFill>
                <a:latin typeface="Calibri"/>
              </a:defRPr>
            </a:pPr>
            <a:r>
              <a:t>40.7 /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Health captures adult survival (ages 15-60) and freedom from childhood stunting.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68580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INDONESIA vs EAP AVERAGE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1828800" cy="381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94560" y="2423160"/>
            <a:ext cx="3383280" cy="3383280"/>
          </a:xfrm>
          <a:prstGeom prst="ellipse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1090" y="2549690"/>
            <a:ext cx="3130219" cy="3130219"/>
          </a:xfrm>
          <a:prstGeom prst="ellipse">
            <a:avLst/>
          </a:prstGeom>
          <a:noFill/>
          <a:ln w="381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59969" y="2588569"/>
            <a:ext cx="3052461" cy="3052461"/>
          </a:xfrm>
          <a:prstGeom prst="ellipse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412530"/>
            <a:ext cx="914400" cy="27432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>
              <a:defRPr sz="1800" b="1">
                <a:solidFill>
                  <a:srgbClr val="E87D1E"/>
                </a:solidFill>
                <a:latin typeface="Calibri"/>
              </a:defRPr>
            </a:pPr>
            <a:r>
              <a:t>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93192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5623560"/>
            <a:ext cx="228600" cy="13716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560527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East Asia &amp; Pacific HCI+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5623560"/>
            <a:ext cx="228600" cy="13716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Indonesia HCI+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5623560"/>
            <a:ext cx="228600" cy="137160"/>
          </a:xfrm>
          <a:prstGeom prst="rect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Potential Productivity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828800"/>
            <a:ext cx="41148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1828800"/>
            <a:ext cx="63500" cy="429768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011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B4C7E"/>
                </a:solidFill>
                <a:latin typeface="Calibri"/>
              </a:defRPr>
            </a:pPr>
            <a: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37744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37744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003F72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69748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88036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8036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E87D1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320040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338328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Maximum Potential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338328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7A7A8C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70332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388620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Gap to EAP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388620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+2.1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420624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0" y="438912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% of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38912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B4C7E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212080"/>
            <a:ext cx="35661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Indonesia's health score of 40.7 is close to the EAP average of 42.8 (gap of 2.1 points). Adult survival stands at ~81%, and child stunting (~21.6%) remains a key challenge. The EAP best performer (Korea) scores 48.8, indicating room for improvement especially in nutrition outcomes.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Education Component  |  Indonesia vs EAP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D4533B"/>
                </a:solidFill>
                <a:latin typeface="Calibri"/>
              </a:defRPr>
            </a:pPr>
            <a:r>
              <a:t>96.5 / 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Education captures learning quality, years of schooling, pre-primary education, and tertiary enrollment.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68580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INDONESIA vs EAP AVERAGE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1828800" cy="381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94560" y="2423160"/>
            <a:ext cx="3383280" cy="3383280"/>
          </a:xfrm>
          <a:prstGeom prst="ellipse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15959" y="2744559"/>
            <a:ext cx="2740480" cy="2740480"/>
          </a:xfrm>
          <a:prstGeom prst="ellipse">
            <a:avLst/>
          </a:prstGeom>
          <a:noFill/>
          <a:ln w="381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47587" y="2876187"/>
            <a:ext cx="2477224" cy="2477224"/>
          </a:xfrm>
          <a:prstGeom prst="ellipse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607399"/>
            <a:ext cx="914400" cy="27432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>
              <a:defRPr sz="1800" b="1">
                <a:solidFill>
                  <a:srgbClr val="E87D1E"/>
                </a:solidFill>
                <a:latin typeface="Calibri"/>
              </a:defRPr>
            </a:pPr>
            <a:r>
              <a:t>118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93192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96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5623560"/>
            <a:ext cx="228600" cy="13716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560527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East Asia &amp; Pacific HCI+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5623560"/>
            <a:ext cx="228600" cy="13716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Indonesia HCI+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5623560"/>
            <a:ext cx="228600" cy="137160"/>
          </a:xfrm>
          <a:prstGeom prst="rect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Potential Productivity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828800"/>
            <a:ext cx="41148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1828800"/>
            <a:ext cx="63500" cy="429768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011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D4533B"/>
                </a:solidFill>
                <a:latin typeface="Calibri"/>
              </a:defRPr>
            </a:pPr>
            <a: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37744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37744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003F72"/>
                </a:solidFill>
                <a:latin typeface="Calibri"/>
              </a:defRPr>
            </a:pPr>
            <a:r>
              <a:t>96.5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69748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88036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8036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E87D1E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320040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338328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Maximum Potential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338328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7A7A8C"/>
                </a:solidFill>
                <a:latin typeface="Calibri"/>
              </a:defRPr>
            </a:pPr>
            <a: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70332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388620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Gap to EAP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388620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+21.6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420624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0" y="438912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% of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38912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54%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D4533B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212080"/>
            <a:ext cx="35661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Education is Indonesia's largest gap with the EAP average — scoring 96.5 vs the regional average of 118.1 (a gap of 21.6 points). Indonesia realizes only 54% of education potential. Key areas for improvement include learning quality (HLO ~392 vs EAP avg 436) and tertiary enrollment. The EAP best performer (Singapore) scores 179.4.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Employment Component  |  Indonesia vs EAP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4E9A51"/>
                </a:solidFill>
                <a:latin typeface="Calibri"/>
              </a:defRPr>
            </a:pPr>
            <a:r>
              <a:t>38.1 / 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Employment captures labor force participation, wage employment, and skill accumulation for youth and working-age populations.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68580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INDONESIA vs EAP AVERAGE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182880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94560" y="2423160"/>
            <a:ext cx="3383280" cy="3383280"/>
          </a:xfrm>
          <a:prstGeom prst="ellipse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96299" y="2824899"/>
            <a:ext cx="2579800" cy="2579800"/>
          </a:xfrm>
          <a:prstGeom prst="ellipse">
            <a:avLst/>
          </a:prstGeom>
          <a:noFill/>
          <a:ln w="3810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38180" y="2866780"/>
            <a:ext cx="2496039" cy="2496039"/>
          </a:xfrm>
          <a:prstGeom prst="ellipse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687739"/>
            <a:ext cx="914400" cy="27432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>
              <a:defRPr sz="1800" b="1">
                <a:solidFill>
                  <a:srgbClr val="E87D1E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93192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5623560"/>
            <a:ext cx="228600" cy="13716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560527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East Asia &amp; Pacific HCI+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5623560"/>
            <a:ext cx="228600" cy="13716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Indonesia HCI+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5623560"/>
            <a:ext cx="228600" cy="137160"/>
          </a:xfrm>
          <a:prstGeom prst="rect">
            <a:avLst/>
          </a:prstGeom>
          <a:solidFill>
            <a:srgbClr val="C6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5605272"/>
            <a:ext cx="1828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Potential Productivity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828800"/>
            <a:ext cx="41148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1828800"/>
            <a:ext cx="63500" cy="429768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011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4E9A51"/>
                </a:solidFill>
                <a:latin typeface="Calibri"/>
              </a:defRPr>
            </a:pPr>
            <a: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37744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37744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003F72"/>
                </a:solidFill>
                <a:latin typeface="Calibri"/>
              </a:defRPr>
            </a:pPr>
            <a:r>
              <a:t>38.1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69748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88036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8036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320040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338328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Maximum Potential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338328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7A7A8C"/>
                </a:solidFill>
                <a:latin typeface="Calibri"/>
              </a:defRPr>
            </a:pPr>
            <a:r>
              <a:t>70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70332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388620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Gap to EAP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388620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+2.6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4206240"/>
            <a:ext cx="35661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0" y="4389120"/>
            <a:ext cx="20116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% of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389120"/>
            <a:ext cx="1371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54%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4E9A51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212080"/>
            <a:ext cx="35661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Indonesia's employment score of 38.1 is close to the EAP average of 40.7 (gap of 2.6 points). Indonesia has a notable gender gap in employment (+33.4 favoring males). Youth labor force participation and wage employment shares offer room for growth. The EAP best performer (New Zealand) scores 61.5.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