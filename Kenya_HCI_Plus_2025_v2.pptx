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(36.6)</c:v>
                </c:pt>
              </c:strCache>
            </c:strRef>
          </c:tx>
          <c:spPr>
            <a:solidFill>
              <a:srgbClr val="00889E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 (109.0)</c:v>
                </c:pt>
              </c:strCache>
            </c:strRef>
          </c:tx>
          <c:spPr>
            <a:solidFill>
              <a:srgbClr val="006EAF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 (25.3)</c:v>
                </c:pt>
              </c:strCache>
            </c:strRef>
          </c:tx>
          <c:spPr>
            <a:solidFill>
              <a:srgbClr val="E87D1E"/>
            </a:solidFill>
          </c:spPr>
          <c:cat>
            <c:strRef>
              <c:f>Sheet1!$A$2:$A$2</c:f>
              <c:strCache>
                <c:ptCount val="1"/>
                <c:pt idx="0">
                  <c:v>Kenya HCI+
(170.8 / 325)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25.3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5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HCI+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6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Sub-Saharan
Africa</c:v>
                </c:pt>
                <c:pt idx="1">
                  <c:v>South
Asia</c:v>
                </c:pt>
                <c:pt idx="2">
                  <c:v>Latin America
&amp; Caribbean</c:v>
                </c:pt>
                <c:pt idx="3">
                  <c:v>MENA+</c:v>
                </c:pt>
                <c:pt idx="4">
                  <c:v>East Asia
&amp; Pacific</c:v>
                </c:pt>
                <c:pt idx="5">
                  <c:v>Europe &amp;
Central Asia</c:v>
                </c:pt>
                <c:pt idx="6">
                  <c:v>Kenya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128.4</c:v>
                </c:pt>
                <c:pt idx="1">
                  <c:v>147.5</c:v>
                </c:pt>
                <c:pt idx="2">
                  <c:v>183.2</c:v>
                </c:pt>
                <c:pt idx="3">
                  <c:v>185.7</c:v>
                </c:pt>
                <c:pt idx="4">
                  <c:v>201.7</c:v>
                </c:pt>
                <c:pt idx="5">
                  <c:v>233.3</c:v>
                </c:pt>
                <c:pt idx="6">
                  <c:v>170.8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.0"/>
        </c:scaling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0889E"/>
            </a:solidFill>
          </c:spPr>
          <c:dPt>
            <c:idx val="8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Seychelles</c:v>
                </c:pt>
                <c:pt idx="1">
                  <c:v>Mauritius</c:v>
                </c:pt>
                <c:pt idx="2">
                  <c:v>Botswana</c:v>
                </c:pt>
                <c:pt idx="3">
                  <c:v>Ghana</c:v>
                </c:pt>
                <c:pt idx="4">
                  <c:v>Namibia</c:v>
                </c:pt>
                <c:pt idx="5">
                  <c:v>Rwanda</c:v>
                </c:pt>
                <c:pt idx="6">
                  <c:v>Uganda</c:v>
                </c:pt>
                <c:pt idx="7">
                  <c:v>Togo</c:v>
                </c:pt>
                <c:pt idx="8">
                  <c:v>Kenya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44.0</c:v>
                </c:pt>
                <c:pt idx="1">
                  <c:v>43.9</c:v>
                </c:pt>
                <c:pt idx="2">
                  <c:v>40.2</c:v>
                </c:pt>
                <c:pt idx="3">
                  <c:v>39.4</c:v>
                </c:pt>
                <c:pt idx="4">
                  <c:v>39.4</c:v>
                </c:pt>
                <c:pt idx="5">
                  <c:v>38.0</c:v>
                </c:pt>
                <c:pt idx="6">
                  <c:v>38.2</c:v>
                </c:pt>
                <c:pt idx="7">
                  <c:v>37.8</c:v>
                </c:pt>
                <c:pt idx="8">
                  <c:v>36.6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 Score</c:v>
                </c:pt>
              </c:strCache>
            </c:strRef>
          </c:tx>
          <c:spPr>
            <a:solidFill>
              <a:srgbClr val="006EAF"/>
            </a:solidFill>
          </c:spPr>
          <c:dPt>
            <c:idx val="2"/>
            <c:spPr>
              <a:solidFill>
                <a:srgbClr val="E87D1E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Seychelles</c:v>
                </c:pt>
                <c:pt idx="1">
                  <c:v>Mauritius</c:v>
                </c:pt>
                <c:pt idx="2">
                  <c:v>Kenya</c:v>
                </c:pt>
                <c:pt idx="3">
                  <c:v>Botswana</c:v>
                </c:pt>
                <c:pt idx="4">
                  <c:v>Rwanda</c:v>
                </c:pt>
                <c:pt idx="5">
                  <c:v>Ghana</c:v>
                </c:pt>
                <c:pt idx="6">
                  <c:v>Zimbabwe</c:v>
                </c:pt>
                <c:pt idx="7">
                  <c:v>Namibia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126.4</c:v>
                </c:pt>
                <c:pt idx="1">
                  <c:v>113.8</c:v>
                </c:pt>
                <c:pt idx="2">
                  <c:v>109.0</c:v>
                </c:pt>
                <c:pt idx="3">
                  <c:v>86.1</c:v>
                </c:pt>
                <c:pt idx="4">
                  <c:v>83.9</c:v>
                </c:pt>
                <c:pt idx="5">
                  <c:v>80.5</c:v>
                </c:pt>
                <c:pt idx="6">
                  <c:v>78.7</c:v>
                </c:pt>
                <c:pt idx="7">
                  <c:v>78.1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Gender Gap (Male - Female)</c:v>
                </c:pt>
              </c:strCache>
            </c:strRef>
          </c:tx>
          <c:spPr>
            <a:solidFill>
              <a:srgbClr val="1B3A5C"/>
            </a:solidFill>
          </c:spPr>
          <c:dPt>
            <c:idx val="0"/>
            <c:spPr>
              <a:solidFill>
                <a:srgbClr val="E05A4F"/>
              </a:solidFill>
            </c:spPr>
          </c:dPt>
          <c:dPt>
            <c:idx val="1"/>
            <c:spPr>
              <a:solidFill>
                <a:srgbClr val="E05A4F"/>
              </a:solidFill>
            </c:spPr>
          </c:dPt>
          <c:dLbls>
            <c:numFmt formatCode="+0.0;-0.0" sourceLinked="0"/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Health
Component</c:v>
                </c:pt>
                <c:pt idx="1">
                  <c:v>Education
Component</c:v>
                </c:pt>
                <c:pt idx="2">
                  <c:v>Employment
Component</c:v>
                </c:pt>
                <c:pt idx="3">
                  <c:v>Overall
HCI+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-3.299999999999997</c:v>
                </c:pt>
                <c:pt idx="1">
                  <c:v>-0.9000000000000057</c:v>
                </c:pt>
                <c:pt idx="2">
                  <c:v>13.5</c:v>
                </c:pt>
                <c:pt idx="3">
                  <c:v>9.299999999999983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Employment Score</c:v>
                </c:pt>
              </c:strCache>
            </c:strRef>
          </c:tx>
          <c:spPr>
            <a:solidFill>
              <a:srgbClr val="E87D1E"/>
            </a:solidFill>
          </c:spPr>
          <c:dPt>
            <c:idx val="5"/>
            <c:spPr>
              <a:solidFill>
                <a:srgbClr val="C05A00"/>
              </a:solidFill>
            </c:spPr>
          </c:dPt>
          <c:dLbls>
            <c:numFmt formatCode="0.0" sourceLinked="0"/>
            <c:txPr>
              <a:bodyPr/>
              <a:lstStyle/>
              <a:p>
                <a:pPr>
                  <a:defRPr sz="8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Uganda</c:v>
                </c:pt>
                <c:pt idx="1">
                  <c:v>Rwanda</c:v>
                </c:pt>
                <c:pt idx="2">
                  <c:v>Togo</c:v>
                </c:pt>
                <c:pt idx="3">
                  <c:v>Ghana</c:v>
                </c:pt>
                <c:pt idx="4">
                  <c:v>Botswana</c:v>
                </c:pt>
                <c:pt idx="5">
                  <c:v>Kenya</c:v>
                </c:pt>
                <c:pt idx="6">
                  <c:v>Zimbabwe</c:v>
                </c:pt>
                <c:pt idx="7">
                  <c:v>Namibia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39.2</c:v>
                </c:pt>
                <c:pt idx="1">
                  <c:v>35.1</c:v>
                </c:pt>
                <c:pt idx="2">
                  <c:v>35.3</c:v>
                </c:pt>
                <c:pt idx="3">
                  <c:v>32.9</c:v>
                </c:pt>
                <c:pt idx="4">
                  <c:v>30.6</c:v>
                </c:pt>
                <c:pt idx="5">
                  <c:v>25.3</c:v>
                </c:pt>
                <c:pt idx="6">
                  <c:v>25.2</c:v>
                </c:pt>
                <c:pt idx="7">
                  <c:v>23.3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00889E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3657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Measuring human capital from birth through working age across</a:t>
            </a:r>
            <a:br/>
            <a:r>
              <a:t>health, education, and employment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889E"/>
                </a:solidFill>
                <a:latin typeface="Calibri"/>
              </a:defRPr>
            </a:pPr>
            <a:r>
              <a:t>Sub-Saharan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00889E"/>
                </a:solidFill>
                <a:latin typeface="Calibri"/>
              </a:defRPr>
            </a:pPr>
            <a:r>
              <a:t>Lower Middle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889E"/>
                </a:solidFill>
                <a:latin typeface="Calibri"/>
              </a:defRPr>
            </a:pPr>
            <a:r>
              <a:t>OVERALL HCI+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170.8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889E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141890" cy="91440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109.0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771903" cy="91440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E87D1E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057568" cy="91440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#3 in Sub-Saharan Africa  |  #96 Globally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Kenya  |  HCI+ Score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170.8 / 325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COMPONENT 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920240"/>
          <a:ext cx="5029200" cy="1097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KENYA vs BENCHMARKS (Filled = Kenya, Hollow = Top Performer*)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*Top performer = 75th percentile among lower-middle-income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12394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5940" y="402335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66802" y="4023359"/>
            <a:ext cx="219456" cy="219456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2210" y="420623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889E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62686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2681" y="452627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6815" y="4526279"/>
            <a:ext cx="219456" cy="219456"/>
          </a:xfrm>
          <a:prstGeom prst="ellipse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2223" y="470915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006EAF"/>
                </a:solidFill>
                <a:latin typeface="Calibri"/>
              </a:defRPr>
            </a:pPr>
            <a:r>
              <a:t>109.0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79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5129783"/>
            <a:ext cx="2926080" cy="25400"/>
          </a:xfrm>
          <a:prstGeom prst="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07884" y="5029199"/>
            <a:ext cx="219456" cy="219456"/>
          </a:xfrm>
          <a:prstGeom prst="ellipse">
            <a:avLst/>
          </a:prstGeom>
          <a:noFill/>
          <a:ln w="317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82480" y="5029199"/>
            <a:ext cx="219456" cy="219456"/>
          </a:xfrm>
          <a:prstGeom prst="ellipse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7888" y="5212079"/>
            <a:ext cx="548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8" name="Oval 27"/>
          <p:cNvSpPr/>
          <p:nvPr/>
        </p:nvSpPr>
        <p:spPr>
          <a:xfrm>
            <a:off x="1024128" y="5550408"/>
            <a:ext cx="146304" cy="146304"/>
          </a:xfrm>
          <a:prstGeom prst="ellipse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532120"/>
            <a:ext cx="9144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30" name="Oval 29"/>
          <p:cNvSpPr/>
          <p:nvPr/>
        </p:nvSpPr>
        <p:spPr>
          <a:xfrm>
            <a:off x="2212848" y="5550408"/>
            <a:ext cx="146304" cy="146304"/>
          </a:xfrm>
          <a:prstGeom prst="ellipse">
            <a:avLst/>
          </a:prstGeom>
          <a:noFill/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5532120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LMI 75th Percentile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188720"/>
            <a:ext cx="54864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REGIONAL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691640"/>
            <a:ext cx="1828800" cy="381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6492240" y="1828800"/>
          <a:ext cx="493776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92240" y="493776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889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Kenya ranks #3 in Sub-Saharan Africa and outperforms the SSA average by 42.4 points. Education (109.0) is Kenya's strongest component, actually exceeding the LMI 75th percentile benchmark (86.6). Kenya is identified as a top performer relative to its income level.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889E"/>
                </a:solidFill>
                <a:latin typeface="Calibri"/>
              </a:defRPr>
            </a:pPr>
            <a:r>
              <a:t>Score: 36.6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outcomes reflect survival into productive adulthood and freedom from childhood malnutrition.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ADULT SURVIVAL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68.4%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3377427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5A4F"/>
                </a:solidFill>
                <a:latin typeface="Calibri"/>
              </a:defRPr>
            </a:pPr>
            <a:r>
              <a:t>Female: 72.5%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1B3A5C"/>
                </a:solidFill>
                <a:latin typeface="Calibri"/>
              </a:defRPr>
            </a:pPr>
            <a:r>
              <a:t>Male: 64.4%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1064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SSA Avg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889E"/>
                </a:solidFill>
                <a:latin typeface="Calibri"/>
              </a:defRPr>
            </a:pPr>
            <a:r>
              <a:t>NOT STUNTED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0604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889E"/>
                </a:solidFill>
                <a:latin typeface="Calibri Light"/>
              </a:defRPr>
            </a:pPr>
            <a:r>
              <a:t>82.4%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37560"/>
            <a:ext cx="4937760" cy="164592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3337560"/>
            <a:ext cx="4068714" cy="164592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6517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5A4F"/>
                </a:solidFill>
                <a:latin typeface="Calibri"/>
              </a:defRPr>
            </a:pPr>
            <a:r>
              <a:t>Female: 84.4%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9260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1B3A5C"/>
                </a:solidFill>
                <a:latin typeface="Calibri"/>
              </a:defRPr>
            </a:pPr>
            <a:r>
              <a:t>Male: 80.4%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00539" y="3246120"/>
            <a:ext cx="25400" cy="34747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6219" y="35661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00" b="0">
                <a:solidFill>
                  <a:srgbClr val="E87D1E"/>
                </a:solidFill>
                <a:latin typeface="Calibri"/>
              </a:defRPr>
            </a:pPr>
            <a:r>
              <a:t>SSA Avg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97680"/>
            <a:ext cx="112471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HEALTH COMPONENT: SSA TOP PERFORMERS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1828800" cy="254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31520" y="4800600"/>
          <a:ext cx="1078992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Rectangle 3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6EAF"/>
                </a:solidFill>
                <a:latin typeface="Calibri"/>
              </a:defRPr>
            </a:pPr>
            <a:r>
              <a:t>Score: 109.0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97480" cy="50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Expected Years of Schooling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6EAF"/>
                </a:solidFill>
                <a:latin typeface="Calibri Light"/>
              </a:defRPr>
            </a:pPr>
            <a:r>
              <a:t>11.03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1909103" cy="109728"/>
          </a:xfrm>
          <a:prstGeom prst="round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79% of maximum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1828800"/>
            <a:ext cx="269748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Harmonized Learning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A9E"/>
                </a:solidFill>
                <a:latin typeface="Calibri Light"/>
              </a:defRPr>
            </a:pPr>
            <a:r>
              <a:t>418.1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HLO score (out of 625)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74720" y="3520440"/>
            <a:ext cx="1620997" cy="109728"/>
          </a:xfrm>
          <a:prstGeom prst="round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67% of maximum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2697480" cy="50800"/>
          </a:xfrm>
          <a:prstGeom prst="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Pre-Primary Education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889E"/>
                </a:solidFill>
                <a:latin typeface="Calibri Light"/>
              </a:defRPr>
            </a:pPr>
            <a:r>
              <a:t>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learning-adj. years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3520440"/>
            <a:ext cx="1502359" cy="109728"/>
          </a:xfrm>
          <a:prstGeom prst="roundRect">
            <a:avLst/>
          </a:prstGeom>
          <a:solidFill>
            <a:srgbClr val="008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62% of maximum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98280" y="1828800"/>
            <a:ext cx="269748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01168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Tertiary Enrollment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56032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E87D1E"/>
                </a:solidFill>
                <a:latin typeface="Calibri Light"/>
              </a:defRPr>
            </a:pPr>
            <a:r>
              <a:t>20.3%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gross enrollment rate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3520440"/>
            <a:ext cx="2423160" cy="109728"/>
          </a:xfrm>
          <a:prstGeom prst="roundRect">
            <a:avLst/>
          </a:prstGeom>
          <a:solidFill>
            <a:srgbClr val="E0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35440" y="3520440"/>
            <a:ext cx="491901" cy="109728"/>
          </a:xfrm>
          <a:prstGeom prst="round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703320"/>
            <a:ext cx="24231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7A7A8C"/>
                </a:solidFill>
                <a:latin typeface="Calibri"/>
              </a:defRPr>
            </a:pPr>
            <a:r>
              <a:t>20% of maximum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6858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EDUCATION COMPONENT: SSA TOP PERFORMERS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754880"/>
            <a:ext cx="1828800" cy="254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731520" y="4846320"/>
          <a:ext cx="6400800" cy="1188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7589520" y="4343400"/>
            <a:ext cx="4114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4343400"/>
            <a:ext cx="63500" cy="1828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44805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6EAF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754880"/>
            <a:ext cx="3657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Kenya's strongest HCI+ pillar, scoring 109.0 — ranking #3 in SSA and exceeding the lower-middle-income 75th percentile benchmark (86.6). With 11.03 expected years of schooling and an HLO of 418.1, Kenya demonstrates strong educational foundations. Gender parity is nearly achieved. Tertiary enrollment (20.3%) offers room for growth.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&amp; Gender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E87D1E"/>
                </a:solidFill>
                <a:latin typeface="Calibri"/>
              </a:defRPr>
            </a:pPr>
            <a:r>
              <a:t>Score: 25.3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(15–24) and working-age (25–65) populations.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EMPLOYMENT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56032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Male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05A4F"/>
                </a:solidFill>
                <a:latin typeface="Calibri"/>
              </a:defRPr>
            </a:pPr>
            <a:r>
              <a:t>Female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02336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9748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Youth (15–24)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39.6%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37.2%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Youth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38.8%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43.9%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15468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32.9%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20440"/>
            <a:ext cx="4023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LFP Working Age (25–65)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78.0%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56616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71.0%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31920"/>
            <a:ext cx="4023360" cy="3657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Emp. Working 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35.6%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B3A5C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9776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E05A4F"/>
                </a:solidFill>
                <a:latin typeface="Calibri"/>
              </a:defRPr>
            </a:pPr>
            <a:r>
              <a:t>25.4%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82880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828800"/>
            <a:ext cx="548640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9659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E87D1E"/>
                </a:solidFill>
                <a:latin typeface="Calibri"/>
              </a:defRPr>
            </a:pPr>
            <a:r>
              <a:t>GENDER GAP (Male − Female)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19456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7A7A8C"/>
                </a:solidFill>
                <a:latin typeface="Calibri"/>
              </a:defRPr>
            </a:pPr>
            <a:r>
              <a:t>Bars show points by which male scores exceed female scores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6492240" y="2468880"/>
          <a:ext cx="4937760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ectangle 40"/>
          <p:cNvSpPr/>
          <p:nvPr/>
        </p:nvSpPr>
        <p:spPr>
          <a:xfrm>
            <a:off x="8229600" y="4297680"/>
            <a:ext cx="274320" cy="137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Men outperform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4297680"/>
            <a:ext cx="274320" cy="137160"/>
          </a:xfrm>
          <a:prstGeom prst="rect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251960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Women outperform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754880"/>
            <a:ext cx="6858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463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7A7A8C"/>
                </a:solidFill>
                <a:latin typeface="Calibri"/>
              </a:defRPr>
            </a:pPr>
            <a:r>
              <a:t>EMPLOYMENT COMPONENT: SSA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074920"/>
            <a:ext cx="1371600" cy="254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731520" y="5120640"/>
          <a:ext cx="6400800" cy="1005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9" name="Rounded Rectangle 48"/>
          <p:cNvSpPr/>
          <p:nvPr/>
        </p:nvSpPr>
        <p:spPr>
          <a:xfrm>
            <a:off x="7589520" y="4754880"/>
            <a:ext cx="41148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89520" y="4754880"/>
            <a:ext cx="63500" cy="146304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4846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E87D1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120640"/>
            <a:ext cx="3657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Employment is Kenya's weakest component (25.3). The largest gender gap is in employment (+13.5 for men), driven by disparities in wage employment (men 44.2% vs women 25.4%). Women outperform men in health (−3.3) and education (−0.9). Closing the employment gender gap could significantly boost Kenya's overall HCI+ score.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  |  github.com/worldbank/HCI-Plus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