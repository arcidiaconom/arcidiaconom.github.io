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Other Regions</c:v>
                </c:pt>
              </c:strCache>
            </c:strRef>
          </c:tx>
          <c:spPr>
            <a:solidFill>
              <a:srgbClr val="CCCCCC">
                <a:alpha val="40000"/>
              </a:srgbClr>
            </a:solidFill>
          </c:spPr>
          <c:invertIfNegative val="0"/>
          <c:xVal>
            <c:numRef>
              <c:f>Sheet1!$A$2:$A$39</c:f>
              <c:numCache>
                <c:formatCode>General</c:formatCode>
                <c:ptCount val="38"/>
                <c:pt idx="0">
                  <c:v>8.64</c:v>
                </c:pt>
                <c:pt idx="1">
                  <c:v>9.52</c:v>
                </c:pt>
                <c:pt idx="2">
                  <c:v>8.67</c:v>
                </c:pt>
                <c:pt idx="3">
                  <c:v>7.97</c:v>
                </c:pt>
                <c:pt idx="4">
                  <c:v>8.86</c:v>
                </c:pt>
                <c:pt idx="5">
                  <c:v>8.09</c:v>
                </c:pt>
                <c:pt idx="6">
                  <c:v>7.97</c:v>
                </c:pt>
                <c:pt idx="7">
                  <c:v>8.22</c:v>
                </c:pt>
                <c:pt idx="8">
                  <c:v>10.22</c:v>
                </c:pt>
                <c:pt idx="9">
                  <c:v>8.41</c:v>
                </c:pt>
                <c:pt idx="10">
                  <c:v>9.8</c:v>
                </c:pt>
                <c:pt idx="11">
                  <c:v>11.05</c:v>
                </c:pt>
                <c:pt idx="12">
                  <c:v>10.91</c:v>
                </c:pt>
                <c:pt idx="13">
                  <c:v>11.05</c:v>
                </c:pt>
                <c:pt idx="14">
                  <c:v>10.72</c:v>
                </c:pt>
                <c:pt idx="15">
                  <c:v>11.17</c:v>
                </c:pt>
                <c:pt idx="16">
                  <c:v>10.32</c:v>
                </c:pt>
                <c:pt idx="17">
                  <c:v>9.85</c:v>
                </c:pt>
                <c:pt idx="18">
                  <c:v>8.86</c:v>
                </c:pt>
                <c:pt idx="19">
                  <c:v>10.4</c:v>
                </c:pt>
                <c:pt idx="20">
                  <c:v>9.73</c:v>
                </c:pt>
                <c:pt idx="21">
                  <c:v>10.32</c:v>
                </c:pt>
                <c:pt idx="22">
                  <c:v>9.89</c:v>
                </c:pt>
                <c:pt idx="23">
                  <c:v>10.0</c:v>
                </c:pt>
                <c:pt idx="24">
                  <c:v>9.83</c:v>
                </c:pt>
                <c:pt idx="25">
                  <c:v>10.1</c:v>
                </c:pt>
                <c:pt idx="26">
                  <c:v>9.24</c:v>
                </c:pt>
                <c:pt idx="27">
                  <c:v>8.94</c:v>
                </c:pt>
                <c:pt idx="28">
                  <c:v>9.19</c:v>
                </c:pt>
                <c:pt idx="29">
                  <c:v>9.05</c:v>
                </c:pt>
                <c:pt idx="30">
                  <c:v>9.73</c:v>
                </c:pt>
                <c:pt idx="31">
                  <c:v>8.47</c:v>
                </c:pt>
                <c:pt idx="32">
                  <c:v>9.16</c:v>
                </c:pt>
                <c:pt idx="33">
                  <c:v>9.73</c:v>
                </c:pt>
                <c:pt idx="34">
                  <c:v>9.11</c:v>
                </c:pt>
                <c:pt idx="35">
                  <c:v>10.17</c:v>
                </c:pt>
                <c:pt idx="36">
                  <c:v>11.2</c:v>
                </c:pt>
                <c:pt idx="37">
                  <c:v>10.98</c:v>
                </c:pt>
              </c:numCache>
            </c:numRef>
          </c:xVal>
          <c:yVal>
            <c:numRef>
              <c:f>Sheet1!$B$2:$B$39</c:f>
              <c:numCache>
                <c:formatCode>General</c:formatCode>
                <c:ptCount val="38"/>
                <c:pt idx="0">
                  <c:v>130.7</c:v>
                </c:pt>
                <c:pt idx="1">
                  <c:v>132.1</c:v>
                </c:pt>
                <c:pt idx="2">
                  <c:v>170.8</c:v>
                </c:pt>
                <c:pt idx="3">
                  <c:v>123.4</c:v>
                </c:pt>
                <c:pt idx="4">
                  <c:v>152.9</c:v>
                </c:pt>
                <c:pt idx="5">
                  <c:v>156.9</c:v>
                </c:pt>
                <c:pt idx="6">
                  <c:v>145.2</c:v>
                </c:pt>
                <c:pt idx="7">
                  <c:v>132.6</c:v>
                </c:pt>
                <c:pt idx="8">
                  <c:v>201.0</c:v>
                </c:pt>
                <c:pt idx="9">
                  <c:v>109.4</c:v>
                </c:pt>
                <c:pt idx="10">
                  <c:v>156.9</c:v>
                </c:pt>
                <c:pt idx="11">
                  <c:v>256.5</c:v>
                </c:pt>
                <c:pt idx="12">
                  <c:v>251.2</c:v>
                </c:pt>
                <c:pt idx="13">
                  <c:v>269.3</c:v>
                </c:pt>
                <c:pt idx="14">
                  <c:v>259.5</c:v>
                </c:pt>
                <c:pt idx="15">
                  <c:v>269.7</c:v>
                </c:pt>
                <c:pt idx="16">
                  <c:v>210.5</c:v>
                </c:pt>
                <c:pt idx="17">
                  <c:v>203.5</c:v>
                </c:pt>
                <c:pt idx="18">
                  <c:v>197.5</c:v>
                </c:pt>
                <c:pt idx="19">
                  <c:v>221.3</c:v>
                </c:pt>
                <c:pt idx="20">
                  <c:v>204.7</c:v>
                </c:pt>
                <c:pt idx="21">
                  <c:v>226.2</c:v>
                </c:pt>
                <c:pt idx="22">
                  <c:v>202.9</c:v>
                </c:pt>
                <c:pt idx="23">
                  <c:v>193.5</c:v>
                </c:pt>
                <c:pt idx="24">
                  <c:v>197.6</c:v>
                </c:pt>
                <c:pt idx="25">
                  <c:v>205.3</c:v>
                </c:pt>
                <c:pt idx="26">
                  <c:v>200.1</c:v>
                </c:pt>
                <c:pt idx="27">
                  <c:v>178.1</c:v>
                </c:pt>
                <c:pt idx="28">
                  <c:v>158.8</c:v>
                </c:pt>
                <c:pt idx="29">
                  <c:v>146.7</c:v>
                </c:pt>
                <c:pt idx="30">
                  <c:v>182.6</c:v>
                </c:pt>
                <c:pt idx="31">
                  <c:v>99.3</c:v>
                </c:pt>
                <c:pt idx="32">
                  <c:v>170.2</c:v>
                </c:pt>
                <c:pt idx="33">
                  <c:v>161.2</c:v>
                </c:pt>
                <c:pt idx="34">
                  <c:v>147.1</c:v>
                </c:pt>
                <c:pt idx="35">
                  <c:v>196.3</c:v>
                </c:pt>
                <c:pt idx="36">
                  <c:v>251.2</c:v>
                </c:pt>
                <c:pt idx="37">
                  <c:v>257.3</c:v>
                </c:pt>
              </c:numCache>
            </c:numRef>
          </c:yVal>
          <c:bubbleSize>
            <c:numRef>
              <c:f>Sheet1!$C$2:$C$39</c:f>
              <c:numCache>
                <c:formatCode>General</c:formatCode>
                <c:ptCount val="38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5</c:v>
                </c:pt>
                <c:pt idx="12">
                  <c:v>5</c:v>
                </c:pt>
                <c:pt idx="13">
                  <c:v>3</c:v>
                </c:pt>
                <c:pt idx="14">
                  <c:v>3</c:v>
                </c:pt>
                <c:pt idx="15">
                  <c:v>3</c:v>
                </c:pt>
                <c:pt idx="16">
                  <c:v>5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3</c:v>
                </c:pt>
                <c:pt idx="21">
                  <c:v>3</c:v>
                </c:pt>
                <c:pt idx="22">
                  <c:v>8</c:v>
                </c:pt>
                <c:pt idx="23">
                  <c:v>5</c:v>
                </c:pt>
                <c:pt idx="24">
                  <c:v>5</c:v>
                </c:pt>
                <c:pt idx="25">
                  <c:v>5</c:v>
                </c:pt>
                <c:pt idx="26">
                  <c:v>3</c:v>
                </c:pt>
                <c:pt idx="27">
                  <c:v>3</c:v>
                </c:pt>
                <c:pt idx="28">
                  <c:v>10</c:v>
                </c:pt>
                <c:pt idx="29">
                  <c:v>5</c:v>
                </c:pt>
                <c:pt idx="30">
                  <c:v>3</c:v>
                </c:pt>
                <c:pt idx="31">
                  <c:v>5</c:v>
                </c:pt>
                <c:pt idx="32">
                  <c:v>3</c:v>
                </c:pt>
                <c:pt idx="33">
                  <c:v>5</c:v>
                </c:pt>
                <c:pt idx="34">
                  <c:v>3</c:v>
                </c:pt>
                <c:pt idx="35">
                  <c:v>5</c:v>
                </c:pt>
                <c:pt idx="36">
                  <c:v>8</c:v>
                </c:pt>
                <c:pt idx="37">
                  <c:v>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Sheet1!$B$41</c:f>
              <c:strCache>
                <c:ptCount val="1"/>
                <c:pt idx="0">
                  <c:v>East Asia &amp; Pacific</c:v>
                </c:pt>
              </c:strCache>
            </c:strRef>
          </c:tx>
          <c:spPr>
            <a:solidFill>
              <a:srgbClr val="006EAF"/>
            </a:solidFill>
          </c:spPr>
          <c:invertIfNegative val="0"/>
          <c:xVal>
            <c:numRef>
              <c:f>Sheet1!$A$42:$A$64</c:f>
              <c:numCache>
                <c:formatCode>General</c:formatCode>
                <c:ptCount val="23"/>
                <c:pt idx="0">
                  <c:v>10.74</c:v>
                </c:pt>
                <c:pt idx="1">
                  <c:v>11.79</c:v>
                </c:pt>
                <c:pt idx="2">
                  <c:v>10.83</c:v>
                </c:pt>
                <c:pt idx="3">
                  <c:v>11.0</c:v>
                </c:pt>
                <c:pt idx="4">
                  <c:v>10.78</c:v>
                </c:pt>
                <c:pt idx="5">
                  <c:v>11.1</c:v>
                </c:pt>
                <c:pt idx="6">
                  <c:v>11.63</c:v>
                </c:pt>
                <c:pt idx="7">
                  <c:v>10.08</c:v>
                </c:pt>
                <c:pt idx="8">
                  <c:v>9.58</c:v>
                </c:pt>
                <c:pt idx="9">
                  <c:v>9.73</c:v>
                </c:pt>
                <c:pt idx="10">
                  <c:v>11.28</c:v>
                </c:pt>
                <c:pt idx="11">
                  <c:v>9.99</c:v>
                </c:pt>
                <c:pt idx="12">
                  <c:v>10.44</c:v>
                </c:pt>
                <c:pt idx="13">
                  <c:v>9.55</c:v>
                </c:pt>
                <c:pt idx="14">
                  <c:v>9.58</c:v>
                </c:pt>
                <c:pt idx="15">
                  <c:v>9.25</c:v>
                </c:pt>
                <c:pt idx="16">
                  <c:v>8.86</c:v>
                </c:pt>
                <c:pt idx="17">
                  <c:v>8.67</c:v>
                </c:pt>
                <c:pt idx="18">
                  <c:v>8.09</c:v>
                </c:pt>
                <c:pt idx="19">
                  <c:v>8.57</c:v>
                </c:pt>
                <c:pt idx="20">
                  <c:v>8.86</c:v>
                </c:pt>
                <c:pt idx="21">
                  <c:v>9.06</c:v>
                </c:pt>
                <c:pt idx="22">
                  <c:v>8.06</c:v>
                </c:pt>
              </c:numCache>
            </c:numRef>
          </c:xVal>
          <c:yVal>
            <c:numRef>
              <c:f>Sheet1!$B$42:$B$64</c:f>
              <c:numCache>
                <c:formatCode>General</c:formatCode>
                <c:ptCount val="23"/>
                <c:pt idx="0">
                  <c:v>284.3</c:v>
                </c:pt>
                <c:pt idx="1">
                  <c:v>282.4</c:v>
                </c:pt>
                <c:pt idx="2">
                  <c:v>266.9</c:v>
                </c:pt>
                <c:pt idx="3">
                  <c:v>270.0</c:v>
                </c:pt>
                <c:pt idx="4">
                  <c:v>263.1</c:v>
                </c:pt>
                <c:pt idx="5">
                  <c:v>258.4</c:v>
                </c:pt>
                <c:pt idx="6">
                  <c:v>255.9</c:v>
                </c:pt>
                <c:pt idx="7">
                  <c:v>219.8</c:v>
                </c:pt>
                <c:pt idx="8">
                  <c:v>215.8</c:v>
                </c:pt>
                <c:pt idx="9">
                  <c:v>209.5</c:v>
                </c:pt>
                <c:pt idx="10">
                  <c:v>207.6</c:v>
                </c:pt>
                <c:pt idx="11">
                  <c:v>202.3</c:v>
                </c:pt>
                <c:pt idx="12">
                  <c:v>201.3</c:v>
                </c:pt>
                <c:pt idx="13">
                  <c:v>192.8</c:v>
                </c:pt>
                <c:pt idx="14">
                  <c:v>175.4</c:v>
                </c:pt>
                <c:pt idx="15">
                  <c:v>175.4</c:v>
                </c:pt>
                <c:pt idx="16">
                  <c:v>175.8</c:v>
                </c:pt>
                <c:pt idx="17">
                  <c:v>166.1</c:v>
                </c:pt>
                <c:pt idx="18">
                  <c:v>161.9</c:v>
                </c:pt>
                <c:pt idx="19">
                  <c:v>149.2</c:v>
                </c:pt>
                <c:pt idx="20">
                  <c:v>138.9</c:v>
                </c:pt>
                <c:pt idx="21">
                  <c:v>135.6</c:v>
                </c:pt>
                <c:pt idx="22">
                  <c:v>136.4</c:v>
                </c:pt>
              </c:numCache>
            </c:numRef>
          </c:yVal>
          <c:bubbleSize>
            <c:numRef>
              <c:f>Sheet1!$C$42:$C$64</c:f>
              <c:numCache>
                <c:formatCode>General</c:formatCode>
                <c:ptCount val="23"/>
                <c:pt idx="0">
                  <c:v>8</c:v>
                </c:pt>
                <c:pt idx="1">
                  <c:v>3</c:v>
                </c:pt>
                <c:pt idx="2">
                  <c:v>5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12</c:v>
                </c:pt>
                <c:pt idx="8">
                  <c:v>5</c:v>
                </c:pt>
                <c:pt idx="9">
                  <c:v>3</c:v>
                </c:pt>
                <c:pt idx="10">
                  <c:v>3</c:v>
                </c:pt>
                <c:pt idx="11">
                  <c:v>5</c:v>
                </c:pt>
                <c:pt idx="12">
                  <c:v>5</c:v>
                </c:pt>
                <c:pt idx="13">
                  <c:v>3</c:v>
                </c:pt>
                <c:pt idx="14">
                  <c:v>10</c:v>
                </c:pt>
                <c:pt idx="15">
                  <c:v>5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5</c:v>
                </c:pt>
                <c:pt idx="20">
                  <c:v>5</c:v>
                </c:pt>
                <c:pt idx="21">
                  <c:v>3</c:v>
                </c:pt>
                <c:pt idx="22">
                  <c:v>3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  <c:max val="12.0"/>
          <c:min val="7.5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Calibri"/>
                  </a:defRPr>
                </a:pPr>
                <a:r>
                  <a:t>Log GDP per Capita (PPP)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5723560"/>
        <c:crosses val="autoZero"/>
        <c:crossBetween val="midCat"/>
      </c:valAx>
      <c:valAx>
        <c:axId val="-2115723560"/>
        <c:scaling>
          <c:orientation val="minMax"/>
          <c:max val="300.0"/>
          <c:min val="8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00">
                    <a:latin typeface="Calibri"/>
                  </a:defRPr>
                </a:pPr>
                <a:r>
                  <a:t>HCI+ Score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57200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</c:v>
                </c:pt>
              </c:strCache>
            </c:strRef>
          </c:tx>
          <c:spPr>
            <a:solidFill>
              <a:srgbClr val="00889E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37.3</c:v>
                </c:pt>
                <c:pt idx="1">
                  <c:v>41.0</c:v>
                </c:pt>
                <c:pt idx="2">
                  <c:v>43.4</c:v>
                </c:pt>
                <c:pt idx="3">
                  <c:v>44.9</c:v>
                </c:pt>
                <c:pt idx="4">
                  <c:v>42.8</c:v>
                </c:pt>
                <c:pt idx="5">
                  <c:v>45.9</c:v>
                </c:pt>
                <c:pt idx="6">
                  <c:v>42.6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Education</c:v>
                </c:pt>
              </c:strCache>
            </c:strRef>
          </c:tx>
          <c:spPr>
            <a:solidFill>
              <a:srgbClr val="006EAF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64.1</c:v>
                </c:pt>
                <c:pt idx="1">
                  <c:v>83.0</c:v>
                </c:pt>
                <c:pt idx="2">
                  <c:v>98.3</c:v>
                </c:pt>
                <c:pt idx="3">
                  <c:v>105.8</c:v>
                </c:pt>
                <c:pt idx="4">
                  <c:v>118.1</c:v>
                </c:pt>
                <c:pt idx="5">
                  <c:v>140.8</c:v>
                </c:pt>
                <c:pt idx="6">
                  <c:v>107.4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Employment</c:v>
                </c:pt>
              </c:strCache>
            </c:strRef>
          </c:tx>
          <c:spPr>
            <a:solidFill>
              <a:srgbClr val="E87D1E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26.9</c:v>
                </c:pt>
                <c:pt idx="1">
                  <c:v>23.4</c:v>
                </c:pt>
                <c:pt idx="2">
                  <c:v>41.5</c:v>
                </c:pt>
                <c:pt idx="3">
                  <c:v>35.0</c:v>
                </c:pt>
                <c:pt idx="4">
                  <c:v>40.7</c:v>
                </c:pt>
                <c:pt idx="5">
                  <c:v>46.6</c:v>
                </c:pt>
                <c:pt idx="6">
                  <c:v>37.2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HCI+ Score</c:v>
                </c:pt>
              </c:strCache>
            </c:strRef>
          </c:tx>
          <c:spPr>
            <a:solidFill>
              <a:srgbClr val="006EAF"/>
            </a:solidFill>
          </c:spPr>
          <c:dPt>
            <c:idx val="0"/>
            <c:spPr>
              <a:solidFill>
                <a:srgbClr val="E05A4F"/>
              </a:solidFill>
            </c:spPr>
          </c:dPt>
          <c:dPt>
            <c:idx val="1"/>
            <c:spPr>
              <a:solidFill>
                <a:srgbClr val="E05A4F"/>
              </a:solidFill>
            </c:spPr>
          </c:dPt>
          <c:dPt>
            <c:idx val="2"/>
            <c:spPr>
              <a:solidFill>
                <a:srgbClr val="E05A4F"/>
              </a:solidFill>
            </c:spPr>
          </c:dPt>
          <c:dPt>
            <c:idx val="3"/>
            <c:spPr>
              <a:solidFill>
                <a:srgbClr val="E05A4F"/>
              </a:solidFill>
            </c:spPr>
          </c:dPt>
          <c:dPt>
            <c:idx val="4"/>
            <c:spPr>
              <a:solidFill>
                <a:srgbClr val="E05A4F"/>
              </a:solidFill>
            </c:spPr>
          </c:dPt>
          <c:dPt>
            <c:idx val="5"/>
            <c:spPr>
              <a:solidFill>
                <a:srgbClr val="E05A4F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7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Myanmar</c:v>
                </c:pt>
                <c:pt idx="4">
                  <c:v>Indonesia</c:v>
                </c:pt>
                <c:pt idx="5">
                  <c:v>Philippines</c:v>
                </c:pt>
                <c:pt idx="6">
                  <c:v>Fiji</c:v>
                </c:pt>
                <c:pt idx="7">
                  <c:v>Thailand</c:v>
                </c:pt>
                <c:pt idx="8">
                  <c:v>Malaysia</c:v>
                </c:pt>
                <c:pt idx="9">
                  <c:v>Mongolia</c:v>
                </c:pt>
                <c:pt idx="10">
                  <c:v>Vietnam</c:v>
                </c:pt>
                <c:pt idx="11">
                  <c:v>China</c:v>
                </c:pt>
                <c:pt idx="12">
                  <c:v>Palau</c:v>
                </c:pt>
                <c:pt idx="13">
                  <c:v>Macao</c:v>
                </c:pt>
                <c:pt idx="14">
                  <c:v>Hong Kong</c:v>
                </c:pt>
                <c:pt idx="15">
                  <c:v>New Zealand</c:v>
                </c:pt>
                <c:pt idx="16">
                  <c:v>Korea, Rep.</c:v>
                </c:pt>
                <c:pt idx="17">
                  <c:v>Australia</c:v>
                </c:pt>
                <c:pt idx="18">
                  <c:v>Singapore</c:v>
                </c:pt>
                <c:pt idx="19">
                  <c:v>Japan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135.6</c:v>
                </c:pt>
                <c:pt idx="1">
                  <c:v>136.4</c:v>
                </c:pt>
                <c:pt idx="2">
                  <c:v>138.9</c:v>
                </c:pt>
                <c:pt idx="3">
                  <c:v>149.2</c:v>
                </c:pt>
                <c:pt idx="4">
                  <c:v>175.4</c:v>
                </c:pt>
                <c:pt idx="5">
                  <c:v>175.4</c:v>
                </c:pt>
                <c:pt idx="6">
                  <c:v>192.8</c:v>
                </c:pt>
                <c:pt idx="7">
                  <c:v>202.3</c:v>
                </c:pt>
                <c:pt idx="8">
                  <c:v>201.3</c:v>
                </c:pt>
                <c:pt idx="9">
                  <c:v>209.5</c:v>
                </c:pt>
                <c:pt idx="10">
                  <c:v>215.8</c:v>
                </c:pt>
                <c:pt idx="11">
                  <c:v>219.8</c:v>
                </c:pt>
                <c:pt idx="12">
                  <c:v>228.6</c:v>
                </c:pt>
                <c:pt idx="13">
                  <c:v>255.9</c:v>
                </c:pt>
                <c:pt idx="14">
                  <c:v>258.4</c:v>
                </c:pt>
                <c:pt idx="15">
                  <c:v>263.1</c:v>
                </c:pt>
                <c:pt idx="16">
                  <c:v>266.9</c:v>
                </c:pt>
                <c:pt idx="17">
                  <c:v>270.0</c:v>
                </c:pt>
                <c:pt idx="18">
                  <c:v>282.4</c:v>
                </c:pt>
                <c:pt idx="19">
                  <c:v>284.3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Health Score</c:v>
                </c:pt>
              </c:strCache>
            </c:strRef>
          </c:tx>
          <c:spPr>
            <a:solidFill>
              <a:srgbClr val="00889E"/>
            </a:solidFill>
          </c:spPr>
          <c:dPt>
            <c:idx val="2"/>
            <c:spPr>
              <a:solidFill>
                <a:srgbClr val="006EAF"/>
              </a:solidFill>
            </c:spPr>
          </c:dPt>
          <c:dPt>
            <c:idx val="6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East Asia
&amp; Pacific</c:v>
                </c:pt>
                <c:pt idx="3">
                  <c:v>Latin America
&amp; Caribbean</c:v>
                </c:pt>
                <c:pt idx="4">
                  <c:v>MENA+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37.3</c:v>
                </c:pt>
                <c:pt idx="1">
                  <c:v>41.0</c:v>
                </c:pt>
                <c:pt idx="2">
                  <c:v>42.8</c:v>
                </c:pt>
                <c:pt idx="3">
                  <c:v>43.4</c:v>
                </c:pt>
                <c:pt idx="4">
                  <c:v>44.9</c:v>
                </c:pt>
                <c:pt idx="5">
                  <c:v>45.9</c:v>
                </c:pt>
                <c:pt idx="6">
                  <c:v>42.6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Education Score</c:v>
                </c:pt>
              </c:strCache>
            </c:strRef>
          </c:tx>
          <c:spPr>
            <a:solidFill>
              <a:srgbClr val="006EAF"/>
            </a:solidFill>
          </c:spPr>
          <c:dPt>
            <c:idx val="4"/>
            <c:spPr>
              <a:solidFill>
                <a:srgbClr val="006EAF"/>
              </a:solidFill>
            </c:spPr>
          </c:dPt>
          <c:dPt>
            <c:idx val="6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64.1</c:v>
                </c:pt>
                <c:pt idx="1">
                  <c:v>83.0</c:v>
                </c:pt>
                <c:pt idx="2">
                  <c:v>98.3</c:v>
                </c:pt>
                <c:pt idx="3">
                  <c:v>105.8</c:v>
                </c:pt>
                <c:pt idx="4">
                  <c:v>118.1</c:v>
                </c:pt>
                <c:pt idx="5">
                  <c:v>140.8</c:v>
                </c:pt>
                <c:pt idx="6">
                  <c:v>107.4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Gender Gap</c:v>
                </c:pt>
              </c:strCache>
            </c:strRef>
          </c:tx>
          <c:spPr>
            <a:solidFill>
              <a:srgbClr val="1B3A5C"/>
            </a:solidFill>
          </c:spPr>
          <c:dPt>
            <c:idx val="4"/>
            <c:spPr>
              <a:solidFill>
                <a:srgbClr val="006EAF"/>
              </a:solidFill>
            </c:spPr>
          </c:dPt>
          <c:dPt>
            <c:idx val="5"/>
            <c:spPr>
              <a:solidFill>
                <a:srgbClr val="E05A4F"/>
              </a:solidFill>
            </c:spPr>
          </c:dPt>
          <c:dLbls>
            <c:numFmt formatCode="+0.0;-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Sub-Saharan
Africa</c:v>
                </c:pt>
                <c:pt idx="1">
                  <c:v>South
Asia</c:v>
                </c:pt>
                <c:pt idx="2">
                  <c:v>MENA+</c:v>
                </c:pt>
                <c:pt idx="3">
                  <c:v>Latin America
&amp; Caribbean</c:v>
                </c:pt>
                <c:pt idx="4">
                  <c:v>East Asia
&amp; Pacific</c:v>
                </c:pt>
                <c:pt idx="5">
                  <c:v>Europe &amp;
Central 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5.2</c:v>
                </c:pt>
                <c:pt idx="1">
                  <c:v>15.8</c:v>
                </c:pt>
                <c:pt idx="2">
                  <c:v>18.3</c:v>
                </c:pt>
                <c:pt idx="3">
                  <c:v>4.1</c:v>
                </c:pt>
                <c:pt idx="4">
                  <c:v>5.7</c:v>
                </c:pt>
                <c:pt idx="5">
                  <c:v>-1.2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Employment Score</c:v>
                </c:pt>
              </c:strCache>
            </c:strRef>
          </c:tx>
          <c:spPr>
            <a:solidFill>
              <a:srgbClr val="E87D1E"/>
            </a:solidFill>
          </c:spPr>
          <c:dPt>
            <c:idx val="4"/>
            <c:spPr>
              <a:solidFill>
                <a:srgbClr val="006EAF"/>
              </a:solidFill>
            </c:spPr>
          </c:dPt>
          <c:dPt>
            <c:idx val="3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South
Asia</c:v>
                </c:pt>
                <c:pt idx="1">
                  <c:v>Sub-Saharan
Africa</c:v>
                </c:pt>
                <c:pt idx="2">
                  <c:v>MENA+</c:v>
                </c:pt>
                <c:pt idx="3">
                  <c:v>World</c:v>
                </c:pt>
                <c:pt idx="4">
                  <c:v>East Asia
&amp; Pacific</c:v>
                </c:pt>
                <c:pt idx="5">
                  <c:v>Latin America
&amp; Caribbean</c:v>
                </c:pt>
                <c:pt idx="6">
                  <c:v>Europe &amp;
Central Asia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23.4</c:v>
                </c:pt>
                <c:pt idx="1">
                  <c:v>26.9</c:v>
                </c:pt>
                <c:pt idx="2">
                  <c:v>35.0</c:v>
                </c:pt>
                <c:pt idx="3">
                  <c:v>37.2</c:v>
                </c:pt>
                <c:pt idx="4">
                  <c:v>40.7</c:v>
                </c:pt>
                <c:pt idx="5">
                  <c:v>41.5</c:v>
                </c:pt>
                <c:pt idx="6">
                  <c:v>46.6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0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" y="1828800"/>
            <a:ext cx="1645920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6400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800" b="1">
                <a:solidFill>
                  <a:srgbClr val="FFFFFF"/>
                </a:solidFill>
                <a:latin typeface="Calibri Light"/>
              </a:defRPr>
            </a:pPr>
            <a:r>
              <a:t>Human Capital</a:t>
            </a:r>
            <a:br/>
            <a:r>
              <a:t>Index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3657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006EAF"/>
                </a:solidFill>
                <a:latin typeface="Calibri"/>
              </a:defRPr>
            </a:pPr>
            <a:r>
              <a:t>HCI+  |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7315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303520"/>
            <a:ext cx="5486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Regional overview across 27 economies spanning health,</a:t>
            </a:r>
            <a:br/>
            <a:r>
              <a:t>education, and employment dimensions of human capital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006EAF"/>
                </a:solidFill>
                <a:latin typeface="Calibri"/>
              </a:defRPr>
            </a:pPr>
            <a:r>
              <a:t>27 Economies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006EAF"/>
                </a:solidFill>
                <a:latin typeface="Calibri"/>
              </a:defRPr>
            </a:pPr>
            <a:r>
              <a:t>All Income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74720" cy="4572000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5544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REGIONAL HCI+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47472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7200" b="1">
                <a:solidFill>
                  <a:srgbClr val="FFFFFF"/>
                </a:solidFill>
                <a:latin typeface="Calibri Light"/>
              </a:defRPr>
            </a:pPr>
            <a:r>
              <a:t>201.7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474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7A7A8C"/>
                </a:solidFill>
                <a:latin typeface="Calibri"/>
              </a:defRPr>
            </a:pPr>
            <a:r>
              <a:t>out of 325  |  World avg: 188.5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20624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420624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00889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440740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40" y="4407408"/>
            <a:ext cx="2504724" cy="91440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470916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006EAF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491032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4910328"/>
            <a:ext cx="1919833" cy="91440"/>
          </a:xfrm>
          <a:prstGeom prst="round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521208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521208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E87D1E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541324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1040" y="5413248"/>
            <a:ext cx="1701306" cy="91440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532120"/>
            <a:ext cx="29260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E87D1E"/>
                </a:solidFill>
                <a:latin typeface="Calibri"/>
              </a:defRPr>
            </a:pPr>
            <a:r>
              <a:t>Ranked #3 among 7 World Bank regions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HCI+ vs GDP per Capita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201.7 / 325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80467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HCI+ SCORE vs LOG GDP PER CAPITA (PPP)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2860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EAP countries in blue. All other regions shown in light gray for context.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1520" y="2011680"/>
          <a:ext cx="749807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778240" y="1188720"/>
            <a:ext cx="3017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0" y="1188720"/>
            <a:ext cx="63500" cy="493776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371600"/>
            <a:ext cx="26517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06EAF"/>
                </a:solidFill>
                <a:latin typeface="Calibri"/>
              </a:defRPr>
            </a:pPr>
            <a:r>
              <a:t>EAP IN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7373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Regional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1737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201.7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0299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945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World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1945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188.5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24871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6517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Economies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6517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29443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1089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Top Performer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31089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00889E"/>
                </a:solidFill>
                <a:latin typeface="Calibri"/>
              </a:defRPr>
            </a:pPr>
            <a:r>
              <a:t>Japan (284.3)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4015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5661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Lowest in EAP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566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E05A4F"/>
                </a:solidFill>
                <a:latin typeface="Calibri"/>
              </a:defRPr>
            </a:pPr>
            <a:r>
              <a:t>Lao PDR (135.6)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8587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40233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Europe/C. Asia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023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233.3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43159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0" y="44805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Latin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44805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183.2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47731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60" y="49377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Sub-Saharan Africa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49377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128.4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4846320"/>
            <a:ext cx="26517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120640"/>
            <a:ext cx="26517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EAP (avg 201.7) ranks 3rd among WB regions, exceeding the global average by 13 points. The region shows enormous variation: Japan (284.3) leads globally, while Lao PDR (135.6) trails. High-income EAP economies rival Europe.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Score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201.7 / 325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COMPONENT DECOMPOSITION BY 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502920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5720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7A7A8C"/>
                </a:solidFill>
                <a:latin typeface="Calibri"/>
              </a:defRPr>
            </a:pPr>
            <a:r>
              <a:t>EAP vs WORLD AVERAGE (Filled = EAP, Hollow = World)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892040"/>
            <a:ext cx="1828800" cy="254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52212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7932" y="51206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29636" y="5120640"/>
            <a:ext cx="219456" cy="219456"/>
          </a:xfrm>
          <a:prstGeom prst="ellipse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044" y="53035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00889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321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56784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0806" y="55778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4745" y="5577840"/>
            <a:ext cx="219456" cy="219456"/>
          </a:xfrm>
          <a:prstGeom prst="ellipse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153" y="57607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006EAF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893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61356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79914" y="60350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26218" y="6035040"/>
            <a:ext cx="219456" cy="219456"/>
          </a:xfrm>
          <a:prstGeom prst="ellipse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626" y="62179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E87D1E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18872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371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TOP EAP ECONOMIES BY HCI+ SCORE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691640"/>
            <a:ext cx="18288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492240" y="1828800"/>
          <a:ext cx="493776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Rectangle 30"/>
          <p:cNvSpPr/>
          <p:nvPr/>
        </p:nvSpPr>
        <p:spPr>
          <a:xfrm>
            <a:off x="6492240" y="5166360"/>
            <a:ext cx="228600" cy="109728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12064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Above world avg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5166360"/>
            <a:ext cx="228600" cy="109728"/>
          </a:xfrm>
          <a:prstGeom prst="rect">
            <a:avLst/>
          </a:prstGeom>
          <a:solidFill>
            <a:srgbClr val="E0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9640" y="512064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Below world avg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394960"/>
            <a:ext cx="50292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KEY INSIGHT: EAP outperforms the world average in all three components. Education is the strongest pillar (118.1 vs world 107.4). However, a 2:1 gap exists between top (Japan, 284.3) and bottom performers (Lao PDR, 135.6), reflecting wide income and development disparities.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Health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889E"/>
                </a:solidFill>
                <a:latin typeface="Calibri"/>
              </a:defRPr>
            </a:pPr>
            <a:r>
              <a:t>Avg: 42.8 /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Health outcomes reflect adult survival (ages 15-60) and freedom from childhood stunting.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54864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0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0889E"/>
                </a:solidFill>
                <a:latin typeface="Calibri"/>
              </a:defRPr>
            </a:pPr>
            <a:r>
              <a:t>ADULT SURVIVAL RATE (EAP AVG)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Probability of surviving from age 15 to 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400" b="1">
                <a:solidFill>
                  <a:srgbClr val="00889E"/>
                </a:solidFill>
                <a:latin typeface="Calibri Light"/>
              </a:defRPr>
            </a:pPr>
            <a:r>
              <a:t>85.3%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4937760" cy="164592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337560"/>
            <a:ext cx="4211909" cy="164592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7A8C"/>
                </a:solidFill>
                <a:latin typeface="Calibri"/>
              </a:defRPr>
            </a:pPr>
            <a:r>
              <a:t>World avg: 81.5%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2608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006EAF"/>
                </a:solidFill>
                <a:latin typeface="Calibri"/>
              </a:defRPr>
            </a:pPr>
            <a:r>
              <a:t>Best: Korea 96.7%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5794" y="3246120"/>
            <a:ext cx="25400" cy="347472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3566160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E87D1E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54864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828800"/>
            <a:ext cx="548640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0889E"/>
                </a:solidFill>
                <a:latin typeface="Calibri"/>
              </a:defRPr>
            </a:pPr>
            <a:r>
              <a:t>NOT STUNTED RATE (EAP AVG)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860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Share of children under 5 not stunted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60604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400" b="1">
                <a:solidFill>
                  <a:srgbClr val="00889E"/>
                </a:solidFill>
                <a:latin typeface="Calibri Light"/>
              </a:defRPr>
            </a:pPr>
            <a:r>
              <a:t>86.6%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337560"/>
            <a:ext cx="4937760" cy="164592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92240" y="3337560"/>
            <a:ext cx="4276100" cy="164592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265176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7A8C"/>
                </a:solidFill>
                <a:latin typeface="Calibri"/>
              </a:defRPr>
            </a:pPr>
            <a:r>
              <a:t>World avg: 77.1%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292608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006EAF"/>
                </a:solidFill>
                <a:latin typeface="Calibri"/>
              </a:defRPr>
            </a:pPr>
            <a:r>
              <a:t>Best: Korea 99.1%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99252" y="3246120"/>
            <a:ext cx="25400" cy="347472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4932" y="3566160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E87D1E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97680"/>
            <a:ext cx="1124712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4348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HEALTH COMPONENT: REGIONAL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709160"/>
            <a:ext cx="1828800" cy="254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731520" y="4800600"/>
          <a:ext cx="10789920" cy="1234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Rectangle 3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Education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Avg: 118.1 / 180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Education captures learning quality, years of schooling, pre-primary education, and tertiary enrollment.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69748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97480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Expected Years</a:t>
            </a:r>
            <a:br/>
            <a:r>
              <a:t>of Schooling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6EAF"/>
                </a:solidFill>
                <a:latin typeface="Calibri Light"/>
              </a:defRPr>
            </a:pPr>
            <a:r>
              <a:t>10.8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years (EAP avg)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1869294" cy="109728"/>
          </a:xfrm>
          <a:prstGeom prst="round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7033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77% of maximum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1828800"/>
            <a:ext cx="269748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1828800"/>
            <a:ext cx="2697480" cy="50800"/>
          </a:xfrm>
          <a:prstGeom prst="rect">
            <a:avLst/>
          </a:prstGeom>
          <a:solidFill>
            <a:srgbClr val="00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Harmonized Learning</a:t>
            </a:r>
            <a:br/>
            <a:r>
              <a:t>Outcomes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5A9E"/>
                </a:solidFill>
                <a:latin typeface="Calibri Light"/>
              </a:defRPr>
            </a:pPr>
            <a:r>
              <a:t>436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HLO score (out of 625)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74720" y="3520440"/>
            <a:ext cx="1690396" cy="109728"/>
          </a:xfrm>
          <a:prstGeom prst="roundRect">
            <a:avLst/>
          </a:prstGeom>
          <a:solidFill>
            <a:srgbClr val="00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37033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70% of maximum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828800"/>
            <a:ext cx="269748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828800"/>
            <a:ext cx="269748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Pre-Primary</a:t>
            </a:r>
            <a:br/>
            <a:r>
              <a:t>Education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889E"/>
                </a:solidFill>
                <a:latin typeface="Calibri Light"/>
              </a:defRPr>
            </a:pPr>
            <a:r>
              <a:t>0.59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learning-adj. years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55080" y="3520440"/>
            <a:ext cx="1429664" cy="109728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7033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59% of maximum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98280" y="1828800"/>
            <a:ext cx="269748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98280" y="1828800"/>
            <a:ext cx="2697480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Tertiary</a:t>
            </a:r>
            <a:br/>
            <a:r>
              <a:t>Enrollment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E87D1E"/>
                </a:solidFill>
                <a:latin typeface="Calibri Light"/>
              </a:defRPr>
            </a:pPr>
            <a:r>
              <a:t>37.4%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gross enrollment rate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235440" y="3520440"/>
            <a:ext cx="906261" cy="109728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5440" y="37033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37% of maximum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8580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48056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EDUCATION COMPONENT: REGIONAL COMPARISON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4754880"/>
            <a:ext cx="1828800" cy="254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3" name="Chart 42"/>
          <p:cNvGraphicFramePr>
            <a:graphicFrameLocks noGrp="1"/>
          </p:cNvGraphicFramePr>
          <p:nvPr/>
        </p:nvGraphicFramePr>
        <p:xfrm>
          <a:off x="731520" y="4846320"/>
          <a:ext cx="6400800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4" name="Rounded Rectangle 43"/>
          <p:cNvSpPr/>
          <p:nvPr/>
        </p:nvSpPr>
        <p:spPr>
          <a:xfrm>
            <a:off x="7589520" y="4343400"/>
            <a:ext cx="4114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0" y="4343400"/>
            <a:ext cx="63500" cy="1828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0" y="448056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4754880"/>
            <a:ext cx="36576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Education is EAP's strongest component, scoring 118.1 — well above the world average (107.4) and second only to Europe &amp; Central Asia (140.8). Singapore leads globally with an HLO of 594. EAP averages 10.8 expected years of schooling. Tertiary enrollment (37.4%) and pre-primary (0.59 years) remain areas for growth across the region.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Employment &amp; Gender Gap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E87D1E"/>
                </a:solidFill>
                <a:latin typeface="Calibri"/>
              </a:defRPr>
            </a:pPr>
            <a:r>
              <a:t>Avg: 40.7 / 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Employment captures labor force participation, wage employment, and skill accumulation for youth (15–24) and working-age (25–65).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54864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00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E87D1E"/>
                </a:solidFill>
                <a:latin typeface="Calibri"/>
              </a:defRPr>
            </a:pPr>
            <a:r>
              <a:t>EAP EMPLOYMENT INDICATORS (AVG)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1828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7A7A8C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560320" y="2377440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EAP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377440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Europe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06040"/>
            <a:ext cx="4023360" cy="127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697480"/>
            <a:ext cx="4023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432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LFP Youth (15–24)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74320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60.0%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74320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A7A8C"/>
                </a:solidFill>
                <a:latin typeface="Calibri"/>
              </a:defRPr>
            </a:pPr>
            <a:r>
              <a:t>48.2%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274320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A7A8C"/>
                </a:solidFill>
                <a:latin typeface="Calibri"/>
              </a:defRPr>
            </a:pPr>
            <a:r>
              <a:t>46.7%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108960"/>
            <a:ext cx="4023360" cy="3657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5468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Wage Emp. Youth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15468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75.2%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15468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A7A8C"/>
                </a:solidFill>
                <a:latin typeface="Calibri"/>
              </a:defRPr>
            </a:pPr>
            <a:r>
              <a:t>55.1%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15468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A7A8C"/>
                </a:solidFill>
                <a:latin typeface="Calibri"/>
              </a:defRPr>
            </a:pPr>
            <a:r>
              <a:t>80.3%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520440"/>
            <a:ext cx="4023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56616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LFP Working Age (25–65)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356616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75.3%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56616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A7A8C"/>
                </a:solidFill>
                <a:latin typeface="Calibri"/>
              </a:defRPr>
            </a:pPr>
            <a:r>
              <a:t>72.6%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356616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A7A8C"/>
                </a:solidFill>
                <a:latin typeface="Calibri"/>
              </a:defRPr>
            </a:pPr>
            <a:r>
              <a:t>78.2%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931920"/>
            <a:ext cx="4023360" cy="3657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97764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Wage Emp. Working 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397764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71.0%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397764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A7A8C"/>
                </a:solidFill>
                <a:latin typeface="Calibri"/>
              </a:defRPr>
            </a:pPr>
            <a:r>
              <a:t>59.8%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397764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A7A8C"/>
                </a:solidFill>
                <a:latin typeface="Calibri"/>
              </a:defRPr>
            </a:pPr>
            <a:r>
              <a:t>82.1%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1828800"/>
            <a:ext cx="54864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1828800"/>
            <a:ext cx="5486400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96596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E87D1E"/>
                </a:solidFill>
                <a:latin typeface="Calibri"/>
              </a:defRPr>
            </a:pPr>
            <a:r>
              <a:t>GENDER GAP BY REGION (Male − Female HCI+)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2194560"/>
            <a:ext cx="5029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Positive = men outperform; Negative = women outperform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6492240" y="2468880"/>
          <a:ext cx="49377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1" name="Rectangle 40"/>
          <p:cNvSpPr/>
          <p:nvPr/>
        </p:nvSpPr>
        <p:spPr>
          <a:xfrm>
            <a:off x="8229600" y="4297680"/>
            <a:ext cx="274320" cy="1371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0" y="425196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Men outperform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297680"/>
            <a:ext cx="274320" cy="137160"/>
          </a:xfrm>
          <a:prstGeom prst="rect">
            <a:avLst/>
          </a:prstGeom>
          <a:solidFill>
            <a:srgbClr val="E0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425196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Women outperform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754880"/>
            <a:ext cx="6858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484632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7A7A8C"/>
                </a:solidFill>
                <a:latin typeface="Calibri"/>
              </a:defRPr>
            </a:pPr>
            <a:r>
              <a:t>EMPLOYMENT COMPONENT: REGIONAL COMPARISON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074920"/>
            <a:ext cx="1371600" cy="254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8" name="Chart 47"/>
          <p:cNvGraphicFramePr>
            <a:graphicFrameLocks noGrp="1"/>
          </p:cNvGraphicFramePr>
          <p:nvPr/>
        </p:nvGraphicFramePr>
        <p:xfrm>
          <a:off x="731520" y="5120640"/>
          <a:ext cx="6400800" cy="1005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7589520" y="4754880"/>
            <a:ext cx="4114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89520" y="4754880"/>
            <a:ext cx="63500" cy="146304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484632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E87D1E"/>
                </a:solidFill>
                <a:latin typeface="Calibri"/>
              </a:defRPr>
            </a:pPr>
            <a:r>
              <a:t>KEY TAKEAWAY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5120640"/>
            <a:ext cx="3657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EAP's employment score (40.7) ranks 3rd among regions and exceeds the world average (37.2). Youth LFP (60.0%) is notably high. The EAP gender gap (+5.7) is moderate — better than South Asia (+15.8) and MENA (+18.3), but wider than Europe (−1.2). Countries like Indonesia (+22.6) and Fiji (+25.2) drive the gap, while Cambodia (−14.2) and Thailand (−8.1) favor women.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