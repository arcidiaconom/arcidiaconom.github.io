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.xlsx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8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0"/>
    <c:plotArea>
      <c:layout/>
      <c:bubbl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Other Regions</c:v>
                </c:pt>
              </c:strCache>
            </c:strRef>
          </c:tx>
          <c:spPr>
            <a:solidFill>
              <a:srgbClr val="CCCCCC">
                <a:alpha val="40000"/>
              </a:srgbClr>
            </a:solidFill>
          </c:spPr>
          <c:invertIfNegative val="0"/>
          <c:xVal>
            <c:numRef>
              <c:f>Sheet1!$A$2:$A$39</c:f>
              <c:numCache>
                <c:formatCode>General</c:formatCode>
                <c:ptCount val="38"/>
                <c:pt idx="0">
                  <c:v>8.64</c:v>
                </c:pt>
                <c:pt idx="1">
                  <c:v>9.52</c:v>
                </c:pt>
                <c:pt idx="2">
                  <c:v>8.67</c:v>
                </c:pt>
                <c:pt idx="3">
                  <c:v>7.97</c:v>
                </c:pt>
                <c:pt idx="4">
                  <c:v>8.86</c:v>
                </c:pt>
                <c:pt idx="5">
                  <c:v>8.09</c:v>
                </c:pt>
                <c:pt idx="6">
                  <c:v>7.97</c:v>
                </c:pt>
                <c:pt idx="7">
                  <c:v>8.22</c:v>
                </c:pt>
                <c:pt idx="8">
                  <c:v>10.22</c:v>
                </c:pt>
                <c:pt idx="9">
                  <c:v>8.41</c:v>
                </c:pt>
                <c:pt idx="10">
                  <c:v>9.8</c:v>
                </c:pt>
                <c:pt idx="11">
                  <c:v>11.05</c:v>
                </c:pt>
                <c:pt idx="12">
                  <c:v>10.91</c:v>
                </c:pt>
                <c:pt idx="13">
                  <c:v>11.05</c:v>
                </c:pt>
                <c:pt idx="14">
                  <c:v>10.72</c:v>
                </c:pt>
                <c:pt idx="15">
                  <c:v>11.17</c:v>
                </c:pt>
                <c:pt idx="16">
                  <c:v>10.32</c:v>
                </c:pt>
                <c:pt idx="17">
                  <c:v>9.85</c:v>
                </c:pt>
                <c:pt idx="18">
                  <c:v>8.86</c:v>
                </c:pt>
                <c:pt idx="19">
                  <c:v>10.4</c:v>
                </c:pt>
                <c:pt idx="20">
                  <c:v>9.73</c:v>
                </c:pt>
                <c:pt idx="21">
                  <c:v>10.32</c:v>
                </c:pt>
                <c:pt idx="22">
                  <c:v>9.89</c:v>
                </c:pt>
                <c:pt idx="23">
                  <c:v>10.0</c:v>
                </c:pt>
                <c:pt idx="24">
                  <c:v>9.83</c:v>
                </c:pt>
                <c:pt idx="25">
                  <c:v>10.1</c:v>
                </c:pt>
                <c:pt idx="26">
                  <c:v>9.24</c:v>
                </c:pt>
                <c:pt idx="27">
                  <c:v>8.94</c:v>
                </c:pt>
                <c:pt idx="28">
                  <c:v>9.19</c:v>
                </c:pt>
                <c:pt idx="29">
                  <c:v>9.05</c:v>
                </c:pt>
                <c:pt idx="30">
                  <c:v>9.73</c:v>
                </c:pt>
                <c:pt idx="31">
                  <c:v>8.47</c:v>
                </c:pt>
                <c:pt idx="32">
                  <c:v>9.16</c:v>
                </c:pt>
                <c:pt idx="33">
                  <c:v>9.73</c:v>
                </c:pt>
                <c:pt idx="34">
                  <c:v>9.11</c:v>
                </c:pt>
                <c:pt idx="35">
                  <c:v>10.17</c:v>
                </c:pt>
                <c:pt idx="36">
                  <c:v>11.2</c:v>
                </c:pt>
                <c:pt idx="37">
                  <c:v>10.98</c:v>
                </c:pt>
              </c:numCache>
            </c:numRef>
          </c:xVal>
          <c:yVal>
            <c:numRef>
              <c:f>Sheet1!$B$2:$B$39</c:f>
              <c:numCache>
                <c:formatCode>General</c:formatCode>
                <c:ptCount val="38"/>
                <c:pt idx="0">
                  <c:v>130.7</c:v>
                </c:pt>
                <c:pt idx="1">
                  <c:v>132.1</c:v>
                </c:pt>
                <c:pt idx="2">
                  <c:v>170.8</c:v>
                </c:pt>
                <c:pt idx="3">
                  <c:v>123.4</c:v>
                </c:pt>
                <c:pt idx="4">
                  <c:v>152.9</c:v>
                </c:pt>
                <c:pt idx="5">
                  <c:v>156.9</c:v>
                </c:pt>
                <c:pt idx="6">
                  <c:v>145.2</c:v>
                </c:pt>
                <c:pt idx="7">
                  <c:v>132.6</c:v>
                </c:pt>
                <c:pt idx="8">
                  <c:v>201.0</c:v>
                </c:pt>
                <c:pt idx="9">
                  <c:v>109.4</c:v>
                </c:pt>
                <c:pt idx="10">
                  <c:v>156.9</c:v>
                </c:pt>
                <c:pt idx="11">
                  <c:v>256.5</c:v>
                </c:pt>
                <c:pt idx="12">
                  <c:v>251.2</c:v>
                </c:pt>
                <c:pt idx="13">
                  <c:v>269.3</c:v>
                </c:pt>
                <c:pt idx="14">
                  <c:v>259.5</c:v>
                </c:pt>
                <c:pt idx="15">
                  <c:v>269.7</c:v>
                </c:pt>
                <c:pt idx="16">
                  <c:v>210.5</c:v>
                </c:pt>
                <c:pt idx="17">
                  <c:v>203.5</c:v>
                </c:pt>
                <c:pt idx="18">
                  <c:v>197.5</c:v>
                </c:pt>
                <c:pt idx="19">
                  <c:v>221.3</c:v>
                </c:pt>
                <c:pt idx="20">
                  <c:v>204.7</c:v>
                </c:pt>
                <c:pt idx="21">
                  <c:v>226.2</c:v>
                </c:pt>
                <c:pt idx="22">
                  <c:v>202.9</c:v>
                </c:pt>
                <c:pt idx="23">
                  <c:v>193.5</c:v>
                </c:pt>
                <c:pt idx="24">
                  <c:v>197.6</c:v>
                </c:pt>
                <c:pt idx="25">
                  <c:v>205.3</c:v>
                </c:pt>
                <c:pt idx="26">
                  <c:v>200.1</c:v>
                </c:pt>
                <c:pt idx="27">
                  <c:v>178.1</c:v>
                </c:pt>
                <c:pt idx="28">
                  <c:v>158.8</c:v>
                </c:pt>
                <c:pt idx="29">
                  <c:v>146.7</c:v>
                </c:pt>
                <c:pt idx="30">
                  <c:v>182.6</c:v>
                </c:pt>
                <c:pt idx="31">
                  <c:v>99.3</c:v>
                </c:pt>
                <c:pt idx="32">
                  <c:v>170.2</c:v>
                </c:pt>
                <c:pt idx="33">
                  <c:v>161.2</c:v>
                </c:pt>
                <c:pt idx="34">
                  <c:v>147.1</c:v>
                </c:pt>
                <c:pt idx="35">
                  <c:v>196.3</c:v>
                </c:pt>
                <c:pt idx="36">
                  <c:v>251.2</c:v>
                </c:pt>
                <c:pt idx="37">
                  <c:v>257.3</c:v>
                </c:pt>
              </c:numCache>
            </c:numRef>
          </c:yVal>
          <c:bubbleSize>
            <c:numRef>
              <c:f>Sheet1!$C$2:$C$39</c:f>
              <c:numCache>
                <c:formatCode>General</c:formatCode>
                <c:ptCount val="38"/>
                <c:pt idx="0">
                  <c:v>5</c:v>
                </c:pt>
                <c:pt idx="1">
                  <c:v>5</c:v>
                </c:pt>
                <c:pt idx="2">
                  <c:v>5</c:v>
                </c:pt>
                <c:pt idx="3">
                  <c:v>5</c:v>
                </c:pt>
                <c:pt idx="4">
                  <c:v>5</c:v>
                </c:pt>
                <c:pt idx="5">
                  <c:v>5</c:v>
                </c:pt>
                <c:pt idx="6">
                  <c:v>5</c:v>
                </c:pt>
                <c:pt idx="7">
                  <c:v>5</c:v>
                </c:pt>
                <c:pt idx="8">
                  <c:v>5</c:v>
                </c:pt>
                <c:pt idx="9">
                  <c:v>5</c:v>
                </c:pt>
                <c:pt idx="10">
                  <c:v>5</c:v>
                </c:pt>
                <c:pt idx="11">
                  <c:v>5</c:v>
                </c:pt>
                <c:pt idx="12">
                  <c:v>5</c:v>
                </c:pt>
                <c:pt idx="13">
                  <c:v>5</c:v>
                </c:pt>
                <c:pt idx="14">
                  <c:v>5</c:v>
                </c:pt>
                <c:pt idx="15">
                  <c:v>5</c:v>
                </c:pt>
                <c:pt idx="16">
                  <c:v>5</c:v>
                </c:pt>
                <c:pt idx="17">
                  <c:v>5</c:v>
                </c:pt>
                <c:pt idx="18">
                  <c:v>5</c:v>
                </c:pt>
                <c:pt idx="19">
                  <c:v>5</c:v>
                </c:pt>
                <c:pt idx="20">
                  <c:v>5</c:v>
                </c:pt>
                <c:pt idx="21">
                  <c:v>5</c:v>
                </c:pt>
                <c:pt idx="22">
                  <c:v>5</c:v>
                </c:pt>
                <c:pt idx="23">
                  <c:v>5</c:v>
                </c:pt>
                <c:pt idx="24">
                  <c:v>5</c:v>
                </c:pt>
                <c:pt idx="25">
                  <c:v>5</c:v>
                </c:pt>
                <c:pt idx="26">
                  <c:v>5</c:v>
                </c:pt>
                <c:pt idx="27">
                  <c:v>5</c:v>
                </c:pt>
                <c:pt idx="28">
                  <c:v>5</c:v>
                </c:pt>
                <c:pt idx="29">
                  <c:v>5</c:v>
                </c:pt>
                <c:pt idx="30">
                  <c:v>5</c:v>
                </c:pt>
                <c:pt idx="31">
                  <c:v>5</c:v>
                </c:pt>
                <c:pt idx="32">
                  <c:v>5</c:v>
                </c:pt>
                <c:pt idx="33">
                  <c:v>5</c:v>
                </c:pt>
                <c:pt idx="34">
                  <c:v>5</c:v>
                </c:pt>
                <c:pt idx="35">
                  <c:v>5</c:v>
                </c:pt>
                <c:pt idx="36">
                  <c:v>5</c:v>
                </c:pt>
                <c:pt idx="37">
                  <c:v>5</c:v>
                </c:pt>
              </c:numCache>
            </c:numRef>
          </c:bubbleSize>
          <c:bubble3D val="0"/>
        </c:ser>
        <c:ser>
          <c:idx val="1"/>
          <c:order val="1"/>
          <c:tx>
            <c:strRef>
              <c:f>Sheet1!$B$41</c:f>
              <c:strCache>
                <c:ptCount val="1"/>
                <c:pt idx="0">
                  <c:v>East Asia &amp; Pacific</c:v>
                </c:pt>
              </c:strCache>
            </c:strRef>
          </c:tx>
          <c:spPr>
            <a:solidFill>
              <a:srgbClr val="006EAF"/>
            </a:solidFill>
          </c:spPr>
          <c:invertIfNegative val="0"/>
          <c:xVal>
            <c:numRef>
              <c:f>Sheet1!$A$42:$A$64</c:f>
              <c:numCache>
                <c:formatCode>General</c:formatCode>
                <c:ptCount val="23"/>
                <c:pt idx="0">
                  <c:v>10.74</c:v>
                </c:pt>
                <c:pt idx="1">
                  <c:v>11.79</c:v>
                </c:pt>
                <c:pt idx="2">
                  <c:v>10.83</c:v>
                </c:pt>
                <c:pt idx="3">
                  <c:v>11.0</c:v>
                </c:pt>
                <c:pt idx="4">
                  <c:v>10.78</c:v>
                </c:pt>
                <c:pt idx="5">
                  <c:v>11.1</c:v>
                </c:pt>
                <c:pt idx="6">
                  <c:v>11.63</c:v>
                </c:pt>
                <c:pt idx="7">
                  <c:v>10.08</c:v>
                </c:pt>
                <c:pt idx="8">
                  <c:v>9.58</c:v>
                </c:pt>
                <c:pt idx="9">
                  <c:v>9.73</c:v>
                </c:pt>
                <c:pt idx="10">
                  <c:v>11.28</c:v>
                </c:pt>
                <c:pt idx="11">
                  <c:v>9.99</c:v>
                </c:pt>
                <c:pt idx="12">
                  <c:v>10.44</c:v>
                </c:pt>
                <c:pt idx="13">
                  <c:v>9.55</c:v>
                </c:pt>
                <c:pt idx="14">
                  <c:v>9.58</c:v>
                </c:pt>
                <c:pt idx="15">
                  <c:v>9.25</c:v>
                </c:pt>
                <c:pt idx="16">
                  <c:v>8.86</c:v>
                </c:pt>
                <c:pt idx="17">
                  <c:v>8.67</c:v>
                </c:pt>
                <c:pt idx="18">
                  <c:v>8.09</c:v>
                </c:pt>
                <c:pt idx="19">
                  <c:v>8.57</c:v>
                </c:pt>
                <c:pt idx="20">
                  <c:v>8.86</c:v>
                </c:pt>
                <c:pt idx="21">
                  <c:v>9.06</c:v>
                </c:pt>
                <c:pt idx="22">
                  <c:v>8.06</c:v>
                </c:pt>
              </c:numCache>
            </c:numRef>
          </c:xVal>
          <c:yVal>
            <c:numRef>
              <c:f>Sheet1!$B$42:$B$64</c:f>
              <c:numCache>
                <c:formatCode>General</c:formatCode>
                <c:ptCount val="23"/>
                <c:pt idx="0">
                  <c:v>284.3</c:v>
                </c:pt>
                <c:pt idx="1">
                  <c:v>282.4</c:v>
                </c:pt>
                <c:pt idx="2">
                  <c:v>266.9</c:v>
                </c:pt>
                <c:pt idx="3">
                  <c:v>270.0</c:v>
                </c:pt>
                <c:pt idx="4">
                  <c:v>263.1</c:v>
                </c:pt>
                <c:pt idx="5">
                  <c:v>258.4</c:v>
                </c:pt>
                <c:pt idx="6">
                  <c:v>255.9</c:v>
                </c:pt>
                <c:pt idx="7">
                  <c:v>219.8</c:v>
                </c:pt>
                <c:pt idx="8">
                  <c:v>215.8</c:v>
                </c:pt>
                <c:pt idx="9">
                  <c:v>209.5</c:v>
                </c:pt>
                <c:pt idx="10">
                  <c:v>207.6</c:v>
                </c:pt>
                <c:pt idx="11">
                  <c:v>202.3</c:v>
                </c:pt>
                <c:pt idx="12">
                  <c:v>201.3</c:v>
                </c:pt>
                <c:pt idx="13">
                  <c:v>192.8</c:v>
                </c:pt>
                <c:pt idx="14">
                  <c:v>175.4</c:v>
                </c:pt>
                <c:pt idx="15">
                  <c:v>175.4</c:v>
                </c:pt>
                <c:pt idx="16">
                  <c:v>175.8</c:v>
                </c:pt>
                <c:pt idx="17">
                  <c:v>166.1</c:v>
                </c:pt>
                <c:pt idx="18">
                  <c:v>161.9</c:v>
                </c:pt>
                <c:pt idx="19">
                  <c:v>149.2</c:v>
                </c:pt>
                <c:pt idx="20">
                  <c:v>138.9</c:v>
                </c:pt>
                <c:pt idx="21">
                  <c:v>135.6</c:v>
                </c:pt>
                <c:pt idx="22">
                  <c:v>136.4</c:v>
                </c:pt>
              </c:numCache>
            </c:numRef>
          </c:yVal>
          <c:bubbleSize>
            <c:numRef>
              <c:f>Sheet1!$C$42:$C$64</c:f>
              <c:numCache>
                <c:formatCode>General</c:formatCode>
                <c:ptCount val="23"/>
                <c:pt idx="0">
                  <c:v>5</c:v>
                </c:pt>
                <c:pt idx="1">
                  <c:v>5</c:v>
                </c:pt>
                <c:pt idx="2">
                  <c:v>5</c:v>
                </c:pt>
                <c:pt idx="3">
                  <c:v>5</c:v>
                </c:pt>
                <c:pt idx="4">
                  <c:v>5</c:v>
                </c:pt>
                <c:pt idx="5">
                  <c:v>5</c:v>
                </c:pt>
                <c:pt idx="6">
                  <c:v>5</c:v>
                </c:pt>
                <c:pt idx="7">
                  <c:v>5</c:v>
                </c:pt>
                <c:pt idx="8">
                  <c:v>5</c:v>
                </c:pt>
                <c:pt idx="9">
                  <c:v>5</c:v>
                </c:pt>
                <c:pt idx="10">
                  <c:v>5</c:v>
                </c:pt>
                <c:pt idx="11">
                  <c:v>5</c:v>
                </c:pt>
                <c:pt idx="12">
                  <c:v>5</c:v>
                </c:pt>
                <c:pt idx="13">
                  <c:v>5</c:v>
                </c:pt>
                <c:pt idx="14">
                  <c:v>5</c:v>
                </c:pt>
                <c:pt idx="15">
                  <c:v>5</c:v>
                </c:pt>
                <c:pt idx="16">
                  <c:v>5</c:v>
                </c:pt>
                <c:pt idx="17">
                  <c:v>5</c:v>
                </c:pt>
                <c:pt idx="18">
                  <c:v>5</c:v>
                </c:pt>
                <c:pt idx="19">
                  <c:v>5</c:v>
                </c:pt>
                <c:pt idx="20">
                  <c:v>5</c:v>
                </c:pt>
                <c:pt idx="21">
                  <c:v>5</c:v>
                </c:pt>
                <c:pt idx="22">
                  <c:v>5</c:v>
                </c:pt>
              </c:numCache>
            </c:numRef>
          </c:bubbleSize>
          <c:bubble3D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bubbleScale val="100"/>
        <c:showNegBubbles val="0"/>
        <c:axId val="-2115720072"/>
        <c:axId val="-2115723560"/>
      </c:bubbleChart>
      <c:valAx>
        <c:axId val="-2115720072"/>
        <c:scaling>
          <c:orientation val="minMax"/>
          <c:max val="12.0"/>
          <c:min val="7.5"/>
        </c:scaling>
        <c:delete val="0"/>
        <c:axPos val="b"/>
        <c:title>
          <c:tx>
            <c:rich>
              <a:bodyPr/>
              <a:lstStyle/>
              <a:p>
                <a:pPr>
                  <a:defRPr sz="1000">
                    <a:latin typeface="Calibri"/>
                  </a:defRPr>
                </a:pPr>
                <a:r>
                  <a:t>Log GDP per Capita (PPP)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115723560"/>
        <c:crosses val="autoZero"/>
        <c:crossBetween val="midCat"/>
      </c:valAx>
      <c:valAx>
        <c:axId val="-2115723560"/>
        <c:scaling>
          <c:orientation val="minMax"/>
          <c:max val="300.0"/>
          <c:min val="80.0"/>
        </c:scaling>
        <c:delete val="0"/>
        <c:axPos val="l"/>
        <c:majorGridlines>
          <c:spPr>
            <a:ln>
              <a:solidFill>
                <a:srgbClr val="EEEEEE"/>
              </a:solidFill>
            </a:ln>
          </c:spPr>
        </c:majorGridlines>
        <c:title>
          <c:tx>
            <c:rich>
              <a:bodyPr/>
              <a:lstStyle/>
              <a:p>
                <a:pPr>
                  <a:defRPr sz="1000">
                    <a:latin typeface="Calibri"/>
                  </a:defRPr>
                </a:pPr>
                <a:r>
                  <a:t>HCI+ Score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115720072"/>
        <c:crosses val="autoZero"/>
        <c:crossBetween val="midCat"/>
      </c:valAx>
    </c:plotArea>
    <c:legend>
      <c:legendPos val="b"/>
      <c:layout/>
      <c:overlay val="0"/>
      <c:txPr>
        <a:bodyPr/>
        <a:lstStyle/>
        <a:p>
          <a:pPr>
            <a:defRPr sz="900">
              <a:latin typeface="Calibri"/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Health</c:v>
                </c:pt>
              </c:strCache>
            </c:strRef>
          </c:tx>
          <c:spPr>
            <a:solidFill>
              <a:srgbClr val="00889E"/>
            </a:solidFill>
          </c:spPr>
          <c:cat>
            <c:strRef>
              <c:f>Sheet1!$A$2:$A$8</c:f>
              <c:strCache>
                <c:ptCount val="7"/>
                <c:pt idx="0">
                  <c:v>Sub-Saharan
Africa</c:v>
                </c:pt>
                <c:pt idx="1">
                  <c:v>South
Asia</c:v>
                </c:pt>
                <c:pt idx="2">
                  <c:v>Latin America
&amp; Caribbean</c:v>
                </c:pt>
                <c:pt idx="3">
                  <c:v>MENA+</c:v>
                </c:pt>
                <c:pt idx="4">
                  <c:v>East Asia
&amp; Pacific</c:v>
                </c:pt>
                <c:pt idx="5">
                  <c:v>Europe &amp;
Central Asia</c:v>
                </c:pt>
                <c:pt idx="6">
                  <c:v>World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37.3</c:v>
                </c:pt>
                <c:pt idx="1">
                  <c:v>41.0</c:v>
                </c:pt>
                <c:pt idx="2">
                  <c:v>43.4</c:v>
                </c:pt>
                <c:pt idx="3">
                  <c:v>44.9</c:v>
                </c:pt>
                <c:pt idx="4">
                  <c:v>42.8</c:v>
                </c:pt>
                <c:pt idx="5">
                  <c:v>45.9</c:v>
                </c:pt>
                <c:pt idx="6">
                  <c:v>42.6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Education</c:v>
                </c:pt>
              </c:strCache>
            </c:strRef>
          </c:tx>
          <c:spPr>
            <a:solidFill>
              <a:srgbClr val="006EAF"/>
            </a:solidFill>
          </c:spPr>
          <c:cat>
            <c:strRef>
              <c:f>Sheet1!$A$2:$A$8</c:f>
              <c:strCache>
                <c:ptCount val="7"/>
                <c:pt idx="0">
                  <c:v>Sub-Saharan
Africa</c:v>
                </c:pt>
                <c:pt idx="1">
                  <c:v>South
Asia</c:v>
                </c:pt>
                <c:pt idx="2">
                  <c:v>Latin America
&amp; Caribbean</c:v>
                </c:pt>
                <c:pt idx="3">
                  <c:v>MENA+</c:v>
                </c:pt>
                <c:pt idx="4">
                  <c:v>East Asia
&amp; Pacific</c:v>
                </c:pt>
                <c:pt idx="5">
                  <c:v>Europe &amp;
Central Asia</c:v>
                </c:pt>
                <c:pt idx="6">
                  <c:v>World</c:v>
                </c:pt>
              </c:strCache>
            </c: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64.1</c:v>
                </c:pt>
                <c:pt idx="1">
                  <c:v>83.0</c:v>
                </c:pt>
                <c:pt idx="2">
                  <c:v>98.3</c:v>
                </c:pt>
                <c:pt idx="3">
                  <c:v>105.8</c:v>
                </c:pt>
                <c:pt idx="4">
                  <c:v>118.1</c:v>
                </c:pt>
                <c:pt idx="5">
                  <c:v>140.8</c:v>
                </c:pt>
                <c:pt idx="6">
                  <c:v>107.4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Employment</c:v>
                </c:pt>
              </c:strCache>
            </c:strRef>
          </c:tx>
          <c:spPr>
            <a:solidFill>
              <a:srgbClr val="E87D1E"/>
            </a:solidFill>
          </c:spPr>
          <c:cat>
            <c:strRef>
              <c:f>Sheet1!$A$2:$A$8</c:f>
              <c:strCache>
                <c:ptCount val="7"/>
                <c:pt idx="0">
                  <c:v>Sub-Saharan
Africa</c:v>
                </c:pt>
                <c:pt idx="1">
                  <c:v>South
Asia</c:v>
                </c:pt>
                <c:pt idx="2">
                  <c:v>Latin America
&amp; Caribbean</c:v>
                </c:pt>
                <c:pt idx="3">
                  <c:v>MENA+</c:v>
                </c:pt>
                <c:pt idx="4">
                  <c:v>East Asia
&amp; Pacific</c:v>
                </c:pt>
                <c:pt idx="5">
                  <c:v>Europe &amp;
Central Asia</c:v>
                </c:pt>
                <c:pt idx="6">
                  <c:v>World</c:v>
                </c:pt>
              </c:strCache>
            </c:strRef>
          </c:cat>
          <c:val>
            <c:numRef>
              <c:f>Sheet1!$D$2:$D$8</c:f>
              <c:numCache>
                <c:formatCode>General</c:formatCode>
                <c:ptCount val="7"/>
                <c:pt idx="0">
                  <c:v>26.9</c:v>
                </c:pt>
                <c:pt idx="1">
                  <c:v>23.4</c:v>
                </c:pt>
                <c:pt idx="2">
                  <c:v>41.5</c:v>
                </c:pt>
                <c:pt idx="3">
                  <c:v>35.0</c:v>
                </c:pt>
                <c:pt idx="4">
                  <c:v>40.7</c:v>
                </c:pt>
                <c:pt idx="5">
                  <c:v>46.6</c:v>
                </c:pt>
                <c:pt idx="6">
                  <c:v>37.2</c:v>
                </c:pt>
              </c:numCache>
            </c:numRef>
          </c:val>
        </c:ser>
        <c:gapWidth val="50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900">
                <a:latin typeface="Calibr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280.0"/>
        </c:scaling>
        <c:delete val="0"/>
        <c:axPos val="b"/>
        <c:majorGridlines>
          <c:spPr>
            <a:ln>
              <a:solidFill>
                <a:srgbClr val="EEEEEE"/>
              </a:solidFill>
            </a:ln>
          </c:spPr>
        </c:majorGridlines>
        <c:majorTickMark val="out"/>
        <c:minorTickMark val="none"/>
        <c:tickLblPos val="nextTo"/>
        <c:spPr>
          <a:ln>
            <a:solidFill>
              <a:srgbClr val="D0D5DD"/>
            </a:solidFill>
          </a:ln>
        </c:spPr>
        <c:txPr>
          <a:bodyPr/>
          <a:lstStyle/>
          <a:p>
            <a:pPr>
              <a:defRPr sz="800"/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900">
              <a:latin typeface="Calibri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HCI+ Score</c:v>
                </c:pt>
              </c:strCache>
            </c:strRef>
          </c:tx>
          <c:spPr>
            <a:solidFill>
              <a:srgbClr val="006EAF"/>
            </a:solidFill>
          </c:spPr>
          <c:dPt>
            <c:idx val="0"/>
            <c:spPr>
              <a:solidFill>
                <a:srgbClr val="E05A4F"/>
              </a:solidFill>
            </c:spPr>
          </c:dPt>
          <c:dPt>
            <c:idx val="1"/>
            <c:spPr>
              <a:solidFill>
                <a:srgbClr val="E05A4F"/>
              </a:solidFill>
            </c:spPr>
          </c:dPt>
          <c:dPt>
            <c:idx val="2"/>
            <c:spPr>
              <a:solidFill>
                <a:srgbClr val="E05A4F"/>
              </a:solidFill>
            </c:spPr>
          </c:dPt>
          <c:dPt>
            <c:idx val="3"/>
            <c:spPr>
              <a:solidFill>
                <a:srgbClr val="E05A4F"/>
              </a:solidFill>
            </c:spPr>
          </c:dPt>
          <c:dPt>
            <c:idx val="4"/>
            <c:spPr>
              <a:solidFill>
                <a:srgbClr val="E05A4F"/>
              </a:solidFill>
            </c:spPr>
          </c:dPt>
          <c:dPt>
            <c:idx val="5"/>
            <c:spPr>
              <a:solidFill>
                <a:srgbClr val="E05A4F"/>
              </a:solidFill>
            </c:spPr>
          </c:dPt>
          <c:dPt>
            <c:idx val="6"/>
            <c:spPr>
              <a:solidFill>
                <a:srgbClr val="E05A4F"/>
              </a:solidFill>
            </c:spPr>
          </c:dPt>
          <c:dPt>
            <c:idx val="7"/>
            <c:spPr>
              <a:solidFill>
                <a:srgbClr val="E05A4F"/>
              </a:solidFill>
            </c:spPr>
          </c:dPt>
          <c:dPt>
            <c:idx val="8"/>
            <c:spPr>
              <a:solidFill>
                <a:srgbClr val="E05A4F"/>
              </a:solidFill>
            </c:spPr>
          </c:dPt>
          <c:dPt>
            <c:idx val="9"/>
            <c:spPr>
              <a:solidFill>
                <a:srgbClr val="E05A4F"/>
              </a:solidFill>
            </c:spPr>
          </c:dPt>
          <c:dPt>
            <c:idx val="10"/>
            <c:spPr>
              <a:solidFill>
                <a:srgbClr val="E05A4F"/>
              </a:solidFill>
            </c:spPr>
          </c:dPt>
          <c:dPt>
            <c:idx val="11"/>
            <c:spPr>
              <a:solidFill>
                <a:srgbClr val="E05A4F"/>
              </a:solidFill>
            </c:spPr>
          </c:dPt>
          <c:dLbls>
            <c:numFmt formatCode="0.0" sourceLinked="0"/>
            <c:txPr>
              <a:bodyPr/>
              <a:lstStyle/>
              <a:p>
                <a:pPr>
                  <a:defRPr sz="600" b="1">
                    <a:latin typeface="Calibr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Sheet1!$A$2:$A$28</c:f>
              <c:strCache>
                <c:ptCount val="27"/>
                <c:pt idx="0">
                  <c:v>Lao PDR</c:v>
                </c:pt>
                <c:pt idx="1">
                  <c:v>Vanuatu</c:v>
                </c:pt>
                <c:pt idx="2">
                  <c:v>Cambodia</c:v>
                </c:pt>
                <c:pt idx="3">
                  <c:v>Marshall Is.</c:v>
                </c:pt>
                <c:pt idx="4">
                  <c:v>Myanmar</c:v>
                </c:pt>
                <c:pt idx="5">
                  <c:v>Nauru</c:v>
                </c:pt>
                <c:pt idx="6">
                  <c:v>Kiribati</c:v>
                </c:pt>
                <c:pt idx="7">
                  <c:v>Samoa</c:v>
                </c:pt>
                <c:pt idx="8">
                  <c:v>Tuvalu</c:v>
                </c:pt>
                <c:pt idx="9">
                  <c:v>Tonga</c:v>
                </c:pt>
                <c:pt idx="10">
                  <c:v>Indonesia</c:v>
                </c:pt>
                <c:pt idx="11">
                  <c:v>Philippines</c:v>
                </c:pt>
                <c:pt idx="12">
                  <c:v>Fiji</c:v>
                </c:pt>
                <c:pt idx="13">
                  <c:v>Malaysia</c:v>
                </c:pt>
                <c:pt idx="14">
                  <c:v>Thailand</c:v>
                </c:pt>
                <c:pt idx="15">
                  <c:v>Brunei</c:v>
                </c:pt>
                <c:pt idx="16">
                  <c:v>Mongolia</c:v>
                </c:pt>
                <c:pt idx="17">
                  <c:v>Vietnam</c:v>
                </c:pt>
                <c:pt idx="18">
                  <c:v>China</c:v>
                </c:pt>
                <c:pt idx="19">
                  <c:v>Palau</c:v>
                </c:pt>
                <c:pt idx="20">
                  <c:v>Macao</c:v>
                </c:pt>
                <c:pt idx="21">
                  <c:v>Hong Kong</c:v>
                </c:pt>
                <c:pt idx="22">
                  <c:v>New Zealand</c:v>
                </c:pt>
                <c:pt idx="23">
                  <c:v>Korea, Rep.</c:v>
                </c:pt>
                <c:pt idx="24">
                  <c:v>Australia</c:v>
                </c:pt>
                <c:pt idx="25">
                  <c:v>Singapore</c:v>
                </c:pt>
                <c:pt idx="26">
                  <c:v>Japan</c:v>
                </c:pt>
              </c:strCache>
            </c:strRef>
          </c:cat>
          <c:val>
            <c:numRef>
              <c:f>Sheet1!$B$2:$B$28</c:f>
              <c:numCache>
                <c:formatCode>General</c:formatCode>
                <c:ptCount val="27"/>
                <c:pt idx="0">
                  <c:v>135.6</c:v>
                </c:pt>
                <c:pt idx="1">
                  <c:v>136.4</c:v>
                </c:pt>
                <c:pt idx="2">
                  <c:v>138.9</c:v>
                </c:pt>
                <c:pt idx="3">
                  <c:v>145.2</c:v>
                </c:pt>
                <c:pt idx="4">
                  <c:v>149.2</c:v>
                </c:pt>
                <c:pt idx="5">
                  <c:v>161.6</c:v>
                </c:pt>
                <c:pt idx="6">
                  <c:v>161.9</c:v>
                </c:pt>
                <c:pt idx="7">
                  <c:v>164.4</c:v>
                </c:pt>
                <c:pt idx="8">
                  <c:v>166.1</c:v>
                </c:pt>
                <c:pt idx="9">
                  <c:v>175.8</c:v>
                </c:pt>
                <c:pt idx="10">
                  <c:v>175.4</c:v>
                </c:pt>
                <c:pt idx="11">
                  <c:v>175.4</c:v>
                </c:pt>
                <c:pt idx="12">
                  <c:v>192.8</c:v>
                </c:pt>
                <c:pt idx="13">
                  <c:v>201.3</c:v>
                </c:pt>
                <c:pt idx="14">
                  <c:v>202.3</c:v>
                </c:pt>
                <c:pt idx="15">
                  <c:v>207.6</c:v>
                </c:pt>
                <c:pt idx="16">
                  <c:v>209.5</c:v>
                </c:pt>
                <c:pt idx="17">
                  <c:v>215.8</c:v>
                </c:pt>
                <c:pt idx="18">
                  <c:v>219.8</c:v>
                </c:pt>
                <c:pt idx="19">
                  <c:v>228.6</c:v>
                </c:pt>
                <c:pt idx="20">
                  <c:v>255.9</c:v>
                </c:pt>
                <c:pt idx="21">
                  <c:v>258.4</c:v>
                </c:pt>
                <c:pt idx="22">
                  <c:v>263.1</c:v>
                </c:pt>
                <c:pt idx="23">
                  <c:v>266.9</c:v>
                </c:pt>
                <c:pt idx="24">
                  <c:v>270.0</c:v>
                </c:pt>
                <c:pt idx="25">
                  <c:v>282.4</c:v>
                </c:pt>
                <c:pt idx="26">
                  <c:v>284.3</c:v>
                </c:pt>
              </c:numCache>
            </c:numRef>
          </c:val>
        </c:ser>
        <c:gapWidth val="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700">
                <a:latin typeface="Calibr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300.0"/>
        </c:scaling>
        <c:delete val="0"/>
        <c:axPos val="b"/>
        <c:majorGridlines>
          <c:spPr>
            <a:ln>
              <a:solidFill>
                <a:srgbClr val="EEEEEE"/>
              </a:solidFill>
            </a:ln>
          </c:spPr>
        </c:majorGridlines>
        <c:majorTickMark val="out"/>
        <c:minorTickMark val="none"/>
        <c:tickLblPos val="nextTo"/>
        <c:spPr>
          <a:ln>
            <a:solidFill>
              <a:srgbClr val="D0D5DD"/>
            </a:solidFill>
          </a:ln>
        </c:spPr>
        <c:txPr>
          <a:bodyPr/>
          <a:lstStyle/>
          <a:p>
            <a:pPr>
              <a:defRPr sz="7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Health</c:v>
                </c:pt>
              </c:strCache>
            </c:strRef>
          </c:tx>
          <c:spPr>
            <a:solidFill>
              <a:srgbClr val="00889E"/>
            </a:solidFill>
          </c:spPr>
          <c:cat>
            <c:strRef>
              <c:f>Sheet1!$A$2:$A$28</c:f>
              <c:strCache>
                <c:ptCount val="27"/>
                <c:pt idx="0">
                  <c:v>Lao PDR</c:v>
                </c:pt>
                <c:pt idx="1">
                  <c:v>Vanuatu</c:v>
                </c:pt>
                <c:pt idx="2">
                  <c:v>Cambodia</c:v>
                </c:pt>
                <c:pt idx="3">
                  <c:v>Marshall Is.</c:v>
                </c:pt>
                <c:pt idx="4">
                  <c:v>Myanmar</c:v>
                </c:pt>
                <c:pt idx="5">
                  <c:v>Nauru</c:v>
                </c:pt>
                <c:pt idx="6">
                  <c:v>Kiribati</c:v>
                </c:pt>
                <c:pt idx="7">
                  <c:v>Samoa</c:v>
                </c:pt>
                <c:pt idx="8">
                  <c:v>Tuvalu</c:v>
                </c:pt>
                <c:pt idx="9">
                  <c:v>Tonga</c:v>
                </c:pt>
                <c:pt idx="10">
                  <c:v>Indonesia</c:v>
                </c:pt>
                <c:pt idx="11">
                  <c:v>Philippines</c:v>
                </c:pt>
                <c:pt idx="12">
                  <c:v>Fiji</c:v>
                </c:pt>
                <c:pt idx="13">
                  <c:v>Malaysia</c:v>
                </c:pt>
                <c:pt idx="14">
                  <c:v>Thailand</c:v>
                </c:pt>
                <c:pt idx="15">
                  <c:v>Brunei</c:v>
                </c:pt>
                <c:pt idx="16">
                  <c:v>Mongolia</c:v>
                </c:pt>
                <c:pt idx="17">
                  <c:v>Vietnam</c:v>
                </c:pt>
                <c:pt idx="18">
                  <c:v>China</c:v>
                </c:pt>
                <c:pt idx="19">
                  <c:v>Palau</c:v>
                </c:pt>
                <c:pt idx="20">
                  <c:v>Macao</c:v>
                </c:pt>
                <c:pt idx="21">
                  <c:v>Hong Kong</c:v>
                </c:pt>
                <c:pt idx="22">
                  <c:v>New Zealand</c:v>
                </c:pt>
                <c:pt idx="23">
                  <c:v>Korea, Rep.</c:v>
                </c:pt>
                <c:pt idx="24">
                  <c:v>Australia</c:v>
                </c:pt>
                <c:pt idx="25">
                  <c:v>Singapore</c:v>
                </c:pt>
                <c:pt idx="26">
                  <c:v>Japan</c:v>
                </c:pt>
              </c:strCache>
            </c:strRef>
          </c:cat>
          <c:val>
            <c:numRef>
              <c:f>Sheet1!$B$2:$B$28</c:f>
              <c:numCache>
                <c:formatCode>General</c:formatCode>
                <c:ptCount val="27"/>
                <c:pt idx="0">
                  <c:v>38.8</c:v>
                </c:pt>
                <c:pt idx="1">
                  <c:v>39.3</c:v>
                </c:pt>
                <c:pt idx="2">
                  <c:v>40.6</c:v>
                </c:pt>
                <c:pt idx="3">
                  <c:v>36.4</c:v>
                </c:pt>
                <c:pt idx="4">
                  <c:v>38.5</c:v>
                </c:pt>
                <c:pt idx="5">
                  <c:v>35.9</c:v>
                </c:pt>
                <c:pt idx="6">
                  <c:v>41.0</c:v>
                </c:pt>
                <c:pt idx="7">
                  <c:v>43.3</c:v>
                </c:pt>
                <c:pt idx="8">
                  <c:v>40.7</c:v>
                </c:pt>
                <c:pt idx="9">
                  <c:v>44.4</c:v>
                </c:pt>
                <c:pt idx="10">
                  <c:v>40.7</c:v>
                </c:pt>
                <c:pt idx="11">
                  <c:v>40.0</c:v>
                </c:pt>
                <c:pt idx="12">
                  <c:v>41.7</c:v>
                </c:pt>
                <c:pt idx="13">
                  <c:v>42.4</c:v>
                </c:pt>
                <c:pt idx="14">
                  <c:v>42.5</c:v>
                </c:pt>
                <c:pt idx="15">
                  <c:v>44.4</c:v>
                </c:pt>
                <c:pt idx="16">
                  <c:v>42.5</c:v>
                </c:pt>
                <c:pt idx="17">
                  <c:v>42.5</c:v>
                </c:pt>
                <c:pt idx="18">
                  <c:v>46.5</c:v>
                </c:pt>
                <c:pt idx="19">
                  <c:v>41.0</c:v>
                </c:pt>
                <c:pt idx="20">
                  <c:v>47.9</c:v>
                </c:pt>
                <c:pt idx="21">
                  <c:v>47.4</c:v>
                </c:pt>
                <c:pt idx="22">
                  <c:v>46.6</c:v>
                </c:pt>
                <c:pt idx="23">
                  <c:v>48.8</c:v>
                </c:pt>
                <c:pt idx="24">
                  <c:v>48.0</c:v>
                </c:pt>
                <c:pt idx="25">
                  <c:v>47.7</c:v>
                </c:pt>
                <c:pt idx="26">
                  <c:v>47.5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Education</c:v>
                </c:pt>
              </c:strCache>
            </c:strRef>
          </c:tx>
          <c:spPr>
            <a:solidFill>
              <a:srgbClr val="006EAF"/>
            </a:solidFill>
          </c:spPr>
          <c:cat>
            <c:strRef>
              <c:f>Sheet1!$A$2:$A$28</c:f>
              <c:strCache>
                <c:ptCount val="27"/>
                <c:pt idx="0">
                  <c:v>Lao PDR</c:v>
                </c:pt>
                <c:pt idx="1">
                  <c:v>Vanuatu</c:v>
                </c:pt>
                <c:pt idx="2">
                  <c:v>Cambodia</c:v>
                </c:pt>
                <c:pt idx="3">
                  <c:v>Marshall Is.</c:v>
                </c:pt>
                <c:pt idx="4">
                  <c:v>Myanmar</c:v>
                </c:pt>
                <c:pt idx="5">
                  <c:v>Nauru</c:v>
                </c:pt>
                <c:pt idx="6">
                  <c:v>Kiribati</c:v>
                </c:pt>
                <c:pt idx="7">
                  <c:v>Samoa</c:v>
                </c:pt>
                <c:pt idx="8">
                  <c:v>Tuvalu</c:v>
                </c:pt>
                <c:pt idx="9">
                  <c:v>Tonga</c:v>
                </c:pt>
                <c:pt idx="10">
                  <c:v>Indonesia</c:v>
                </c:pt>
                <c:pt idx="11">
                  <c:v>Philippines</c:v>
                </c:pt>
                <c:pt idx="12">
                  <c:v>Fiji</c:v>
                </c:pt>
                <c:pt idx="13">
                  <c:v>Malaysia</c:v>
                </c:pt>
                <c:pt idx="14">
                  <c:v>Thailand</c:v>
                </c:pt>
                <c:pt idx="15">
                  <c:v>Brunei</c:v>
                </c:pt>
                <c:pt idx="16">
                  <c:v>Mongolia</c:v>
                </c:pt>
                <c:pt idx="17">
                  <c:v>Vietnam</c:v>
                </c:pt>
                <c:pt idx="18">
                  <c:v>China</c:v>
                </c:pt>
                <c:pt idx="19">
                  <c:v>Palau</c:v>
                </c:pt>
                <c:pt idx="20">
                  <c:v>Macao</c:v>
                </c:pt>
                <c:pt idx="21">
                  <c:v>Hong Kong</c:v>
                </c:pt>
                <c:pt idx="22">
                  <c:v>New Zealand</c:v>
                </c:pt>
                <c:pt idx="23">
                  <c:v>Korea, Rep.</c:v>
                </c:pt>
                <c:pt idx="24">
                  <c:v>Australia</c:v>
                </c:pt>
                <c:pt idx="25">
                  <c:v>Singapore</c:v>
                </c:pt>
                <c:pt idx="26">
                  <c:v>Japan</c:v>
                </c:pt>
              </c:strCache>
            </c:strRef>
          </c:cat>
          <c:val>
            <c:numRef>
              <c:f>Sheet1!$C$2:$C$28</c:f>
              <c:numCache>
                <c:formatCode>General</c:formatCode>
                <c:ptCount val="27"/>
                <c:pt idx="0">
                  <c:v>66.5</c:v>
                </c:pt>
                <c:pt idx="1">
                  <c:v>84.2</c:v>
                </c:pt>
                <c:pt idx="2">
                  <c:v>69.9</c:v>
                </c:pt>
                <c:pt idx="3">
                  <c:v>88.8</c:v>
                </c:pt>
                <c:pt idx="4">
                  <c:v>76.3</c:v>
                </c:pt>
                <c:pt idx="5">
                  <c:v>82.2</c:v>
                </c:pt>
                <c:pt idx="6">
                  <c:v>96.7</c:v>
                </c:pt>
                <c:pt idx="7">
                  <c:v>102.8</c:v>
                </c:pt>
                <c:pt idx="8">
                  <c:v>102.5</c:v>
                </c:pt>
                <c:pt idx="9">
                  <c:v>100.4</c:v>
                </c:pt>
                <c:pt idx="10">
                  <c:v>96.5</c:v>
                </c:pt>
                <c:pt idx="11">
                  <c:v>98.4</c:v>
                </c:pt>
                <c:pt idx="12">
                  <c:v>120.3</c:v>
                </c:pt>
                <c:pt idx="13">
                  <c:v>111.1</c:v>
                </c:pt>
                <c:pt idx="14">
                  <c:v>114.3</c:v>
                </c:pt>
                <c:pt idx="15">
                  <c:v>117.4</c:v>
                </c:pt>
                <c:pt idx="16">
                  <c:v>128.1</c:v>
                </c:pt>
                <c:pt idx="17">
                  <c:v>123.8</c:v>
                </c:pt>
                <c:pt idx="18">
                  <c:v>127.5</c:v>
                </c:pt>
                <c:pt idx="19">
                  <c:v>132.6</c:v>
                </c:pt>
                <c:pt idx="20">
                  <c:v>147.9</c:v>
                </c:pt>
                <c:pt idx="21">
                  <c:v>162.5</c:v>
                </c:pt>
                <c:pt idx="22">
                  <c:v>155.0</c:v>
                </c:pt>
                <c:pt idx="23">
                  <c:v>170.8</c:v>
                </c:pt>
                <c:pt idx="24">
                  <c:v>160.8</c:v>
                </c:pt>
                <c:pt idx="25">
                  <c:v>179.4</c:v>
                </c:pt>
                <c:pt idx="26">
                  <c:v>172.5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Employment</c:v>
                </c:pt>
              </c:strCache>
            </c:strRef>
          </c:tx>
          <c:spPr>
            <a:solidFill>
              <a:srgbClr val="E87D1E"/>
            </a:solidFill>
          </c:spPr>
          <c:cat>
            <c:strRef>
              <c:f>Sheet1!$A$2:$A$28</c:f>
              <c:strCache>
                <c:ptCount val="27"/>
                <c:pt idx="0">
                  <c:v>Lao PDR</c:v>
                </c:pt>
                <c:pt idx="1">
                  <c:v>Vanuatu</c:v>
                </c:pt>
                <c:pt idx="2">
                  <c:v>Cambodia</c:v>
                </c:pt>
                <c:pt idx="3">
                  <c:v>Marshall Is.</c:v>
                </c:pt>
                <c:pt idx="4">
                  <c:v>Myanmar</c:v>
                </c:pt>
                <c:pt idx="5">
                  <c:v>Nauru</c:v>
                </c:pt>
                <c:pt idx="6">
                  <c:v>Kiribati</c:v>
                </c:pt>
                <c:pt idx="7">
                  <c:v>Samoa</c:v>
                </c:pt>
                <c:pt idx="8">
                  <c:v>Tuvalu</c:v>
                </c:pt>
                <c:pt idx="9">
                  <c:v>Tonga</c:v>
                </c:pt>
                <c:pt idx="10">
                  <c:v>Indonesia</c:v>
                </c:pt>
                <c:pt idx="11">
                  <c:v>Philippines</c:v>
                </c:pt>
                <c:pt idx="12">
                  <c:v>Fiji</c:v>
                </c:pt>
                <c:pt idx="13">
                  <c:v>Malaysia</c:v>
                </c:pt>
                <c:pt idx="14">
                  <c:v>Thailand</c:v>
                </c:pt>
                <c:pt idx="15">
                  <c:v>Brunei</c:v>
                </c:pt>
                <c:pt idx="16">
                  <c:v>Mongolia</c:v>
                </c:pt>
                <c:pt idx="17">
                  <c:v>Vietnam</c:v>
                </c:pt>
                <c:pt idx="18">
                  <c:v>China</c:v>
                </c:pt>
                <c:pt idx="19">
                  <c:v>Palau</c:v>
                </c:pt>
                <c:pt idx="20">
                  <c:v>Macao</c:v>
                </c:pt>
                <c:pt idx="21">
                  <c:v>Hong Kong</c:v>
                </c:pt>
                <c:pt idx="22">
                  <c:v>New Zealand</c:v>
                </c:pt>
                <c:pt idx="23">
                  <c:v>Korea, Rep.</c:v>
                </c:pt>
                <c:pt idx="24">
                  <c:v>Australia</c:v>
                </c:pt>
                <c:pt idx="25">
                  <c:v>Singapore</c:v>
                </c:pt>
                <c:pt idx="26">
                  <c:v>Japan</c:v>
                </c:pt>
              </c:strCache>
            </c:strRef>
          </c:cat>
          <c:val>
            <c:numRef>
              <c:f>Sheet1!$D$2:$D$28</c:f>
              <c:numCache>
                <c:formatCode>General</c:formatCode>
                <c:ptCount val="27"/>
                <c:pt idx="0">
                  <c:v>30.3</c:v>
                </c:pt>
                <c:pt idx="1">
                  <c:v>13.0</c:v>
                </c:pt>
                <c:pt idx="2">
                  <c:v>28.4</c:v>
                </c:pt>
                <c:pt idx="3">
                  <c:v>20.0</c:v>
                </c:pt>
                <c:pt idx="4">
                  <c:v>34.3</c:v>
                </c:pt>
                <c:pt idx="5">
                  <c:v>43.5</c:v>
                </c:pt>
                <c:pt idx="6">
                  <c:v>24.2</c:v>
                </c:pt>
                <c:pt idx="7">
                  <c:v>18.3</c:v>
                </c:pt>
                <c:pt idx="8">
                  <c:v>23.0</c:v>
                </c:pt>
                <c:pt idx="9">
                  <c:v>31.0</c:v>
                </c:pt>
                <c:pt idx="10">
                  <c:v>38.1</c:v>
                </c:pt>
                <c:pt idx="11">
                  <c:v>37.1</c:v>
                </c:pt>
                <c:pt idx="12">
                  <c:v>30.8</c:v>
                </c:pt>
                <c:pt idx="13">
                  <c:v>47.8</c:v>
                </c:pt>
                <c:pt idx="14">
                  <c:v>45.5</c:v>
                </c:pt>
                <c:pt idx="15">
                  <c:v>45.8</c:v>
                </c:pt>
                <c:pt idx="16">
                  <c:v>38.9</c:v>
                </c:pt>
                <c:pt idx="17">
                  <c:v>49.5</c:v>
                </c:pt>
                <c:pt idx="18">
                  <c:v>45.8</c:v>
                </c:pt>
                <c:pt idx="19">
                  <c:v>55.0</c:v>
                </c:pt>
                <c:pt idx="20">
                  <c:v>60.1</c:v>
                </c:pt>
                <c:pt idx="21">
                  <c:v>48.5</c:v>
                </c:pt>
                <c:pt idx="22">
                  <c:v>61.5</c:v>
                </c:pt>
                <c:pt idx="23">
                  <c:v>47.4</c:v>
                </c:pt>
                <c:pt idx="24">
                  <c:v>61.2</c:v>
                </c:pt>
                <c:pt idx="25">
                  <c:v>55.3</c:v>
                </c:pt>
                <c:pt idx="26">
                  <c:v>64.4</c:v>
                </c:pt>
              </c:numCache>
            </c:numRef>
          </c:val>
        </c:ser>
        <c:gapWidth val="20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700">
                <a:latin typeface="Calibr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300.0"/>
        </c:scaling>
        <c:delete val="0"/>
        <c:axPos val="b"/>
        <c:majorGridlines>
          <c:spPr>
            <a:ln>
              <a:solidFill>
                <a:srgbClr val="EEEEEE"/>
              </a:solidFill>
            </a:ln>
          </c:spPr>
        </c:majorGridlines>
        <c:majorTickMark val="out"/>
        <c:minorTickMark val="none"/>
        <c:tickLblPos val="nextTo"/>
        <c:spPr>
          <a:ln>
            <a:solidFill>
              <a:srgbClr val="D0D5DD"/>
            </a:solidFill>
          </a:ln>
        </c:spPr>
        <c:txPr>
          <a:bodyPr/>
          <a:lstStyle/>
          <a:p>
            <a:pPr>
              <a:defRPr sz="800"/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900">
              <a:latin typeface="Calibri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Health Score</c:v>
                </c:pt>
              </c:strCache>
            </c:strRef>
          </c:tx>
          <c:spPr>
            <a:solidFill>
              <a:srgbClr val="00889E"/>
            </a:solidFill>
          </c:spPr>
          <c:dPt>
            <c:idx val="2"/>
            <c:spPr>
              <a:solidFill>
                <a:srgbClr val="006EAF"/>
              </a:solidFill>
            </c:spPr>
          </c:dPt>
          <c:dPt>
            <c:idx val="6"/>
            <c:spPr>
              <a:solidFill>
                <a:srgbClr val="7A7A8C"/>
              </a:solidFill>
            </c:spPr>
          </c:dPt>
          <c:dLbls>
            <c:numFmt formatCode="0.0" sourceLinked="0"/>
            <c:txPr>
              <a:bodyPr/>
              <a:lstStyle/>
              <a:p>
                <a:pPr>
                  <a:defRPr sz="900" b="1"/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Sheet1!$A$2:$A$8</c:f>
              <c:strCache>
                <c:ptCount val="7"/>
                <c:pt idx="0">
                  <c:v>Sub-Saharan
Africa</c:v>
                </c:pt>
                <c:pt idx="1">
                  <c:v>South
Asia</c:v>
                </c:pt>
                <c:pt idx="2">
                  <c:v>East Asia
&amp; Pacific</c:v>
                </c:pt>
                <c:pt idx="3">
                  <c:v>Latin America
&amp; Caribbean</c:v>
                </c:pt>
                <c:pt idx="4">
                  <c:v>MENA+</c:v>
                </c:pt>
                <c:pt idx="5">
                  <c:v>Europe &amp;
Central Asia</c:v>
                </c:pt>
                <c:pt idx="6">
                  <c:v>World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37.3</c:v>
                </c:pt>
                <c:pt idx="1">
                  <c:v>41.0</c:v>
                </c:pt>
                <c:pt idx="2">
                  <c:v>42.8</c:v>
                </c:pt>
                <c:pt idx="3">
                  <c:v>43.4</c:v>
                </c:pt>
                <c:pt idx="4">
                  <c:v>44.9</c:v>
                </c:pt>
                <c:pt idx="5">
                  <c:v>45.9</c:v>
                </c:pt>
                <c:pt idx="6">
                  <c:v>42.6</c:v>
                </c:pt>
              </c:numCache>
            </c:numRef>
          </c:val>
        </c:ser>
        <c:gapWidth val="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900">
                <a:latin typeface="Calibr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Education Score</c:v>
                </c:pt>
              </c:strCache>
            </c:strRef>
          </c:tx>
          <c:spPr>
            <a:solidFill>
              <a:srgbClr val="006EAF"/>
            </a:solidFill>
          </c:spPr>
          <c:dPt>
            <c:idx val="4"/>
            <c:spPr>
              <a:solidFill>
                <a:srgbClr val="006EAF"/>
              </a:solidFill>
            </c:spPr>
          </c:dPt>
          <c:dPt>
            <c:idx val="6"/>
            <c:spPr>
              <a:solidFill>
                <a:srgbClr val="7A7A8C"/>
              </a:solidFill>
            </c:spPr>
          </c:dPt>
          <c:dLbls>
            <c:numFmt formatCode="0.0" sourceLinked="0"/>
            <c:txPr>
              <a:bodyPr/>
              <a:lstStyle/>
              <a:p>
                <a:pPr>
                  <a:defRPr sz="900" b="1"/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Sheet1!$A$2:$A$8</c:f>
              <c:strCache>
                <c:ptCount val="7"/>
                <c:pt idx="0">
                  <c:v>Sub-Saharan
Africa</c:v>
                </c:pt>
                <c:pt idx="1">
                  <c:v>South
Asia</c:v>
                </c:pt>
                <c:pt idx="2">
                  <c:v>Latin America
&amp; Caribbean</c:v>
                </c:pt>
                <c:pt idx="3">
                  <c:v>MENA+</c:v>
                </c:pt>
                <c:pt idx="4">
                  <c:v>East Asia
&amp; Pacific</c:v>
                </c:pt>
                <c:pt idx="5">
                  <c:v>Europe &amp;
Central Asia</c:v>
                </c:pt>
                <c:pt idx="6">
                  <c:v>World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64.1</c:v>
                </c:pt>
                <c:pt idx="1">
                  <c:v>83.0</c:v>
                </c:pt>
                <c:pt idx="2">
                  <c:v>98.3</c:v>
                </c:pt>
                <c:pt idx="3">
                  <c:v>105.8</c:v>
                </c:pt>
                <c:pt idx="4">
                  <c:v>118.1</c:v>
                </c:pt>
                <c:pt idx="5">
                  <c:v>140.8</c:v>
                </c:pt>
                <c:pt idx="6">
                  <c:v>107.4</c:v>
                </c:pt>
              </c:numCache>
            </c:numRef>
          </c:val>
        </c:ser>
        <c:gapWidth val="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Gender Gap</c:v>
                </c:pt>
              </c:strCache>
            </c:strRef>
          </c:tx>
          <c:spPr>
            <a:solidFill>
              <a:srgbClr val="1B3A5C"/>
            </a:solidFill>
          </c:spPr>
          <c:dPt>
            <c:idx val="4"/>
            <c:spPr>
              <a:solidFill>
                <a:srgbClr val="006EAF"/>
              </a:solidFill>
            </c:spPr>
          </c:dPt>
          <c:dPt>
            <c:idx val="5"/>
            <c:spPr>
              <a:solidFill>
                <a:srgbClr val="E05A4F"/>
              </a:solidFill>
            </c:spPr>
          </c:dPt>
          <c:dLbls>
            <c:numFmt formatCode="+0.0;-0.0" sourceLinked="0"/>
            <c:txPr>
              <a:bodyPr/>
              <a:lstStyle/>
              <a:p>
                <a:pPr>
                  <a:defRPr sz="900" b="1"/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Sheet1!$A$2:$A$7</c:f>
              <c:strCache>
                <c:ptCount val="6"/>
                <c:pt idx="0">
                  <c:v>Sub-Saharan
Africa</c:v>
                </c:pt>
                <c:pt idx="1">
                  <c:v>South
Asia</c:v>
                </c:pt>
                <c:pt idx="2">
                  <c:v>MENA+</c:v>
                </c:pt>
                <c:pt idx="3">
                  <c:v>Latin America
&amp; Caribbean</c:v>
                </c:pt>
                <c:pt idx="4">
                  <c:v>East Asia
&amp; Pacific</c:v>
                </c:pt>
                <c:pt idx="5">
                  <c:v>Europe &amp;
Central Asia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5.2</c:v>
                </c:pt>
                <c:pt idx="1">
                  <c:v>15.8</c:v>
                </c:pt>
                <c:pt idx="2">
                  <c:v>18.3</c:v>
                </c:pt>
                <c:pt idx="3">
                  <c:v>4.1</c:v>
                </c:pt>
                <c:pt idx="4">
                  <c:v>5.7</c:v>
                </c:pt>
                <c:pt idx="5">
                  <c:v>-1.2</c:v>
                </c:pt>
              </c:numCache>
            </c:numRef>
          </c:val>
        </c:ser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900">
                <a:latin typeface="Calibr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>
          <c:spPr>
            <a:ln>
              <a:solidFill>
                <a:srgbClr val="EEEEEE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Employment Score</c:v>
                </c:pt>
              </c:strCache>
            </c:strRef>
          </c:tx>
          <c:spPr>
            <a:solidFill>
              <a:srgbClr val="E87D1E"/>
            </a:solidFill>
          </c:spPr>
          <c:dPt>
            <c:idx val="4"/>
            <c:spPr>
              <a:solidFill>
                <a:srgbClr val="006EAF"/>
              </a:solidFill>
            </c:spPr>
          </c:dPt>
          <c:dPt>
            <c:idx val="3"/>
            <c:spPr>
              <a:solidFill>
                <a:srgbClr val="7A7A8C"/>
              </a:solidFill>
            </c:spPr>
          </c:dPt>
          <c:dLbls>
            <c:numFmt formatCode="0.0" sourceLinked="0"/>
            <c:txPr>
              <a:bodyPr/>
              <a:lstStyle/>
              <a:p>
                <a:pPr>
                  <a:defRPr sz="900" b="1"/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Sheet1!$A$2:$A$8</c:f>
              <c:strCache>
                <c:ptCount val="7"/>
                <c:pt idx="0">
                  <c:v>South
Asia</c:v>
                </c:pt>
                <c:pt idx="1">
                  <c:v>Sub-Saharan
Africa</c:v>
                </c:pt>
                <c:pt idx="2">
                  <c:v>MENA+</c:v>
                </c:pt>
                <c:pt idx="3">
                  <c:v>World</c:v>
                </c:pt>
                <c:pt idx="4">
                  <c:v>East Asia
&amp; Pacific</c:v>
                </c:pt>
                <c:pt idx="5">
                  <c:v>Latin America
&amp; Caribbean</c:v>
                </c:pt>
                <c:pt idx="6">
                  <c:v>Europe &amp;
Central Asia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23.4</c:v>
                </c:pt>
                <c:pt idx="1">
                  <c:v>26.9</c:v>
                </c:pt>
                <c:pt idx="2">
                  <c:v>35.0</c:v>
                </c:pt>
                <c:pt idx="3">
                  <c:v>37.2</c:v>
                </c:pt>
                <c:pt idx="4">
                  <c:v>40.7</c:v>
                </c:pt>
                <c:pt idx="5">
                  <c:v>41.5</c:v>
                </c:pt>
                <c:pt idx="6">
                  <c:v>46.6</c:v>
                </c:pt>
              </c:numCache>
            </c:numRef>
          </c:val>
        </c:ser>
        <c:gapWidth val="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Relationship Id="rId3" Type="http://schemas.openxmlformats.org/officeDocument/2006/relationships/chart" Target="../charts/chart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7.xml"/><Relationship Id="rId3" Type="http://schemas.openxmlformats.org/officeDocument/2006/relationships/chart" Target="../charts/chart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2B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00"/>
            <a:ext cx="12191695" cy="1371600"/>
          </a:xfrm>
          <a:prstGeom prst="rect">
            <a:avLst/>
          </a:prstGeom>
          <a:solidFill>
            <a:srgbClr val="001F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88720" y="1828800"/>
            <a:ext cx="1645920" cy="50800"/>
          </a:xfrm>
          <a:prstGeom prst="rect">
            <a:avLst/>
          </a:prstGeom>
          <a:solidFill>
            <a:srgbClr val="006E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2103120"/>
            <a:ext cx="6400800" cy="10972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4800" b="1">
                <a:solidFill>
                  <a:srgbClr val="FFFFFF"/>
                </a:solidFill>
                <a:latin typeface="Calibri Light"/>
              </a:defRPr>
            </a:pPr>
            <a:r>
              <a:t>Human Capital</a:t>
            </a:r>
            <a:br/>
            <a:r>
              <a:t>Index Plus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3566160"/>
            <a:ext cx="36576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2200" b="1">
                <a:solidFill>
                  <a:srgbClr val="006EAF"/>
                </a:solidFill>
                <a:latin typeface="Calibri"/>
              </a:defRPr>
            </a:pPr>
            <a:r>
              <a:t>HCI+  |  2025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4297680"/>
            <a:ext cx="73152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4000" b="1">
                <a:solidFill>
                  <a:srgbClr val="FFFFFF"/>
                </a:solidFill>
                <a:latin typeface="Calibri"/>
              </a:defRPr>
            </a:pPr>
            <a:r>
              <a:t>EAST ASIA &amp; PACIFIC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5303520"/>
            <a:ext cx="54864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300" b="0">
                <a:solidFill>
                  <a:srgbClr val="8899AA"/>
                </a:solidFill>
                <a:latin typeface="Calibri"/>
              </a:defRPr>
            </a:pPr>
            <a:r>
              <a:t>Regional overview across 27 economies spanning health,</a:t>
            </a:r>
            <a:br/>
            <a:r>
              <a:t>education, and employment dimensions of human capital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188720" y="6035040"/>
            <a:ext cx="2011680" cy="292608"/>
          </a:xfrm>
          <a:prstGeom prst="roundRect">
            <a:avLst/>
          </a:prstGeom>
          <a:solidFill>
            <a:srgbClr val="00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88720" y="6035040"/>
            <a:ext cx="201168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900" b="0">
                <a:solidFill>
                  <a:srgbClr val="006EAF"/>
                </a:solidFill>
                <a:latin typeface="Calibri"/>
              </a:defRPr>
            </a:pPr>
            <a:r>
              <a:t>27 Economies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83280" y="6035040"/>
            <a:ext cx="2011680" cy="292608"/>
          </a:xfrm>
          <a:prstGeom prst="roundRect">
            <a:avLst/>
          </a:prstGeom>
          <a:solidFill>
            <a:srgbClr val="00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83280" y="6035040"/>
            <a:ext cx="201168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900" b="0">
                <a:solidFill>
                  <a:srgbClr val="006EAF"/>
                </a:solidFill>
                <a:latin typeface="Calibri"/>
              </a:defRPr>
            </a:pPr>
            <a:r>
              <a:t>All Income Levels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1371600"/>
            <a:ext cx="3474720" cy="4572000"/>
          </a:xfrm>
          <a:prstGeom prst="roundRect">
            <a:avLst/>
          </a:prstGeom>
          <a:solidFill>
            <a:srgbClr val="00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46720" y="1554480"/>
            <a:ext cx="34747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000" b="1">
                <a:solidFill>
                  <a:srgbClr val="006EAF"/>
                </a:solidFill>
                <a:latin typeface="Calibri"/>
              </a:defRPr>
            </a:pPr>
            <a:r>
              <a:t>REGIONAL HCI+ AVERAGE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20" y="2194560"/>
            <a:ext cx="3474720" cy="14630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7200" b="1">
                <a:solidFill>
                  <a:srgbClr val="FFFFFF"/>
                </a:solidFill>
                <a:latin typeface="Calibri Light"/>
              </a:defRPr>
            </a:pPr>
            <a:r>
              <a:t>201.7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20" y="3657600"/>
            <a:ext cx="347472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200" b="0">
                <a:solidFill>
                  <a:srgbClr val="7A7A8C"/>
                </a:solidFill>
                <a:latin typeface="Calibri"/>
              </a:defRPr>
            </a:pPr>
            <a:r>
              <a:t>out of 325  |  World avg: 188.5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4206240"/>
            <a:ext cx="1097280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900" b="0">
                <a:solidFill>
                  <a:srgbClr val="AABBCC"/>
                </a:solidFill>
                <a:latin typeface="Calibri"/>
              </a:defRPr>
            </a:pPr>
            <a:r>
              <a:t>Health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98480" y="4206240"/>
            <a:ext cx="640080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defRPr sz="900" b="1">
                <a:solidFill>
                  <a:srgbClr val="00889E"/>
                </a:solidFill>
                <a:latin typeface="Calibri"/>
              </a:defRPr>
            </a:pPr>
            <a:r>
              <a:t>42.8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321040" y="4407408"/>
            <a:ext cx="2926080" cy="91440"/>
          </a:xfrm>
          <a:prstGeom prst="roundRect">
            <a:avLst/>
          </a:prstGeom>
          <a:solidFill>
            <a:srgbClr val="002B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321040" y="4407408"/>
            <a:ext cx="2504724" cy="91440"/>
          </a:xfrm>
          <a:prstGeom prst="roundRect">
            <a:avLst/>
          </a:prstGeom>
          <a:solidFill>
            <a:srgbClr val="0088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21040" y="4709160"/>
            <a:ext cx="1097280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900" b="0">
                <a:solidFill>
                  <a:srgbClr val="AABBCC"/>
                </a:solidFill>
                <a:latin typeface="Calibri"/>
              </a:defRPr>
            </a:pPr>
            <a:r>
              <a:t>Education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98480" y="4709160"/>
            <a:ext cx="640080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defRPr sz="900" b="1">
                <a:solidFill>
                  <a:srgbClr val="006EAF"/>
                </a:solidFill>
                <a:latin typeface="Calibri"/>
              </a:defRPr>
            </a:pPr>
            <a:r>
              <a:t>118.1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321040" y="4910328"/>
            <a:ext cx="2926080" cy="91440"/>
          </a:xfrm>
          <a:prstGeom prst="roundRect">
            <a:avLst/>
          </a:prstGeom>
          <a:solidFill>
            <a:srgbClr val="002B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321040" y="4910328"/>
            <a:ext cx="1919833" cy="91440"/>
          </a:xfrm>
          <a:prstGeom prst="roundRect">
            <a:avLst/>
          </a:prstGeom>
          <a:solidFill>
            <a:srgbClr val="006E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321040" y="5212080"/>
            <a:ext cx="1097280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900" b="0">
                <a:solidFill>
                  <a:srgbClr val="AABBCC"/>
                </a:solidFill>
                <a:latin typeface="Calibri"/>
              </a:defRPr>
            </a:pPr>
            <a:r>
              <a:t>Employment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698480" y="5212080"/>
            <a:ext cx="640080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defRPr sz="900" b="1">
                <a:solidFill>
                  <a:srgbClr val="E87D1E"/>
                </a:solidFill>
                <a:latin typeface="Calibri"/>
              </a:defRPr>
            </a:pPr>
            <a:r>
              <a:t>40.7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321040" y="5413248"/>
            <a:ext cx="2926080" cy="91440"/>
          </a:xfrm>
          <a:prstGeom prst="roundRect">
            <a:avLst/>
          </a:prstGeom>
          <a:solidFill>
            <a:srgbClr val="002B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8321040" y="5413248"/>
            <a:ext cx="1701306" cy="91440"/>
          </a:xfrm>
          <a:prstGeom prst="roundRect">
            <a:avLst/>
          </a:prstGeom>
          <a:solidFill>
            <a:srgbClr val="E87D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21040" y="5532120"/>
            <a:ext cx="292608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900" b="1">
                <a:solidFill>
                  <a:srgbClr val="E87D1E"/>
                </a:solidFill>
                <a:latin typeface="Calibri"/>
              </a:defRPr>
            </a:pPr>
            <a:r>
              <a:t>Ranked #3 among 7 World Bank regions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2B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7315200" cy="6400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defRPr sz="2400" b="1">
                <a:solidFill>
                  <a:srgbClr val="FFFFFF"/>
                </a:solidFill>
                <a:latin typeface="Calibri Light"/>
              </a:defRPr>
            </a:pPr>
            <a:r>
              <a:t>East Asia &amp; Pacific  |  HCI+ vs GDP per Capita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137160"/>
            <a:ext cx="3200400" cy="6400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>
              <a:defRPr sz="2200" b="1">
                <a:solidFill>
                  <a:srgbClr val="006EAF"/>
                </a:solidFill>
                <a:latin typeface="Calibri"/>
              </a:defRPr>
            </a:pPr>
            <a:r>
              <a:t>201.7 / 325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188720"/>
            <a:ext cx="8046720" cy="49377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371600"/>
            <a:ext cx="64008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1">
                <a:solidFill>
                  <a:srgbClr val="7A7A8C"/>
                </a:solidFill>
                <a:latin typeface="Calibri"/>
              </a:defRPr>
            </a:pPr>
            <a:r>
              <a:t>HCI+ SCORE vs LOG GDP PER CAPITA (PPP)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691640"/>
            <a:ext cx="2286000" cy="38100"/>
          </a:xfrm>
          <a:prstGeom prst="rect">
            <a:avLst/>
          </a:prstGeom>
          <a:solidFill>
            <a:srgbClr val="006E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783080"/>
            <a:ext cx="640080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900" b="0">
                <a:solidFill>
                  <a:srgbClr val="7A7A8C"/>
                </a:solidFill>
                <a:latin typeface="Calibri"/>
              </a:defRPr>
            </a:pPr>
            <a:r>
              <a:t>EAP countries in blue. All other regions shown in light gray for context.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731520" y="2011680"/>
          <a:ext cx="7498079" cy="38404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8778240" y="1188720"/>
            <a:ext cx="3017520" cy="49377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78240" y="1188720"/>
            <a:ext cx="63500" cy="4937760"/>
          </a:xfrm>
          <a:prstGeom prst="rect">
            <a:avLst/>
          </a:prstGeom>
          <a:solidFill>
            <a:srgbClr val="006E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052560" y="1371600"/>
            <a:ext cx="265176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1">
                <a:solidFill>
                  <a:srgbClr val="006EAF"/>
                </a:solidFill>
                <a:latin typeface="Calibri"/>
              </a:defRPr>
            </a:pPr>
            <a:r>
              <a:t>EAP IN CONTEXT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0" y="1737360"/>
            <a:ext cx="1645920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900" b="0">
                <a:solidFill>
                  <a:srgbClr val="7A7A8C"/>
                </a:solidFill>
                <a:latin typeface="Calibri"/>
              </a:defRPr>
            </a:pPr>
            <a:r>
              <a:t>Regional Average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0" y="1737360"/>
            <a:ext cx="1097280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defRPr sz="1000" b="1">
                <a:solidFill>
                  <a:srgbClr val="006EAF"/>
                </a:solidFill>
                <a:latin typeface="Calibri"/>
              </a:defRPr>
            </a:pPr>
            <a:r>
              <a:t>201.7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052560" y="2029968"/>
            <a:ext cx="2560320" cy="1270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052560" y="2194560"/>
            <a:ext cx="1645920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900" b="0">
                <a:solidFill>
                  <a:srgbClr val="7A7A8C"/>
                </a:solidFill>
                <a:latin typeface="Calibri"/>
              </a:defRPr>
            </a:pPr>
            <a:r>
              <a:t>World Average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0" y="2194560"/>
            <a:ext cx="1097280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defRPr sz="1000" b="1">
                <a:solidFill>
                  <a:srgbClr val="7A7A8C"/>
                </a:solidFill>
                <a:latin typeface="Calibri"/>
              </a:defRPr>
            </a:pPr>
            <a:r>
              <a:t>188.5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052560" y="2487168"/>
            <a:ext cx="2560320" cy="1270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0" y="2651760"/>
            <a:ext cx="1645920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900" b="0">
                <a:solidFill>
                  <a:srgbClr val="7A7A8C"/>
                </a:solidFill>
                <a:latin typeface="Calibri"/>
              </a:defRPr>
            </a:pPr>
            <a:r>
              <a:t>Economies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0" y="2651760"/>
            <a:ext cx="1097280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defRPr sz="1000" b="1">
                <a:solidFill>
                  <a:srgbClr val="1A1A2E"/>
                </a:solidFill>
                <a:latin typeface="Calibri"/>
              </a:defRPr>
            </a:pPr>
            <a:r>
              <a:t>27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052560" y="2944368"/>
            <a:ext cx="2560320" cy="1270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052560" y="3108960"/>
            <a:ext cx="1645920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900" b="0">
                <a:solidFill>
                  <a:srgbClr val="7A7A8C"/>
                </a:solidFill>
                <a:latin typeface="Calibri"/>
              </a:defRPr>
            </a:pPr>
            <a:r>
              <a:t>Top Performer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515600" y="3108960"/>
            <a:ext cx="1097280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defRPr sz="1000" b="1">
                <a:solidFill>
                  <a:srgbClr val="00889E"/>
                </a:solidFill>
                <a:latin typeface="Calibri"/>
              </a:defRPr>
            </a:pPr>
            <a:r>
              <a:t>Japan (284.3)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052560" y="3401568"/>
            <a:ext cx="2560320" cy="1270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0" y="3566160"/>
            <a:ext cx="1645920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900" b="0">
                <a:solidFill>
                  <a:srgbClr val="7A7A8C"/>
                </a:solidFill>
                <a:latin typeface="Calibri"/>
              </a:defRPr>
            </a:pPr>
            <a:r>
              <a:t>Lowest in EAP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15600" y="3566160"/>
            <a:ext cx="1097280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defRPr sz="1000" b="1">
                <a:solidFill>
                  <a:srgbClr val="E05A4F"/>
                </a:solidFill>
                <a:latin typeface="Calibri"/>
              </a:defRPr>
            </a:pPr>
            <a:r>
              <a:t>Lao PDR (135.6)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052560" y="3858768"/>
            <a:ext cx="2560320" cy="1270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052560" y="4023360"/>
            <a:ext cx="1645920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900" b="0">
                <a:solidFill>
                  <a:srgbClr val="7A7A8C"/>
                </a:solidFill>
                <a:latin typeface="Calibri"/>
              </a:defRPr>
            </a:pPr>
            <a:r>
              <a:t>vs Europe/C. Asia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515600" y="4023360"/>
            <a:ext cx="1097280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defRPr sz="1000" b="1">
                <a:solidFill>
                  <a:srgbClr val="7A7A8C"/>
                </a:solidFill>
                <a:latin typeface="Calibri"/>
              </a:defRPr>
            </a:pPr>
            <a:r>
              <a:t>233.3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052560" y="4315968"/>
            <a:ext cx="2560320" cy="1270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52560" y="4480560"/>
            <a:ext cx="1645920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900" b="0">
                <a:solidFill>
                  <a:srgbClr val="7A7A8C"/>
                </a:solidFill>
                <a:latin typeface="Calibri"/>
              </a:defRPr>
            </a:pPr>
            <a:r>
              <a:t>vs Latin America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515600" y="4480560"/>
            <a:ext cx="1097280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defRPr sz="1000" b="1">
                <a:solidFill>
                  <a:srgbClr val="7A7A8C"/>
                </a:solidFill>
                <a:latin typeface="Calibri"/>
              </a:defRPr>
            </a:pPr>
            <a:r>
              <a:t>183.2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052560" y="4773168"/>
            <a:ext cx="2560320" cy="1270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052560" y="4937760"/>
            <a:ext cx="1645920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900" b="0">
                <a:solidFill>
                  <a:srgbClr val="7A7A8C"/>
                </a:solidFill>
                <a:latin typeface="Calibri"/>
              </a:defRPr>
            </a:pPr>
            <a:r>
              <a:t>vs Sub-Saharan Africa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515600" y="4937760"/>
            <a:ext cx="1097280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defRPr sz="1000" b="1">
                <a:solidFill>
                  <a:srgbClr val="7A7A8C"/>
                </a:solidFill>
                <a:latin typeface="Calibri"/>
              </a:defRPr>
            </a:pPr>
            <a:r>
              <a:t>128.4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052560" y="4846320"/>
            <a:ext cx="265176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1">
                <a:solidFill>
                  <a:srgbClr val="006EAF"/>
                </a:solidFill>
                <a:latin typeface="Calibri"/>
              </a:defRPr>
            </a:pPr>
            <a:r>
              <a:t>KEY INSIGHT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052560" y="5120640"/>
            <a:ext cx="2651760" cy="8686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900" b="0">
                <a:solidFill>
                  <a:srgbClr val="1A1A2E"/>
                </a:solidFill>
                <a:latin typeface="Calibri"/>
              </a:defRPr>
            </a:pPr>
            <a:r>
              <a:t>EAP (avg 201.7) ranks 3rd among WB regions, exceeding the global average by 13 points. The region shows enormous variation: Japan (284.3) leads globally, while Lao PDR (135.6) trails. High-income EAP economies rival Europe.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002B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48640" y="6464808"/>
            <a:ext cx="54864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800" b="0">
                <a:solidFill>
                  <a:srgbClr val="AABBCC"/>
                </a:solidFill>
                <a:latin typeface="Calibri"/>
              </a:defRPr>
            </a:pPr>
            <a:r>
              <a:t>Source: World Bank Human Capital Index Plus (HCI+) 2025  |  github.com/worldbank/HCI-Plus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144000" y="6464808"/>
            <a:ext cx="22860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defRPr sz="800" b="0">
                <a:solidFill>
                  <a:srgbClr val="00889E"/>
                </a:solidFill>
                <a:latin typeface="Calibri"/>
              </a:defRPr>
            </a:pPr>
            <a:r>
              <a:t>humancapital.worldbank.org/hciplus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521440" y="6464808"/>
            <a:ext cx="4572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defRPr sz="800" b="0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2B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7315200" cy="6400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defRPr sz="2400" b="1">
                <a:solidFill>
                  <a:srgbClr val="FFFFFF"/>
                </a:solidFill>
                <a:latin typeface="Calibri Light"/>
              </a:defRPr>
            </a:pPr>
            <a:r>
              <a:t>East Asia &amp; Pacific  |  Score Decomposition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137160"/>
            <a:ext cx="3200400" cy="6400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>
              <a:defRPr sz="2200" b="1">
                <a:solidFill>
                  <a:srgbClr val="006EAF"/>
                </a:solidFill>
                <a:latin typeface="Calibri"/>
              </a:defRPr>
            </a:pPr>
            <a:r>
              <a:t>201.7 / 325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188720"/>
            <a:ext cx="5486400" cy="49377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371600"/>
            <a:ext cx="45720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1">
                <a:solidFill>
                  <a:srgbClr val="7A7A8C"/>
                </a:solidFill>
                <a:latin typeface="Calibri"/>
              </a:defRPr>
            </a:pPr>
            <a:r>
              <a:t>COMPONENT DECOMPOSITION BY REGION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691640"/>
            <a:ext cx="1828800" cy="38100"/>
          </a:xfrm>
          <a:prstGeom prst="rect">
            <a:avLst/>
          </a:prstGeom>
          <a:solidFill>
            <a:srgbClr val="006E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731520" y="1828800"/>
          <a:ext cx="5029200" cy="25603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731520" y="4572000"/>
            <a:ext cx="45720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1">
                <a:solidFill>
                  <a:srgbClr val="7A7A8C"/>
                </a:solidFill>
                <a:latin typeface="Calibri"/>
              </a:defRPr>
            </a:pPr>
            <a:r>
              <a:t>EAP vs WORLD AVERAGE (Filled = EAP, Hollow = World)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4892040"/>
            <a:ext cx="1828800" cy="25400"/>
          </a:xfrm>
          <a:prstGeom prst="rect">
            <a:avLst/>
          </a:prstGeom>
          <a:solidFill>
            <a:srgbClr val="006E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5074920"/>
            <a:ext cx="201168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1">
                <a:solidFill>
                  <a:srgbClr val="1A1A2E"/>
                </a:solidFill>
                <a:latin typeface="Calibri"/>
              </a:defRPr>
            </a:pPr>
            <a:r>
              <a:t>Health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834640" y="5221224"/>
            <a:ext cx="2926080" cy="25400"/>
          </a:xfrm>
          <a:prstGeom prst="rect">
            <a:avLst/>
          </a:prstGeom>
          <a:solidFill>
            <a:srgbClr val="E0E2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5217932" y="5120640"/>
            <a:ext cx="219456" cy="219456"/>
          </a:xfrm>
          <a:prstGeom prst="ellipse">
            <a:avLst/>
          </a:prstGeom>
          <a:noFill/>
          <a:ln w="31750">
            <a:solidFill>
              <a:srgbClr val="BBBB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5229636" y="5120640"/>
            <a:ext cx="219456" cy="219456"/>
          </a:xfrm>
          <a:prstGeom prst="ellipse">
            <a:avLst/>
          </a:prstGeom>
          <a:solidFill>
            <a:srgbClr val="0088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65044" y="5303520"/>
            <a:ext cx="548640" cy="1828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900" b="1">
                <a:solidFill>
                  <a:srgbClr val="00889E"/>
                </a:solidFill>
                <a:latin typeface="Calibri"/>
              </a:defRPr>
            </a:pPr>
            <a:r>
              <a:t>42.8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5532120"/>
            <a:ext cx="201168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1">
                <a:solidFill>
                  <a:srgbClr val="1A1A2E"/>
                </a:solidFill>
                <a:latin typeface="Calibri"/>
              </a:defRPr>
            </a:pPr>
            <a:r>
              <a:t>Education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834640" y="5678424"/>
            <a:ext cx="2926080" cy="25400"/>
          </a:xfrm>
          <a:prstGeom prst="rect">
            <a:avLst/>
          </a:prstGeom>
          <a:solidFill>
            <a:srgbClr val="E0E2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4470806" y="5577840"/>
            <a:ext cx="219456" cy="219456"/>
          </a:xfrm>
          <a:prstGeom prst="ellipse">
            <a:avLst/>
          </a:prstGeom>
          <a:noFill/>
          <a:ln w="31750">
            <a:solidFill>
              <a:srgbClr val="BBBB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4644745" y="5577840"/>
            <a:ext cx="219456" cy="219456"/>
          </a:xfrm>
          <a:prstGeom prst="ellipse">
            <a:avLst/>
          </a:prstGeom>
          <a:solidFill>
            <a:srgbClr val="006E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480153" y="5760720"/>
            <a:ext cx="548640" cy="1828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900" b="1">
                <a:solidFill>
                  <a:srgbClr val="006EAF"/>
                </a:solidFill>
                <a:latin typeface="Calibri"/>
              </a:defRPr>
            </a:pPr>
            <a:r>
              <a:t>118.1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5989320"/>
            <a:ext cx="201168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1">
                <a:solidFill>
                  <a:srgbClr val="1A1A2E"/>
                </a:solidFill>
                <a:latin typeface="Calibri"/>
              </a:defRPr>
            </a:pPr>
            <a:r>
              <a:t>Employment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834640" y="6135624"/>
            <a:ext cx="2926080" cy="25400"/>
          </a:xfrm>
          <a:prstGeom prst="rect">
            <a:avLst/>
          </a:prstGeom>
          <a:solidFill>
            <a:srgbClr val="E0E2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4279914" y="6035040"/>
            <a:ext cx="219456" cy="219456"/>
          </a:xfrm>
          <a:prstGeom prst="ellipse">
            <a:avLst/>
          </a:prstGeom>
          <a:noFill/>
          <a:ln w="31750">
            <a:solidFill>
              <a:srgbClr val="BBBB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4426218" y="6035040"/>
            <a:ext cx="219456" cy="219456"/>
          </a:xfrm>
          <a:prstGeom prst="ellipse">
            <a:avLst/>
          </a:prstGeom>
          <a:solidFill>
            <a:srgbClr val="E87D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261626" y="6217920"/>
            <a:ext cx="548640" cy="1828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900" b="1">
                <a:solidFill>
                  <a:srgbClr val="E87D1E"/>
                </a:solidFill>
                <a:latin typeface="Calibri"/>
              </a:defRPr>
            </a:pPr>
            <a:r>
              <a:t>40.7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17920" y="1188720"/>
            <a:ext cx="5486400" cy="49377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92240" y="1371600"/>
            <a:ext cx="45720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1">
                <a:solidFill>
                  <a:srgbClr val="7A7A8C"/>
                </a:solidFill>
                <a:latin typeface="Calibri"/>
              </a:defRPr>
            </a:pPr>
            <a:r>
              <a:t>ALL EAP ECONOMIES BY HCI+ SCORE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92240" y="1691640"/>
            <a:ext cx="1828800" cy="38100"/>
          </a:xfrm>
          <a:prstGeom prst="rect">
            <a:avLst/>
          </a:prstGeom>
          <a:solidFill>
            <a:srgbClr val="006E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30" name="Chart 29"/>
          <p:cNvGraphicFramePr>
            <a:graphicFrameLocks noGrp="1"/>
          </p:cNvGraphicFramePr>
          <p:nvPr/>
        </p:nvGraphicFramePr>
        <p:xfrm>
          <a:off x="6492240" y="1828800"/>
          <a:ext cx="4937760" cy="384048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31" name="Rectangle 30"/>
          <p:cNvSpPr/>
          <p:nvPr/>
        </p:nvSpPr>
        <p:spPr>
          <a:xfrm>
            <a:off x="6492240" y="5760720"/>
            <a:ext cx="228600" cy="109728"/>
          </a:xfrm>
          <a:prstGeom prst="rect">
            <a:avLst/>
          </a:prstGeom>
          <a:solidFill>
            <a:srgbClr val="006E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812280" y="5715000"/>
            <a:ext cx="1371600" cy="1828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800" b="0">
                <a:solidFill>
                  <a:srgbClr val="1A1A2E"/>
                </a:solidFill>
                <a:latin typeface="Calibri"/>
              </a:defRPr>
            </a:pPr>
            <a:r>
              <a:t>Above world avg (188.5)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503920" y="5760720"/>
            <a:ext cx="228600" cy="109728"/>
          </a:xfrm>
          <a:prstGeom prst="rect">
            <a:avLst/>
          </a:prstGeom>
          <a:solidFill>
            <a:srgbClr val="E05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823960" y="5715000"/>
            <a:ext cx="1371600" cy="1828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800" b="0">
                <a:solidFill>
                  <a:srgbClr val="1A1A2E"/>
                </a:solidFill>
                <a:latin typeface="Calibri"/>
              </a:defRPr>
            </a:pPr>
            <a:r>
              <a:t>Below world avg</a:t>
            </a:r>
          </a:p>
        </p:txBody>
      </p:sp>
      <p:sp>
        <p:nvSpPr>
          <p:cNvPr id="35" name="Rectangle 34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002B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48640" y="6464808"/>
            <a:ext cx="54864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800" b="0">
                <a:solidFill>
                  <a:srgbClr val="AABBCC"/>
                </a:solidFill>
                <a:latin typeface="Calibri"/>
              </a:defRPr>
            </a:pPr>
            <a:r>
              <a:t>Source: World Bank Human Capital Index Plus (HCI+) 2025  |  github.com/worldbank/HCI-Plus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44000" y="6464808"/>
            <a:ext cx="22860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defRPr sz="800" b="0">
                <a:solidFill>
                  <a:srgbClr val="00889E"/>
                </a:solidFill>
                <a:latin typeface="Calibri"/>
              </a:defRPr>
            </a:pPr>
            <a:r>
              <a:t>humancapital.worldbank.org/hciplus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521440" y="6464808"/>
            <a:ext cx="4572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defRPr sz="800" b="0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2B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7315200" cy="6400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defRPr sz="2400" b="1">
                <a:solidFill>
                  <a:srgbClr val="FFFFFF"/>
                </a:solidFill>
                <a:latin typeface="Calibri Light"/>
              </a:defRPr>
            </a:pPr>
            <a:r>
              <a:t>East Asia &amp; Pacific  |  Country Decomposition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137160"/>
            <a:ext cx="3200400" cy="6400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>
              <a:defRPr sz="1600" b="1">
                <a:solidFill>
                  <a:srgbClr val="006EAF"/>
                </a:solidFill>
                <a:latin typeface="Calibri"/>
              </a:defRPr>
            </a:pPr>
            <a:r>
              <a:t>Health + Education + Employment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47120" cy="5029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234440"/>
            <a:ext cx="73152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1">
                <a:solidFill>
                  <a:srgbClr val="7A7A8C"/>
                </a:solidFill>
                <a:latin typeface="Calibri"/>
              </a:defRPr>
            </a:pPr>
            <a:r>
              <a:t>COMPONENT DECOMPOSITION BY ECONOMY (sorted by total HCI+)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508760"/>
            <a:ext cx="2286000" cy="38100"/>
          </a:xfrm>
          <a:prstGeom prst="rect">
            <a:avLst/>
          </a:prstGeom>
          <a:solidFill>
            <a:srgbClr val="006E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731520" y="1645920"/>
          <a:ext cx="10789920" cy="42976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Rectangle 9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002B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6464808"/>
            <a:ext cx="54864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800" b="0">
                <a:solidFill>
                  <a:srgbClr val="AABBCC"/>
                </a:solidFill>
                <a:latin typeface="Calibri"/>
              </a:defRPr>
            </a:pPr>
            <a:r>
              <a:t>Source: World Bank Human Capital Index Plus (HCI+) 2025  |  github.com/worldbank/HCI-Plus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0" y="6464808"/>
            <a:ext cx="22860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defRPr sz="800" b="0">
                <a:solidFill>
                  <a:srgbClr val="00889E"/>
                </a:solidFill>
                <a:latin typeface="Calibri"/>
              </a:defRPr>
            </a:pPr>
            <a:r>
              <a:t>humancapital.worldbank.org/hciplus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521440" y="6464808"/>
            <a:ext cx="4572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defRPr sz="800" b="0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2B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50800"/>
          </a:xfrm>
          <a:prstGeom prst="rect">
            <a:avLst/>
          </a:prstGeom>
          <a:solidFill>
            <a:srgbClr val="0088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37160"/>
            <a:ext cx="7315200" cy="6400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defRPr sz="2400" b="1">
                <a:solidFill>
                  <a:srgbClr val="FFFFFF"/>
                </a:solidFill>
                <a:latin typeface="Calibri Light"/>
              </a:defRPr>
            </a:pPr>
            <a:r>
              <a:t>Health Component  |  East Asia &amp; Pacific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0" y="137160"/>
            <a:ext cx="3200400" cy="6400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>
              <a:defRPr sz="2200" b="1">
                <a:solidFill>
                  <a:srgbClr val="00889E"/>
                </a:solidFill>
                <a:latin typeface="Calibri"/>
              </a:defRPr>
            </a:pPr>
            <a:r>
              <a:t>Avg: 42.8 / 50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234440"/>
            <a:ext cx="73152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0">
                <a:solidFill>
                  <a:srgbClr val="7A7A8C"/>
                </a:solidFill>
                <a:latin typeface="Calibri"/>
              </a:defRPr>
            </a:pPr>
            <a:r>
              <a:t>Health outcomes reflect adult survival (ages 15-60) and freedom from childhood stunting.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828800"/>
            <a:ext cx="5486400" cy="2194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828800"/>
            <a:ext cx="5486400" cy="50800"/>
          </a:xfrm>
          <a:prstGeom prst="rect">
            <a:avLst/>
          </a:prstGeom>
          <a:solidFill>
            <a:srgbClr val="0088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011680"/>
            <a:ext cx="274320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200" b="1">
                <a:solidFill>
                  <a:srgbClr val="00889E"/>
                </a:solidFill>
                <a:latin typeface="Calibri"/>
              </a:defRPr>
            </a:pPr>
            <a:r>
              <a:t>ADULT SURVIVAL RATE (EAP AVG)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286000"/>
            <a:ext cx="457200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0">
                <a:solidFill>
                  <a:srgbClr val="7A7A8C"/>
                </a:solidFill>
                <a:latin typeface="Calibri"/>
              </a:defRPr>
            </a:pPr>
            <a:r>
              <a:t>Probability of surviving from age 15 to 60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606040"/>
            <a:ext cx="22860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4400" b="1">
                <a:solidFill>
                  <a:srgbClr val="00889E"/>
                </a:solidFill>
                <a:latin typeface="Calibri Light"/>
              </a:defRPr>
            </a:pPr>
            <a:r>
              <a:t>85.3%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337560"/>
            <a:ext cx="4937760" cy="164592"/>
          </a:xfrm>
          <a:prstGeom prst="roundRect">
            <a:avLst/>
          </a:prstGeom>
          <a:solidFill>
            <a:srgbClr val="E0E2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31520" y="3337560"/>
            <a:ext cx="4211909" cy="164592"/>
          </a:xfrm>
          <a:prstGeom prst="roundRect">
            <a:avLst/>
          </a:prstGeom>
          <a:solidFill>
            <a:srgbClr val="0088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00400" y="2651760"/>
            <a:ext cx="228600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200" b="0">
                <a:solidFill>
                  <a:srgbClr val="7A7A8C"/>
                </a:solidFill>
                <a:latin typeface="Calibri"/>
              </a:defRPr>
            </a:pPr>
            <a:r>
              <a:t>World avg: 81.5%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0" y="2926080"/>
            <a:ext cx="228600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200" b="0">
                <a:solidFill>
                  <a:srgbClr val="006EAF"/>
                </a:solidFill>
                <a:latin typeface="Calibri"/>
              </a:defRPr>
            </a:pPr>
            <a:r>
              <a:t>Best: Korea 96.7%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755794" y="3246120"/>
            <a:ext cx="25400" cy="347472"/>
          </a:xfrm>
          <a:prstGeom prst="rect">
            <a:avLst/>
          </a:prstGeom>
          <a:solidFill>
            <a:srgbClr val="E87D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81474" y="3566160"/>
            <a:ext cx="1097280" cy="1828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700" b="0">
                <a:solidFill>
                  <a:srgbClr val="E87D1E"/>
                </a:solidFill>
                <a:latin typeface="Calibri"/>
              </a:defRPr>
            </a:pPr>
            <a:r>
              <a:t>World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1828800"/>
            <a:ext cx="5486400" cy="2194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17920" y="1828800"/>
            <a:ext cx="5486400" cy="50800"/>
          </a:xfrm>
          <a:prstGeom prst="rect">
            <a:avLst/>
          </a:prstGeom>
          <a:solidFill>
            <a:srgbClr val="0088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92240" y="2011680"/>
            <a:ext cx="274320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200" b="1">
                <a:solidFill>
                  <a:srgbClr val="00889E"/>
                </a:solidFill>
                <a:latin typeface="Calibri"/>
              </a:defRPr>
            </a:pPr>
            <a:r>
              <a:t>NOT STUNTED RATE (EAP AVG)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2240" y="2286000"/>
            <a:ext cx="457200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0">
                <a:solidFill>
                  <a:srgbClr val="7A7A8C"/>
                </a:solidFill>
                <a:latin typeface="Calibri"/>
              </a:defRPr>
            </a:pPr>
            <a:r>
              <a:t>Share of children under 5 not stunted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2606040"/>
            <a:ext cx="22860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4400" b="1">
                <a:solidFill>
                  <a:srgbClr val="00889E"/>
                </a:solidFill>
                <a:latin typeface="Calibri Light"/>
              </a:defRPr>
            </a:pPr>
            <a:r>
              <a:t>86.6%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92240" y="3337560"/>
            <a:ext cx="4937760" cy="164592"/>
          </a:xfrm>
          <a:prstGeom prst="roundRect">
            <a:avLst/>
          </a:prstGeom>
          <a:solidFill>
            <a:srgbClr val="E0E2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492240" y="3337560"/>
            <a:ext cx="4276100" cy="164592"/>
          </a:xfrm>
          <a:prstGeom prst="roundRect">
            <a:avLst/>
          </a:prstGeom>
          <a:solidFill>
            <a:srgbClr val="0088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961120" y="2651760"/>
            <a:ext cx="228600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200" b="0">
                <a:solidFill>
                  <a:srgbClr val="7A7A8C"/>
                </a:solidFill>
                <a:latin typeface="Calibri"/>
              </a:defRPr>
            </a:pPr>
            <a:r>
              <a:t>World avg: 77.1%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61120" y="2926080"/>
            <a:ext cx="228600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200" b="0">
                <a:solidFill>
                  <a:srgbClr val="006EAF"/>
                </a:solidFill>
                <a:latin typeface="Calibri"/>
              </a:defRPr>
            </a:pPr>
            <a:r>
              <a:t>Best: Korea 99.1%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0299252" y="3246120"/>
            <a:ext cx="25400" cy="347472"/>
          </a:xfrm>
          <a:prstGeom prst="rect">
            <a:avLst/>
          </a:prstGeom>
          <a:solidFill>
            <a:srgbClr val="E87D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024932" y="3566160"/>
            <a:ext cx="1097280" cy="1828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700" b="0">
                <a:solidFill>
                  <a:srgbClr val="E87D1E"/>
                </a:solidFill>
                <a:latin typeface="Calibri"/>
              </a:defRPr>
            </a:pPr>
            <a:r>
              <a:t>World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57200" y="4297680"/>
            <a:ext cx="11247120" cy="19202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1520" y="4434840"/>
            <a:ext cx="45720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1">
                <a:solidFill>
                  <a:srgbClr val="7A7A8C"/>
                </a:solidFill>
                <a:latin typeface="Calibri"/>
              </a:defRPr>
            </a:pPr>
            <a:r>
              <a:t>HEALTH COMPONENT: REGIONAL COMPARISON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31520" y="4709160"/>
            <a:ext cx="1828800" cy="25400"/>
          </a:xfrm>
          <a:prstGeom prst="rect">
            <a:avLst/>
          </a:prstGeom>
          <a:solidFill>
            <a:srgbClr val="0088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33" name="Chart 32"/>
          <p:cNvGraphicFramePr>
            <a:graphicFrameLocks noGrp="1"/>
          </p:cNvGraphicFramePr>
          <p:nvPr/>
        </p:nvGraphicFramePr>
        <p:xfrm>
          <a:off x="731520" y="4800600"/>
          <a:ext cx="10789920" cy="12344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34" name="Rectangle 33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002B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48640" y="6464808"/>
            <a:ext cx="54864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800" b="0">
                <a:solidFill>
                  <a:srgbClr val="AABBCC"/>
                </a:solidFill>
                <a:latin typeface="Calibri"/>
              </a:defRPr>
            </a:pPr>
            <a:r>
              <a:t>Source: World Bank Human Capital Index Plus (HCI+) 2025  |  github.com/worldbank/HCI-Plus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0" y="6464808"/>
            <a:ext cx="22860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defRPr sz="800" b="0">
                <a:solidFill>
                  <a:srgbClr val="00889E"/>
                </a:solidFill>
                <a:latin typeface="Calibri"/>
              </a:defRPr>
            </a:pPr>
            <a:r>
              <a:t>humancapital.worldbank.org/hciplus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521440" y="6464808"/>
            <a:ext cx="4572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defRPr sz="800" b="0">
                <a:solidFill>
                  <a:srgbClr val="FFFFFF"/>
                </a:solidFill>
                <a:latin typeface="Calibri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2B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50800"/>
          </a:xfrm>
          <a:prstGeom prst="rect">
            <a:avLst/>
          </a:prstGeom>
          <a:solidFill>
            <a:srgbClr val="006E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37160"/>
            <a:ext cx="7315200" cy="6400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defRPr sz="2400" b="1">
                <a:solidFill>
                  <a:srgbClr val="FFFFFF"/>
                </a:solidFill>
                <a:latin typeface="Calibri Light"/>
              </a:defRPr>
            </a:pPr>
            <a:r>
              <a:t>Education Component  |  East Asia &amp; Pacific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0" y="137160"/>
            <a:ext cx="3200400" cy="6400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>
              <a:defRPr sz="2200" b="1">
                <a:solidFill>
                  <a:srgbClr val="006EAF"/>
                </a:solidFill>
                <a:latin typeface="Calibri"/>
              </a:defRPr>
            </a:pPr>
            <a:r>
              <a:t>Avg: 118.1 / 180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234440"/>
            <a:ext cx="73152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0">
                <a:solidFill>
                  <a:srgbClr val="7A7A8C"/>
                </a:solidFill>
                <a:latin typeface="Calibri"/>
              </a:defRPr>
            </a:pPr>
            <a:r>
              <a:t>Education captures learning quality, years of schooling, pre-primary education, and tertiary enrollment.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828800"/>
            <a:ext cx="2697480" cy="26517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828800"/>
            <a:ext cx="2697480" cy="50800"/>
          </a:xfrm>
          <a:prstGeom prst="rect">
            <a:avLst/>
          </a:prstGeom>
          <a:solidFill>
            <a:srgbClr val="006E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2011680"/>
            <a:ext cx="242316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1">
                <a:solidFill>
                  <a:srgbClr val="1A1A2E"/>
                </a:solidFill>
                <a:latin typeface="Calibri"/>
              </a:defRPr>
            </a:pPr>
            <a:r>
              <a:t>Expected Years</a:t>
            </a:r>
            <a:br/>
            <a:r>
              <a:t>of Schooling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560320"/>
            <a:ext cx="242316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3600" b="1">
                <a:solidFill>
                  <a:srgbClr val="006EAF"/>
                </a:solidFill>
                <a:latin typeface="Calibri Light"/>
              </a:defRPr>
            </a:pPr>
            <a:r>
              <a:t>10.8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3200400"/>
            <a:ext cx="242316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900" b="0">
                <a:solidFill>
                  <a:srgbClr val="7A7A8C"/>
                </a:solidFill>
                <a:latin typeface="Calibri"/>
              </a:defRPr>
            </a:pPr>
            <a:r>
              <a:t>years (EAP avg)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" y="3520440"/>
            <a:ext cx="2423160" cy="109728"/>
          </a:xfrm>
          <a:prstGeom prst="roundRect">
            <a:avLst/>
          </a:prstGeom>
          <a:solidFill>
            <a:srgbClr val="E0E2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94360" y="3520440"/>
            <a:ext cx="1869294" cy="109728"/>
          </a:xfrm>
          <a:prstGeom prst="roundRect">
            <a:avLst/>
          </a:prstGeom>
          <a:solidFill>
            <a:srgbClr val="006E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3749039"/>
            <a:ext cx="2423160" cy="1828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800" b="0">
                <a:solidFill>
                  <a:srgbClr val="7A7A8C"/>
                </a:solidFill>
                <a:latin typeface="Calibri"/>
              </a:defRPr>
            </a:pPr>
            <a:r>
              <a:t>World: 10.1 yrs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3931920"/>
            <a:ext cx="2423160" cy="1828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800" b="1">
                <a:solidFill>
                  <a:srgbClr val="006EAF"/>
                </a:solidFill>
                <a:latin typeface="Calibri"/>
              </a:defRPr>
            </a:pPr>
            <a:r>
              <a:t>Best: Japan 12.0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337560" y="1828800"/>
            <a:ext cx="2697480" cy="26517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337560" y="1828800"/>
            <a:ext cx="2697480" cy="50800"/>
          </a:xfrm>
          <a:prstGeom prst="rect">
            <a:avLst/>
          </a:prstGeom>
          <a:solidFill>
            <a:srgbClr val="005A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474720" y="2011680"/>
            <a:ext cx="242316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1">
                <a:solidFill>
                  <a:srgbClr val="1A1A2E"/>
                </a:solidFill>
                <a:latin typeface="Calibri"/>
              </a:defRPr>
            </a:pPr>
            <a:r>
              <a:t>Harmonized Learning</a:t>
            </a:r>
            <a:br/>
            <a:r>
              <a:t>Outcomes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74720" y="2560320"/>
            <a:ext cx="242316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3600" b="1">
                <a:solidFill>
                  <a:srgbClr val="005A9E"/>
                </a:solidFill>
                <a:latin typeface="Calibri Light"/>
              </a:defRPr>
            </a:pPr>
            <a:r>
              <a:t>436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74720" y="3200400"/>
            <a:ext cx="242316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900" b="0">
                <a:solidFill>
                  <a:srgbClr val="7A7A8C"/>
                </a:solidFill>
                <a:latin typeface="Calibri"/>
              </a:defRPr>
            </a:pPr>
            <a:r>
              <a:t>HLO score (out of 625)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474720" y="3520440"/>
            <a:ext cx="2423160" cy="109728"/>
          </a:xfrm>
          <a:prstGeom prst="roundRect">
            <a:avLst/>
          </a:prstGeom>
          <a:solidFill>
            <a:srgbClr val="E0E2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3474720" y="3520440"/>
            <a:ext cx="1690396" cy="109728"/>
          </a:xfrm>
          <a:prstGeom prst="roundRect">
            <a:avLst/>
          </a:prstGeom>
          <a:solidFill>
            <a:srgbClr val="005A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474720" y="3749039"/>
            <a:ext cx="2423160" cy="1828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800" b="0">
                <a:solidFill>
                  <a:srgbClr val="7A7A8C"/>
                </a:solidFill>
                <a:latin typeface="Calibri"/>
              </a:defRPr>
            </a:pPr>
            <a:r>
              <a:t>World: 411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474720" y="3931920"/>
            <a:ext cx="2423160" cy="1828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800" b="1">
                <a:solidFill>
                  <a:srgbClr val="006EAF"/>
                </a:solidFill>
                <a:latin typeface="Calibri"/>
              </a:defRPr>
            </a:pPr>
            <a:r>
              <a:t>Best: Singapore 594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17920" y="1828800"/>
            <a:ext cx="2697480" cy="26517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217920" y="1828800"/>
            <a:ext cx="2697480" cy="50800"/>
          </a:xfrm>
          <a:prstGeom prst="rect">
            <a:avLst/>
          </a:prstGeom>
          <a:solidFill>
            <a:srgbClr val="0088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55080" y="2011680"/>
            <a:ext cx="242316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1">
                <a:solidFill>
                  <a:srgbClr val="1A1A2E"/>
                </a:solidFill>
                <a:latin typeface="Calibri"/>
              </a:defRPr>
            </a:pPr>
            <a:r>
              <a:t>Pre-Primary</a:t>
            </a:r>
            <a:br/>
            <a:r>
              <a:t>Education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55080" y="2560320"/>
            <a:ext cx="242316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3600" b="1">
                <a:solidFill>
                  <a:srgbClr val="00889E"/>
                </a:solidFill>
                <a:latin typeface="Calibri Light"/>
              </a:defRPr>
            </a:pPr>
            <a:r>
              <a:t>0.59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55080" y="3200400"/>
            <a:ext cx="242316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900" b="0">
                <a:solidFill>
                  <a:srgbClr val="7A7A8C"/>
                </a:solidFill>
                <a:latin typeface="Calibri"/>
              </a:defRPr>
            </a:pPr>
            <a:r>
              <a:t>learning-adj. years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355080" y="3520440"/>
            <a:ext cx="2423160" cy="109728"/>
          </a:xfrm>
          <a:prstGeom prst="roundRect">
            <a:avLst/>
          </a:prstGeom>
          <a:solidFill>
            <a:srgbClr val="E0E2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6355080" y="3520440"/>
            <a:ext cx="1429664" cy="109728"/>
          </a:xfrm>
          <a:prstGeom prst="roundRect">
            <a:avLst/>
          </a:prstGeom>
          <a:solidFill>
            <a:srgbClr val="0088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355080" y="3749039"/>
            <a:ext cx="2423160" cy="1828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800" b="0">
                <a:solidFill>
                  <a:srgbClr val="7A7A8C"/>
                </a:solidFill>
                <a:latin typeface="Calibri"/>
              </a:defRPr>
            </a:pPr>
            <a:r>
              <a:t>World: 0.46 yrs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55080" y="3931920"/>
            <a:ext cx="2423160" cy="1828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800" b="1">
                <a:solidFill>
                  <a:srgbClr val="006EAF"/>
                </a:solidFill>
                <a:latin typeface="Calibri"/>
              </a:defRPr>
            </a:pPr>
            <a:r>
              <a:t>Best: Singapore 0.91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098280" y="1828800"/>
            <a:ext cx="2697480" cy="26517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098280" y="1828800"/>
            <a:ext cx="2697480" cy="50800"/>
          </a:xfrm>
          <a:prstGeom prst="rect">
            <a:avLst/>
          </a:prstGeom>
          <a:solidFill>
            <a:srgbClr val="E87D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235440" y="2011680"/>
            <a:ext cx="242316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1">
                <a:solidFill>
                  <a:srgbClr val="1A1A2E"/>
                </a:solidFill>
                <a:latin typeface="Calibri"/>
              </a:defRPr>
            </a:pPr>
            <a:r>
              <a:t>Tertiary</a:t>
            </a:r>
            <a:br/>
            <a:r>
              <a:t>Enrollment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235440" y="2560320"/>
            <a:ext cx="242316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3600" b="1">
                <a:solidFill>
                  <a:srgbClr val="E87D1E"/>
                </a:solidFill>
                <a:latin typeface="Calibri Light"/>
              </a:defRPr>
            </a:pPr>
            <a:r>
              <a:t>37.4%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235440" y="3200400"/>
            <a:ext cx="242316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900" b="0">
                <a:solidFill>
                  <a:srgbClr val="7A7A8C"/>
                </a:solidFill>
                <a:latin typeface="Calibri"/>
              </a:defRPr>
            </a:pPr>
            <a:r>
              <a:t>gross enrollment rate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235440" y="3520440"/>
            <a:ext cx="2423160" cy="109728"/>
          </a:xfrm>
          <a:prstGeom prst="roundRect">
            <a:avLst/>
          </a:prstGeom>
          <a:solidFill>
            <a:srgbClr val="E0E2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9235440" y="3520440"/>
            <a:ext cx="906261" cy="109728"/>
          </a:xfrm>
          <a:prstGeom prst="roundRect">
            <a:avLst/>
          </a:prstGeom>
          <a:solidFill>
            <a:srgbClr val="E87D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235440" y="3749039"/>
            <a:ext cx="2423160" cy="1828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800" b="0">
                <a:solidFill>
                  <a:srgbClr val="7A7A8C"/>
                </a:solidFill>
                <a:latin typeface="Calibri"/>
              </a:defRPr>
            </a:pPr>
            <a:r>
              <a:t>World: 32.6%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235440" y="3931920"/>
            <a:ext cx="2423160" cy="1828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800" b="1">
                <a:solidFill>
                  <a:srgbClr val="006EAF"/>
                </a:solidFill>
                <a:latin typeface="Calibri"/>
              </a:defRPr>
            </a:pPr>
            <a:r>
              <a:t>Best: Korea 76.9%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457200" y="4709160"/>
            <a:ext cx="6858000" cy="14630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31520" y="4800600"/>
            <a:ext cx="45720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1">
                <a:solidFill>
                  <a:srgbClr val="7A7A8C"/>
                </a:solidFill>
                <a:latin typeface="Calibri"/>
              </a:defRPr>
            </a:pPr>
            <a:r>
              <a:t>EDUCATION COMPONENT: REGIONAL COMPARISON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31520" y="5074920"/>
            <a:ext cx="1828800" cy="25400"/>
          </a:xfrm>
          <a:prstGeom prst="rect">
            <a:avLst/>
          </a:prstGeom>
          <a:solidFill>
            <a:srgbClr val="006E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7" name="Chart 46"/>
          <p:cNvGraphicFramePr>
            <a:graphicFrameLocks noGrp="1"/>
          </p:cNvGraphicFramePr>
          <p:nvPr/>
        </p:nvGraphicFramePr>
        <p:xfrm>
          <a:off x="731520" y="5120640"/>
          <a:ext cx="6400800" cy="960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8" name="Rounded Rectangle 47"/>
          <p:cNvSpPr/>
          <p:nvPr/>
        </p:nvSpPr>
        <p:spPr>
          <a:xfrm>
            <a:off x="7589520" y="4709160"/>
            <a:ext cx="4114800" cy="14630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7589520" y="4709160"/>
            <a:ext cx="63500" cy="1463040"/>
          </a:xfrm>
          <a:prstGeom prst="rect">
            <a:avLst/>
          </a:prstGeom>
          <a:solidFill>
            <a:srgbClr val="006E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863840" y="4800600"/>
            <a:ext cx="365760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1">
                <a:solidFill>
                  <a:srgbClr val="006EAF"/>
                </a:solidFill>
                <a:latin typeface="Calibri"/>
              </a:defRPr>
            </a:pPr>
            <a:r>
              <a:t>KEY INSIGHT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863840" y="5029200"/>
            <a:ext cx="3657600" cy="10058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0">
                <a:solidFill>
                  <a:srgbClr val="1A1A2E"/>
                </a:solidFill>
                <a:latin typeface="Calibri"/>
              </a:defRPr>
            </a:pPr>
            <a:r>
              <a:t>Education is EAP's strongest component, scoring 118.1 — well above the world average (107.4) and second only to Europe &amp; Central Asia (140.8). Singapore leads globally with an HLO of 594. EAP averages 10.8 expected years of schooling. Tertiary enrollment (37.4%) and pre-primary (0.59 years) remain areas for growth across the region.</a:t>
            </a:r>
          </a:p>
        </p:txBody>
      </p:sp>
      <p:sp>
        <p:nvSpPr>
          <p:cNvPr id="52" name="Rectangle 51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002B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48640" y="6464808"/>
            <a:ext cx="54864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800" b="0">
                <a:solidFill>
                  <a:srgbClr val="AABBCC"/>
                </a:solidFill>
                <a:latin typeface="Calibri"/>
              </a:defRPr>
            </a:pPr>
            <a:r>
              <a:t>Source: World Bank Human Capital Index Plus (HCI+) 2025  |  github.com/worldbank/HCI-Plus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144000" y="6464808"/>
            <a:ext cx="22860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defRPr sz="800" b="0">
                <a:solidFill>
                  <a:srgbClr val="00889E"/>
                </a:solidFill>
                <a:latin typeface="Calibri"/>
              </a:defRPr>
            </a:pPr>
            <a:r>
              <a:t>humancapital.worldbank.org/hciplus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1521440" y="6464808"/>
            <a:ext cx="4572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defRPr sz="800" b="0">
                <a:solidFill>
                  <a:srgbClr val="FFFFFF"/>
                </a:solidFill>
                <a:latin typeface="Calibri"/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2B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50800"/>
          </a:xfrm>
          <a:prstGeom prst="rect">
            <a:avLst/>
          </a:prstGeom>
          <a:solidFill>
            <a:srgbClr val="E87D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37160"/>
            <a:ext cx="7315200" cy="6400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defRPr sz="2400" b="1">
                <a:solidFill>
                  <a:srgbClr val="FFFFFF"/>
                </a:solidFill>
                <a:latin typeface="Calibri Light"/>
              </a:defRPr>
            </a:pPr>
            <a:r>
              <a:t>Employment &amp; Gender Gap  |  East Asia &amp; Pacific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0" y="137160"/>
            <a:ext cx="3200400" cy="6400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>
              <a:defRPr sz="2200" b="1">
                <a:solidFill>
                  <a:srgbClr val="E87D1E"/>
                </a:solidFill>
                <a:latin typeface="Calibri"/>
              </a:defRPr>
            </a:pPr>
            <a:r>
              <a:t>Avg: 40.7 / 70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234440"/>
            <a:ext cx="91440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0">
                <a:solidFill>
                  <a:srgbClr val="7A7A8C"/>
                </a:solidFill>
                <a:latin typeface="Calibri"/>
              </a:defRPr>
            </a:pPr>
            <a:r>
              <a:t>Employment captures labor force participation, wage employment, and skill accumulation for youth (15–24) and working-age (25–65).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828800"/>
            <a:ext cx="5486400" cy="2743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828800"/>
            <a:ext cx="5486400" cy="50800"/>
          </a:xfrm>
          <a:prstGeom prst="rect">
            <a:avLst/>
          </a:prstGeom>
          <a:solidFill>
            <a:srgbClr val="E87D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011680"/>
            <a:ext cx="274320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1">
                <a:solidFill>
                  <a:srgbClr val="E87D1E"/>
                </a:solidFill>
                <a:latin typeface="Calibri"/>
              </a:defRPr>
            </a:pPr>
            <a:r>
              <a:t>EAP EMPLOYMENT INDICATORS (AVG)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377440"/>
            <a:ext cx="182880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1">
                <a:solidFill>
                  <a:srgbClr val="7A7A8C"/>
                </a:solidFill>
                <a:latin typeface="Calibri"/>
              </a:defRPr>
            </a:pPr>
          </a:p>
        </p:txBody>
      </p:sp>
      <p:sp>
        <p:nvSpPr>
          <p:cNvPr id="12" name="TextBox 11"/>
          <p:cNvSpPr txBox="1"/>
          <p:nvPr/>
        </p:nvSpPr>
        <p:spPr>
          <a:xfrm>
            <a:off x="2560320" y="2377440"/>
            <a:ext cx="73152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000" b="1">
                <a:solidFill>
                  <a:srgbClr val="006EAF"/>
                </a:solidFill>
                <a:latin typeface="Calibri"/>
              </a:defRPr>
            </a:pPr>
            <a:r>
              <a:t>EAP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91840" y="2377440"/>
            <a:ext cx="73152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000" b="1">
                <a:solidFill>
                  <a:srgbClr val="7A7A8C"/>
                </a:solidFill>
                <a:latin typeface="Calibri"/>
              </a:defRPr>
            </a:pPr>
            <a:r>
              <a:t>World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23360" y="2377440"/>
            <a:ext cx="73152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000" b="1">
                <a:solidFill>
                  <a:srgbClr val="7A7A8C"/>
                </a:solidFill>
                <a:latin typeface="Calibri"/>
              </a:defRPr>
            </a:pPr>
            <a:r>
              <a:t>Europe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2606040"/>
            <a:ext cx="4023360" cy="12700"/>
          </a:xfrm>
          <a:prstGeom prst="rect">
            <a:avLst/>
          </a:prstGeom>
          <a:solidFill>
            <a:srgbClr val="D0D5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31520" y="2697480"/>
            <a:ext cx="402336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2743200"/>
            <a:ext cx="18288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0">
                <a:solidFill>
                  <a:srgbClr val="1A1A2E"/>
                </a:solidFill>
                <a:latin typeface="Calibri"/>
              </a:defRPr>
            </a:pPr>
            <a:r>
              <a:t>LFP Youth (15–24)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60320" y="2743200"/>
            <a:ext cx="73152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000" b="1">
                <a:solidFill>
                  <a:srgbClr val="006EAF"/>
                </a:solidFill>
                <a:latin typeface="Calibri"/>
              </a:defRPr>
            </a:pPr>
            <a:r>
              <a:t>60.0%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91840" y="2743200"/>
            <a:ext cx="73152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000" b="0">
                <a:solidFill>
                  <a:srgbClr val="7A7A8C"/>
                </a:solidFill>
                <a:latin typeface="Calibri"/>
              </a:defRPr>
            </a:pPr>
            <a:r>
              <a:t>48.2%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023360" y="2743200"/>
            <a:ext cx="73152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000" b="0">
                <a:solidFill>
                  <a:srgbClr val="7A7A8C"/>
                </a:solidFill>
                <a:latin typeface="Calibri"/>
              </a:defRPr>
            </a:pPr>
            <a:r>
              <a:t>46.7%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1520" y="3108960"/>
            <a:ext cx="4023360" cy="365760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3154680"/>
            <a:ext cx="18288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0">
                <a:solidFill>
                  <a:srgbClr val="1A1A2E"/>
                </a:solidFill>
                <a:latin typeface="Calibri"/>
              </a:defRPr>
            </a:pPr>
            <a:r>
              <a:t>Wage Emp. Youth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560320" y="3154680"/>
            <a:ext cx="73152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000" b="1">
                <a:solidFill>
                  <a:srgbClr val="006EAF"/>
                </a:solidFill>
                <a:latin typeface="Calibri"/>
              </a:defRPr>
            </a:pPr>
            <a:r>
              <a:t>75.2%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91840" y="3154680"/>
            <a:ext cx="73152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000" b="0">
                <a:solidFill>
                  <a:srgbClr val="7A7A8C"/>
                </a:solidFill>
                <a:latin typeface="Calibri"/>
              </a:defRPr>
            </a:pPr>
            <a:r>
              <a:t>55.1%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023360" y="3154680"/>
            <a:ext cx="73152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000" b="0">
                <a:solidFill>
                  <a:srgbClr val="7A7A8C"/>
                </a:solidFill>
                <a:latin typeface="Calibri"/>
              </a:defRPr>
            </a:pPr>
            <a:r>
              <a:t>80.3%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31520" y="3520440"/>
            <a:ext cx="402336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1520" y="3566160"/>
            <a:ext cx="18288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0">
                <a:solidFill>
                  <a:srgbClr val="1A1A2E"/>
                </a:solidFill>
                <a:latin typeface="Calibri"/>
              </a:defRPr>
            </a:pPr>
            <a:r>
              <a:t>LFP Working Age (25–65)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560320" y="3566160"/>
            <a:ext cx="73152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000" b="1">
                <a:solidFill>
                  <a:srgbClr val="006EAF"/>
                </a:solidFill>
                <a:latin typeface="Calibri"/>
              </a:defRPr>
            </a:pPr>
            <a:r>
              <a:t>75.3%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91840" y="3566160"/>
            <a:ext cx="73152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000" b="0">
                <a:solidFill>
                  <a:srgbClr val="7A7A8C"/>
                </a:solidFill>
                <a:latin typeface="Calibri"/>
              </a:defRPr>
            </a:pPr>
            <a:r>
              <a:t>72.6%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023360" y="3566160"/>
            <a:ext cx="73152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000" b="0">
                <a:solidFill>
                  <a:srgbClr val="7A7A8C"/>
                </a:solidFill>
                <a:latin typeface="Calibri"/>
              </a:defRPr>
            </a:pPr>
            <a:r>
              <a:t>78.2%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31520" y="3931920"/>
            <a:ext cx="4023360" cy="365760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31520" y="3977640"/>
            <a:ext cx="18288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0">
                <a:solidFill>
                  <a:srgbClr val="1A1A2E"/>
                </a:solidFill>
                <a:latin typeface="Calibri"/>
              </a:defRPr>
            </a:pPr>
            <a:r>
              <a:t>Wage Emp. Working Age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560320" y="3977640"/>
            <a:ext cx="73152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000" b="1">
                <a:solidFill>
                  <a:srgbClr val="006EAF"/>
                </a:solidFill>
                <a:latin typeface="Calibri"/>
              </a:defRPr>
            </a:pPr>
            <a:r>
              <a:t>71.0%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291840" y="3977640"/>
            <a:ext cx="73152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000" b="0">
                <a:solidFill>
                  <a:srgbClr val="7A7A8C"/>
                </a:solidFill>
                <a:latin typeface="Calibri"/>
              </a:defRPr>
            </a:pPr>
            <a:r>
              <a:t>59.8%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023360" y="3977640"/>
            <a:ext cx="73152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000" b="0">
                <a:solidFill>
                  <a:srgbClr val="7A7A8C"/>
                </a:solidFill>
                <a:latin typeface="Calibri"/>
              </a:defRPr>
            </a:pPr>
            <a:r>
              <a:t>82.1%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217920" y="1828800"/>
            <a:ext cx="5486400" cy="2743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217920" y="1828800"/>
            <a:ext cx="5486400" cy="50800"/>
          </a:xfrm>
          <a:prstGeom prst="rect">
            <a:avLst/>
          </a:prstGeom>
          <a:solidFill>
            <a:srgbClr val="E87D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92240" y="1965960"/>
            <a:ext cx="45720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1">
                <a:solidFill>
                  <a:srgbClr val="E87D1E"/>
                </a:solidFill>
                <a:latin typeface="Calibri"/>
              </a:defRPr>
            </a:pPr>
            <a:r>
              <a:t>GENDER GAP BY REGION (Male − Female HCI+)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92240" y="2194560"/>
            <a:ext cx="502920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900" b="0">
                <a:solidFill>
                  <a:srgbClr val="7A7A8C"/>
                </a:solidFill>
                <a:latin typeface="Calibri"/>
              </a:defRPr>
            </a:pPr>
            <a:r>
              <a:t>Positive = men outperform; Negative = women outperform</a:t>
            </a:r>
          </a:p>
        </p:txBody>
      </p:sp>
      <p:graphicFrame>
        <p:nvGraphicFramePr>
          <p:cNvPr id="40" name="Chart 39"/>
          <p:cNvGraphicFramePr>
            <a:graphicFrameLocks noGrp="1"/>
          </p:cNvGraphicFramePr>
          <p:nvPr/>
        </p:nvGraphicFramePr>
        <p:xfrm>
          <a:off x="6492240" y="2468880"/>
          <a:ext cx="4937760" cy="19202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1" name="Rectangle 40"/>
          <p:cNvSpPr/>
          <p:nvPr/>
        </p:nvSpPr>
        <p:spPr>
          <a:xfrm>
            <a:off x="8229600" y="4297680"/>
            <a:ext cx="274320" cy="13716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595360" y="4251960"/>
            <a:ext cx="1371600" cy="1828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800" b="0">
                <a:solidFill>
                  <a:srgbClr val="1A1A2E"/>
                </a:solidFill>
                <a:latin typeface="Calibri"/>
              </a:defRPr>
            </a:pPr>
            <a:r>
              <a:t>Men outperform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875520" y="4297680"/>
            <a:ext cx="274320" cy="137160"/>
          </a:xfrm>
          <a:prstGeom prst="rect">
            <a:avLst/>
          </a:prstGeom>
          <a:solidFill>
            <a:srgbClr val="E05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0241280" y="4251960"/>
            <a:ext cx="1371600" cy="1828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800" b="0">
                <a:solidFill>
                  <a:srgbClr val="1A1A2E"/>
                </a:solidFill>
                <a:latin typeface="Calibri"/>
              </a:defRPr>
            </a:pPr>
            <a:r>
              <a:t>Women outperform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457200" y="4754880"/>
            <a:ext cx="6858000" cy="14630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31520" y="4846320"/>
            <a:ext cx="457200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1">
                <a:solidFill>
                  <a:srgbClr val="7A7A8C"/>
                </a:solidFill>
                <a:latin typeface="Calibri"/>
              </a:defRPr>
            </a:pPr>
            <a:r>
              <a:t>EMPLOYMENT COMPONENT: REGIONAL COMPARISON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31520" y="5074920"/>
            <a:ext cx="1371600" cy="25400"/>
          </a:xfrm>
          <a:prstGeom prst="rect">
            <a:avLst/>
          </a:prstGeom>
          <a:solidFill>
            <a:srgbClr val="E87D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8" name="Chart 47"/>
          <p:cNvGraphicFramePr>
            <a:graphicFrameLocks noGrp="1"/>
          </p:cNvGraphicFramePr>
          <p:nvPr/>
        </p:nvGraphicFramePr>
        <p:xfrm>
          <a:off x="731520" y="5120640"/>
          <a:ext cx="6400800" cy="100584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49" name="Rounded Rectangle 48"/>
          <p:cNvSpPr/>
          <p:nvPr/>
        </p:nvSpPr>
        <p:spPr>
          <a:xfrm>
            <a:off x="7589520" y="4754880"/>
            <a:ext cx="4114800" cy="14630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7589520" y="4754880"/>
            <a:ext cx="63500" cy="1463040"/>
          </a:xfrm>
          <a:prstGeom prst="rect">
            <a:avLst/>
          </a:prstGeom>
          <a:solidFill>
            <a:srgbClr val="E87D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863840" y="4846320"/>
            <a:ext cx="365760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1">
                <a:solidFill>
                  <a:srgbClr val="E87D1E"/>
                </a:solidFill>
                <a:latin typeface="Calibri"/>
              </a:defRPr>
            </a:pPr>
            <a:r>
              <a:t>KEY TAKEAWAY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863840" y="5120640"/>
            <a:ext cx="3657600" cy="10058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0">
                <a:solidFill>
                  <a:srgbClr val="1A1A2E"/>
                </a:solidFill>
                <a:latin typeface="Calibri"/>
              </a:defRPr>
            </a:pPr>
            <a:r>
              <a:t>EAP's employment score (40.7) ranks 3rd among regions and exceeds the world average (37.2). Youth LFP (60.0%) is notably high. The EAP gender gap (+5.7) is moderate — better than South Asia (+15.8) and MENA (+18.3), but wider than Europe (−1.2). Countries like Indonesia (+22.6) and Fiji (+25.2) drive the gap, while Cambodia (−14.2) and Thailand (−8.1) favor women.</a:t>
            </a:r>
          </a:p>
        </p:txBody>
      </p:sp>
      <p:sp>
        <p:nvSpPr>
          <p:cNvPr id="53" name="Rectangle 5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002B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548640" y="6464808"/>
            <a:ext cx="54864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800" b="0">
                <a:solidFill>
                  <a:srgbClr val="AABBCC"/>
                </a:solidFill>
                <a:latin typeface="Calibri"/>
              </a:defRPr>
            </a:pPr>
            <a:r>
              <a:t>Source: World Bank Human Capital Index Plus (HCI+) 2025  |  github.com/worldbank/HCI-Plus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144000" y="6464808"/>
            <a:ext cx="22860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defRPr sz="800" b="0">
                <a:solidFill>
                  <a:srgbClr val="00889E"/>
                </a:solidFill>
                <a:latin typeface="Calibri"/>
              </a:defRPr>
            </a:pPr>
            <a:r>
              <a:t>humancapital.worldbank.org/hciplus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1521440" y="6464808"/>
            <a:ext cx="4572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defRPr sz="800" b="0">
                <a:solidFill>
                  <a:srgbClr val="FFFFFF"/>
                </a:solidFill>
                <a:latin typeface="Calibri"/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