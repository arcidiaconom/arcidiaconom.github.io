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Other Regions</c:v>
                </c:pt>
              </c:strCache>
            </c:strRef>
          </c:tx>
          <c:spPr>
            <a:solidFill>
              <a:srgbClr val="CCCCCC">
                <a:alpha val="40000"/>
              </a:srgbClr>
            </a:solidFill>
          </c:spPr>
          <c:invertIfNegative val="0"/>
          <c:xVal>
            <c:numRef>
              <c:f>Sheet1!$A$2:$A$39</c:f>
              <c:numCache>
                <c:formatCode>General</c:formatCode>
                <c:ptCount val="38"/>
                <c:pt idx="0">
                  <c:v>8.64</c:v>
                </c:pt>
                <c:pt idx="1">
                  <c:v>9.52</c:v>
                </c:pt>
                <c:pt idx="2">
                  <c:v>8.67</c:v>
                </c:pt>
                <c:pt idx="3">
                  <c:v>7.97</c:v>
                </c:pt>
                <c:pt idx="4">
                  <c:v>8.86</c:v>
                </c:pt>
                <c:pt idx="5">
                  <c:v>8.09</c:v>
                </c:pt>
                <c:pt idx="6">
                  <c:v>7.97</c:v>
                </c:pt>
                <c:pt idx="7">
                  <c:v>8.22</c:v>
                </c:pt>
                <c:pt idx="8">
                  <c:v>10.22</c:v>
                </c:pt>
                <c:pt idx="9">
                  <c:v>8.41</c:v>
                </c:pt>
                <c:pt idx="10">
                  <c:v>9.8</c:v>
                </c:pt>
                <c:pt idx="11">
                  <c:v>11.05</c:v>
                </c:pt>
                <c:pt idx="12">
                  <c:v>10.91</c:v>
                </c:pt>
                <c:pt idx="13">
                  <c:v>11.05</c:v>
                </c:pt>
                <c:pt idx="14">
                  <c:v>10.72</c:v>
                </c:pt>
                <c:pt idx="15">
                  <c:v>11.17</c:v>
                </c:pt>
                <c:pt idx="16">
                  <c:v>10.32</c:v>
                </c:pt>
                <c:pt idx="17">
                  <c:v>9.85</c:v>
                </c:pt>
                <c:pt idx="18">
                  <c:v>8.86</c:v>
                </c:pt>
                <c:pt idx="19">
                  <c:v>10.4</c:v>
                </c:pt>
                <c:pt idx="20">
                  <c:v>9.73</c:v>
                </c:pt>
                <c:pt idx="21">
                  <c:v>10.32</c:v>
                </c:pt>
                <c:pt idx="22">
                  <c:v>9.89</c:v>
                </c:pt>
                <c:pt idx="23">
                  <c:v>10.0</c:v>
                </c:pt>
                <c:pt idx="24">
                  <c:v>9.83</c:v>
                </c:pt>
                <c:pt idx="25">
                  <c:v>10.1</c:v>
                </c:pt>
                <c:pt idx="26">
                  <c:v>9.24</c:v>
                </c:pt>
                <c:pt idx="27">
                  <c:v>8.94</c:v>
                </c:pt>
                <c:pt idx="28">
                  <c:v>9.19</c:v>
                </c:pt>
                <c:pt idx="29">
                  <c:v>9.05</c:v>
                </c:pt>
                <c:pt idx="30">
                  <c:v>9.73</c:v>
                </c:pt>
                <c:pt idx="31">
                  <c:v>8.47</c:v>
                </c:pt>
                <c:pt idx="32">
                  <c:v>9.16</c:v>
                </c:pt>
                <c:pt idx="33">
                  <c:v>9.73</c:v>
                </c:pt>
                <c:pt idx="34">
                  <c:v>9.11</c:v>
                </c:pt>
                <c:pt idx="35">
                  <c:v>10.17</c:v>
                </c:pt>
                <c:pt idx="36">
                  <c:v>11.2</c:v>
                </c:pt>
                <c:pt idx="37">
                  <c:v>10.98</c:v>
                </c:pt>
              </c:numCache>
            </c:numRef>
          </c:xVal>
          <c:yVal>
            <c:numRef>
              <c:f>Sheet1!$B$2:$B$39</c:f>
              <c:numCache>
                <c:formatCode>General</c:formatCode>
                <c:ptCount val="38"/>
                <c:pt idx="0">
                  <c:v>130.7</c:v>
                </c:pt>
                <c:pt idx="1">
                  <c:v>132.1</c:v>
                </c:pt>
                <c:pt idx="2">
                  <c:v>170.8</c:v>
                </c:pt>
                <c:pt idx="3">
                  <c:v>123.4</c:v>
                </c:pt>
                <c:pt idx="4">
                  <c:v>152.9</c:v>
                </c:pt>
                <c:pt idx="5">
                  <c:v>156.9</c:v>
                </c:pt>
                <c:pt idx="6">
                  <c:v>145.2</c:v>
                </c:pt>
                <c:pt idx="7">
                  <c:v>132.6</c:v>
                </c:pt>
                <c:pt idx="8">
                  <c:v>201.0</c:v>
                </c:pt>
                <c:pt idx="9">
                  <c:v>109.4</c:v>
                </c:pt>
                <c:pt idx="10">
                  <c:v>156.9</c:v>
                </c:pt>
                <c:pt idx="11">
                  <c:v>256.5</c:v>
                </c:pt>
                <c:pt idx="12">
                  <c:v>251.2</c:v>
                </c:pt>
                <c:pt idx="13">
                  <c:v>269.3</c:v>
                </c:pt>
                <c:pt idx="14">
                  <c:v>259.5</c:v>
                </c:pt>
                <c:pt idx="15">
                  <c:v>269.7</c:v>
                </c:pt>
                <c:pt idx="16">
                  <c:v>210.5</c:v>
                </c:pt>
                <c:pt idx="17">
                  <c:v>203.5</c:v>
                </c:pt>
                <c:pt idx="18">
                  <c:v>197.5</c:v>
                </c:pt>
                <c:pt idx="19">
                  <c:v>221.3</c:v>
                </c:pt>
                <c:pt idx="20">
                  <c:v>204.7</c:v>
                </c:pt>
                <c:pt idx="21">
                  <c:v>226.2</c:v>
                </c:pt>
                <c:pt idx="22">
                  <c:v>202.9</c:v>
                </c:pt>
                <c:pt idx="23">
                  <c:v>193.5</c:v>
                </c:pt>
                <c:pt idx="24">
                  <c:v>197.6</c:v>
                </c:pt>
                <c:pt idx="25">
                  <c:v>205.3</c:v>
                </c:pt>
                <c:pt idx="26">
                  <c:v>200.1</c:v>
                </c:pt>
                <c:pt idx="27">
                  <c:v>178.1</c:v>
                </c:pt>
                <c:pt idx="28">
                  <c:v>158.8</c:v>
                </c:pt>
                <c:pt idx="29">
                  <c:v>146.7</c:v>
                </c:pt>
                <c:pt idx="30">
                  <c:v>182.6</c:v>
                </c:pt>
                <c:pt idx="31">
                  <c:v>99.3</c:v>
                </c:pt>
                <c:pt idx="32">
                  <c:v>170.2</c:v>
                </c:pt>
                <c:pt idx="33">
                  <c:v>161.2</c:v>
                </c:pt>
                <c:pt idx="34">
                  <c:v>147.1</c:v>
                </c:pt>
                <c:pt idx="35">
                  <c:v>196.3</c:v>
                </c:pt>
                <c:pt idx="36">
                  <c:v>251.2</c:v>
                </c:pt>
                <c:pt idx="37">
                  <c:v>257.3</c:v>
                </c:pt>
              </c:numCache>
            </c:numRef>
          </c:yVal>
          <c:bubbleSize>
            <c:numRef>
              <c:f>Sheet1!$C$2:$C$39</c:f>
              <c:numCache>
                <c:formatCode>General</c:formatCode>
                <c:ptCount val="38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Sheet1!$B$41</c:f>
              <c:strCache>
                <c:ptCount val="1"/>
                <c:pt idx="0">
                  <c:v>East Asia &amp; Pacific</c:v>
                </c:pt>
              </c:strCache>
            </c:strRef>
          </c:tx>
          <c:spPr>
            <a:solidFill>
              <a:srgbClr val="006EAF"/>
            </a:solidFill>
          </c:spPr>
          <c:invertIfNegative val="0"/>
          <c:xVal>
            <c:numRef>
              <c:f>Sheet1!$A$42:$A$64</c:f>
              <c:numCache>
                <c:formatCode>General</c:formatCode>
                <c:ptCount val="23"/>
                <c:pt idx="0">
                  <c:v>10.74</c:v>
                </c:pt>
                <c:pt idx="1">
                  <c:v>11.79</c:v>
                </c:pt>
                <c:pt idx="2">
                  <c:v>10.83</c:v>
                </c:pt>
                <c:pt idx="3">
                  <c:v>11.0</c:v>
                </c:pt>
                <c:pt idx="4">
                  <c:v>10.78</c:v>
                </c:pt>
                <c:pt idx="5">
                  <c:v>11.1</c:v>
                </c:pt>
                <c:pt idx="6">
                  <c:v>11.63</c:v>
                </c:pt>
                <c:pt idx="7">
                  <c:v>10.08</c:v>
                </c:pt>
                <c:pt idx="8">
                  <c:v>9.58</c:v>
                </c:pt>
                <c:pt idx="9">
                  <c:v>9.73</c:v>
                </c:pt>
                <c:pt idx="10">
                  <c:v>11.28</c:v>
                </c:pt>
                <c:pt idx="11">
                  <c:v>9.99</c:v>
                </c:pt>
                <c:pt idx="12">
                  <c:v>10.44</c:v>
                </c:pt>
                <c:pt idx="13">
                  <c:v>9.55</c:v>
                </c:pt>
                <c:pt idx="14">
                  <c:v>9.58</c:v>
                </c:pt>
                <c:pt idx="15">
                  <c:v>9.25</c:v>
                </c:pt>
                <c:pt idx="16">
                  <c:v>8.86</c:v>
                </c:pt>
                <c:pt idx="17">
                  <c:v>8.67</c:v>
                </c:pt>
                <c:pt idx="18">
                  <c:v>8.09</c:v>
                </c:pt>
                <c:pt idx="19">
                  <c:v>8.57</c:v>
                </c:pt>
                <c:pt idx="20">
                  <c:v>8.86</c:v>
                </c:pt>
                <c:pt idx="21">
                  <c:v>9.06</c:v>
                </c:pt>
                <c:pt idx="22">
                  <c:v>8.06</c:v>
                </c:pt>
              </c:numCache>
            </c:numRef>
          </c:xVal>
          <c:yVal>
            <c:numRef>
              <c:f>Sheet1!$B$42:$B$64</c:f>
              <c:numCache>
                <c:formatCode>General</c:formatCode>
                <c:ptCount val="23"/>
                <c:pt idx="0">
                  <c:v>284.3</c:v>
                </c:pt>
                <c:pt idx="1">
                  <c:v>282.4</c:v>
                </c:pt>
                <c:pt idx="2">
                  <c:v>266.9</c:v>
                </c:pt>
                <c:pt idx="3">
                  <c:v>270.0</c:v>
                </c:pt>
                <c:pt idx="4">
                  <c:v>263.1</c:v>
                </c:pt>
                <c:pt idx="5">
                  <c:v>258.4</c:v>
                </c:pt>
                <c:pt idx="6">
                  <c:v>255.9</c:v>
                </c:pt>
                <c:pt idx="7">
                  <c:v>219.8</c:v>
                </c:pt>
                <c:pt idx="8">
                  <c:v>215.8</c:v>
                </c:pt>
                <c:pt idx="9">
                  <c:v>209.5</c:v>
                </c:pt>
                <c:pt idx="10">
                  <c:v>207.6</c:v>
                </c:pt>
                <c:pt idx="11">
                  <c:v>202.3</c:v>
                </c:pt>
                <c:pt idx="12">
                  <c:v>201.3</c:v>
                </c:pt>
                <c:pt idx="13">
                  <c:v>192.8</c:v>
                </c:pt>
                <c:pt idx="14">
                  <c:v>175.4</c:v>
                </c:pt>
                <c:pt idx="15">
                  <c:v>175.4</c:v>
                </c:pt>
                <c:pt idx="16">
                  <c:v>175.8</c:v>
                </c:pt>
                <c:pt idx="17">
                  <c:v>166.1</c:v>
                </c:pt>
                <c:pt idx="18">
                  <c:v>161.9</c:v>
                </c:pt>
                <c:pt idx="19">
                  <c:v>149.2</c:v>
                </c:pt>
                <c:pt idx="20">
                  <c:v>138.9</c:v>
                </c:pt>
                <c:pt idx="21">
                  <c:v>135.6</c:v>
                </c:pt>
                <c:pt idx="22">
                  <c:v>136.4</c:v>
                </c:pt>
              </c:numCache>
            </c:numRef>
          </c:yVal>
          <c:bubbleSize>
            <c:numRef>
              <c:f>Sheet1!$C$42:$C$64</c:f>
              <c:numCache>
                <c:formatCode>General</c:formatCode>
                <c:ptCount val="23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  <c:max val="12.0"/>
          <c:min val="7.5"/>
        </c:scaling>
        <c:delete val="0"/>
        <c:axPos val="b"/>
        <c:title>
          <c:tx>
            <c:rich>
              <a:bodyPr/>
              <a:lstStyle/>
              <a:p>
                <a:pPr>
                  <a:defRPr sz="1000">
                    <a:latin typeface="Calibri"/>
                  </a:defRPr>
                </a:pPr>
                <a:r>
                  <a:t>Log GDP per Capita (PPP)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5723560"/>
        <c:crosses val="autoZero"/>
        <c:crossBetween val="midCat"/>
      </c:valAx>
      <c:valAx>
        <c:axId val="-2115723560"/>
        <c:scaling>
          <c:orientation val="minMax"/>
          <c:max val="300.0"/>
          <c:min val="80.0"/>
        </c:scaling>
        <c:delete val="0"/>
        <c:axPos val="l"/>
        <c:majorGridlines>
          <c:spPr>
            <a:ln>
              <a:solidFill>
                <a:srgbClr val="EEEEEE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000">
                    <a:latin typeface="Calibri"/>
                  </a:defRPr>
                </a:pPr>
                <a:r>
                  <a:t>HCI+ Score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57200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</c:v>
                </c:pt>
              </c:strCache>
            </c:strRef>
          </c:tx>
          <c:spPr>
            <a:solidFill>
              <a:srgbClr val="00889E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37.3</c:v>
                </c:pt>
                <c:pt idx="1">
                  <c:v>41.0</c:v>
                </c:pt>
                <c:pt idx="2">
                  <c:v>43.4</c:v>
                </c:pt>
                <c:pt idx="3">
                  <c:v>44.9</c:v>
                </c:pt>
                <c:pt idx="4">
                  <c:v>42.8</c:v>
                </c:pt>
                <c:pt idx="5">
                  <c:v>45.9</c:v>
                </c:pt>
                <c:pt idx="6">
                  <c:v>42.6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Education</c:v>
                </c:pt>
              </c:strCache>
            </c:strRef>
          </c:tx>
          <c:spPr>
            <a:solidFill>
              <a:srgbClr val="006EAF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64.1</c:v>
                </c:pt>
                <c:pt idx="1">
                  <c:v>83.0</c:v>
                </c:pt>
                <c:pt idx="2">
                  <c:v>98.3</c:v>
                </c:pt>
                <c:pt idx="3">
                  <c:v>105.8</c:v>
                </c:pt>
                <c:pt idx="4">
                  <c:v>118.1</c:v>
                </c:pt>
                <c:pt idx="5">
                  <c:v>140.8</c:v>
                </c:pt>
                <c:pt idx="6">
                  <c:v>107.4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Employment</c:v>
                </c:pt>
              </c:strCache>
            </c:strRef>
          </c:tx>
          <c:spPr>
            <a:solidFill>
              <a:srgbClr val="E87D1E"/>
            </a:solidFill>
          </c:spPr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26.9</c:v>
                </c:pt>
                <c:pt idx="1">
                  <c:v>23.4</c:v>
                </c:pt>
                <c:pt idx="2">
                  <c:v>41.5</c:v>
                </c:pt>
                <c:pt idx="3">
                  <c:v>35.0</c:v>
                </c:pt>
                <c:pt idx="4">
                  <c:v>40.7</c:v>
                </c:pt>
                <c:pt idx="5">
                  <c:v>46.6</c:v>
                </c:pt>
                <c:pt idx="6">
                  <c:v>37.2</c:v>
                </c:pt>
              </c:numCache>
            </c:numRef>
          </c:val>
        </c:ser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8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HCI+ Score</c:v>
                </c:pt>
              </c:strCache>
            </c:strRef>
          </c:tx>
          <c:spPr>
            <a:solidFill>
              <a:srgbClr val="006EAF"/>
            </a:solidFill>
          </c:spPr>
          <c:dPt>
            <c:idx val="0"/>
            <c:spPr>
              <a:solidFill>
                <a:srgbClr val="E05A4F"/>
              </a:solidFill>
            </c:spPr>
          </c:dPt>
          <c:dPt>
            <c:idx val="1"/>
            <c:spPr>
              <a:solidFill>
                <a:srgbClr val="E05A4F"/>
              </a:solidFill>
            </c:spPr>
          </c:dPt>
          <c:dPt>
            <c:idx val="2"/>
            <c:spPr>
              <a:solidFill>
                <a:srgbClr val="E05A4F"/>
              </a:solidFill>
            </c:spPr>
          </c:dPt>
          <c:dPt>
            <c:idx val="3"/>
            <c:spPr>
              <a:solidFill>
                <a:srgbClr val="E05A4F"/>
              </a:solidFill>
            </c:spPr>
          </c:dPt>
          <c:dPt>
            <c:idx val="4"/>
            <c:spPr>
              <a:solidFill>
                <a:srgbClr val="E05A4F"/>
              </a:solidFill>
            </c:spPr>
          </c:dPt>
          <c:dPt>
            <c:idx val="5"/>
            <c:spPr>
              <a:solidFill>
                <a:srgbClr val="E05A4F"/>
              </a:solidFill>
            </c:spPr>
          </c:dPt>
          <c:dPt>
            <c:idx val="6"/>
            <c:spPr>
              <a:solidFill>
                <a:srgbClr val="E05A4F"/>
              </a:solidFill>
            </c:spPr>
          </c:dPt>
          <c:dPt>
            <c:idx val="7"/>
            <c:spPr>
              <a:solidFill>
                <a:srgbClr val="E05A4F"/>
              </a:solidFill>
            </c:spPr>
          </c:dPt>
          <c:dPt>
            <c:idx val="8"/>
            <c:spPr>
              <a:solidFill>
                <a:srgbClr val="E05A4F"/>
              </a:solidFill>
            </c:spPr>
          </c:dPt>
          <c:dPt>
            <c:idx val="9"/>
            <c:spPr>
              <a:solidFill>
                <a:srgbClr val="E05A4F"/>
              </a:solidFill>
            </c:spPr>
          </c:dPt>
          <c:dPt>
            <c:idx val="10"/>
            <c:spPr>
              <a:solidFill>
                <a:srgbClr val="E05A4F"/>
              </a:solidFill>
            </c:spPr>
          </c:dPt>
          <c:dPt>
            <c:idx val="11"/>
            <c:spPr>
              <a:solidFill>
                <a:srgbClr val="E05A4F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600" b="1"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Marshall Is.</c:v>
                </c:pt>
                <c:pt idx="4">
                  <c:v>Myanmar</c:v>
                </c:pt>
                <c:pt idx="5">
                  <c:v>Nauru</c:v>
                </c:pt>
                <c:pt idx="6">
                  <c:v>Kiribati</c:v>
                </c:pt>
                <c:pt idx="7">
                  <c:v>Samoa</c:v>
                </c:pt>
                <c:pt idx="8">
                  <c:v>Tuvalu</c:v>
                </c:pt>
                <c:pt idx="9">
                  <c:v>Tonga</c:v>
                </c:pt>
                <c:pt idx="10">
                  <c:v>Indonesia</c:v>
                </c:pt>
                <c:pt idx="11">
                  <c:v>Philippines</c:v>
                </c:pt>
                <c:pt idx="12">
                  <c:v>Fiji</c:v>
                </c:pt>
                <c:pt idx="13">
                  <c:v>Malaysia</c:v>
                </c:pt>
                <c:pt idx="14">
                  <c:v>Thailand</c:v>
                </c:pt>
                <c:pt idx="15">
                  <c:v>Brunei</c:v>
                </c:pt>
                <c:pt idx="16">
                  <c:v>Mongolia</c:v>
                </c:pt>
                <c:pt idx="17">
                  <c:v>Vietnam</c:v>
                </c:pt>
                <c:pt idx="18">
                  <c:v>China</c:v>
                </c:pt>
                <c:pt idx="19">
                  <c:v>Palau</c:v>
                </c:pt>
                <c:pt idx="20">
                  <c:v>Macao</c:v>
                </c:pt>
                <c:pt idx="21">
                  <c:v>Hong Kong</c:v>
                </c:pt>
                <c:pt idx="22">
                  <c:v>New Zealand</c:v>
                </c:pt>
                <c:pt idx="23">
                  <c:v>Korea, Rep.</c:v>
                </c:pt>
                <c:pt idx="24">
                  <c:v>Australia</c:v>
                </c:pt>
                <c:pt idx="25">
                  <c:v>Singapore</c:v>
                </c:pt>
                <c:pt idx="26">
                  <c:v>Japan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135.6</c:v>
                </c:pt>
                <c:pt idx="1">
                  <c:v>136.4</c:v>
                </c:pt>
                <c:pt idx="2">
                  <c:v>138.9</c:v>
                </c:pt>
                <c:pt idx="3">
                  <c:v>145.2</c:v>
                </c:pt>
                <c:pt idx="4">
                  <c:v>149.2</c:v>
                </c:pt>
                <c:pt idx="5">
                  <c:v>161.6</c:v>
                </c:pt>
                <c:pt idx="6">
                  <c:v>161.9</c:v>
                </c:pt>
                <c:pt idx="7">
                  <c:v>164.4</c:v>
                </c:pt>
                <c:pt idx="8">
                  <c:v>166.1</c:v>
                </c:pt>
                <c:pt idx="9">
                  <c:v>175.8</c:v>
                </c:pt>
                <c:pt idx="10">
                  <c:v>175.4</c:v>
                </c:pt>
                <c:pt idx="11">
                  <c:v>175.4</c:v>
                </c:pt>
                <c:pt idx="12">
                  <c:v>192.8</c:v>
                </c:pt>
                <c:pt idx="13">
                  <c:v>201.3</c:v>
                </c:pt>
                <c:pt idx="14">
                  <c:v>202.3</c:v>
                </c:pt>
                <c:pt idx="15">
                  <c:v>207.6</c:v>
                </c:pt>
                <c:pt idx="16">
                  <c:v>209.5</c:v>
                </c:pt>
                <c:pt idx="17">
                  <c:v>215.8</c:v>
                </c:pt>
                <c:pt idx="18">
                  <c:v>219.8</c:v>
                </c:pt>
                <c:pt idx="19">
                  <c:v>228.6</c:v>
                </c:pt>
                <c:pt idx="20">
                  <c:v>255.9</c:v>
                </c:pt>
                <c:pt idx="21">
                  <c:v>258.4</c:v>
                </c:pt>
                <c:pt idx="22">
                  <c:v>263.1</c:v>
                </c:pt>
                <c:pt idx="23">
                  <c:v>266.9</c:v>
                </c:pt>
                <c:pt idx="24">
                  <c:v>270.0</c:v>
                </c:pt>
                <c:pt idx="25">
                  <c:v>282.4</c:v>
                </c:pt>
                <c:pt idx="26">
                  <c:v>284.3</c:v>
                </c:pt>
              </c:numCache>
            </c:numRef>
          </c:val>
        </c:ser>
        <c:gapWidth val="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Health</c:v>
                </c:pt>
              </c:strCache>
            </c:strRef>
          </c:tx>
          <c:spPr>
            <a:solidFill>
              <a:srgbClr val="00889E"/>
            </a:solidFill>
          </c:spPr>
          <c:cat>
            <c:strRef>
              <c:f>Sheet1!$A$2:$A$28</c:f>
              <c:strCache>
                <c:ptCount val="27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Marshall Is.</c:v>
                </c:pt>
                <c:pt idx="4">
                  <c:v>Myanmar</c:v>
                </c:pt>
                <c:pt idx="5">
                  <c:v>Nauru</c:v>
                </c:pt>
                <c:pt idx="6">
                  <c:v>Kiribati</c:v>
                </c:pt>
                <c:pt idx="7">
                  <c:v>Samoa</c:v>
                </c:pt>
                <c:pt idx="8">
                  <c:v>Tuvalu</c:v>
                </c:pt>
                <c:pt idx="9">
                  <c:v>Tonga</c:v>
                </c:pt>
                <c:pt idx="10">
                  <c:v>Indonesia</c:v>
                </c:pt>
                <c:pt idx="11">
                  <c:v>Philippines</c:v>
                </c:pt>
                <c:pt idx="12">
                  <c:v>Fiji</c:v>
                </c:pt>
                <c:pt idx="13">
                  <c:v>Malaysia</c:v>
                </c:pt>
                <c:pt idx="14">
                  <c:v>Thailand</c:v>
                </c:pt>
                <c:pt idx="15">
                  <c:v>Brunei</c:v>
                </c:pt>
                <c:pt idx="16">
                  <c:v>Mongolia</c:v>
                </c:pt>
                <c:pt idx="17">
                  <c:v>Vietnam</c:v>
                </c:pt>
                <c:pt idx="18">
                  <c:v>China</c:v>
                </c:pt>
                <c:pt idx="19">
                  <c:v>Palau</c:v>
                </c:pt>
                <c:pt idx="20">
                  <c:v>Macao</c:v>
                </c:pt>
                <c:pt idx="21">
                  <c:v>Hong Kong</c:v>
                </c:pt>
                <c:pt idx="22">
                  <c:v>New Zealand</c:v>
                </c:pt>
                <c:pt idx="23">
                  <c:v>Korea, Rep.</c:v>
                </c:pt>
                <c:pt idx="24">
                  <c:v>Australia</c:v>
                </c:pt>
                <c:pt idx="25">
                  <c:v>Singapore</c:v>
                </c:pt>
                <c:pt idx="26">
                  <c:v>Japan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38.8</c:v>
                </c:pt>
                <c:pt idx="1">
                  <c:v>39.3</c:v>
                </c:pt>
                <c:pt idx="2">
                  <c:v>40.6</c:v>
                </c:pt>
                <c:pt idx="3">
                  <c:v>36.4</c:v>
                </c:pt>
                <c:pt idx="4">
                  <c:v>38.5</c:v>
                </c:pt>
                <c:pt idx="5">
                  <c:v>35.9</c:v>
                </c:pt>
                <c:pt idx="6">
                  <c:v>41.0</c:v>
                </c:pt>
                <c:pt idx="7">
                  <c:v>43.3</c:v>
                </c:pt>
                <c:pt idx="8">
                  <c:v>40.7</c:v>
                </c:pt>
                <c:pt idx="9">
                  <c:v>44.4</c:v>
                </c:pt>
                <c:pt idx="10">
                  <c:v>40.7</c:v>
                </c:pt>
                <c:pt idx="11">
                  <c:v>40.0</c:v>
                </c:pt>
                <c:pt idx="12">
                  <c:v>41.7</c:v>
                </c:pt>
                <c:pt idx="13">
                  <c:v>42.4</c:v>
                </c:pt>
                <c:pt idx="14">
                  <c:v>42.5</c:v>
                </c:pt>
                <c:pt idx="15">
                  <c:v>44.4</c:v>
                </c:pt>
                <c:pt idx="16">
                  <c:v>42.5</c:v>
                </c:pt>
                <c:pt idx="17">
                  <c:v>42.5</c:v>
                </c:pt>
                <c:pt idx="18">
                  <c:v>46.5</c:v>
                </c:pt>
                <c:pt idx="19">
                  <c:v>41.0</c:v>
                </c:pt>
                <c:pt idx="20">
                  <c:v>47.9</c:v>
                </c:pt>
                <c:pt idx="21">
                  <c:v>47.4</c:v>
                </c:pt>
                <c:pt idx="22">
                  <c:v>46.6</c:v>
                </c:pt>
                <c:pt idx="23">
                  <c:v>48.8</c:v>
                </c:pt>
                <c:pt idx="24">
                  <c:v>48.0</c:v>
                </c:pt>
                <c:pt idx="25">
                  <c:v>47.7</c:v>
                </c:pt>
                <c:pt idx="26">
                  <c:v>47.5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Education</c:v>
                </c:pt>
              </c:strCache>
            </c:strRef>
          </c:tx>
          <c:spPr>
            <a:solidFill>
              <a:srgbClr val="006EAF"/>
            </a:solidFill>
          </c:spPr>
          <c:cat>
            <c:strRef>
              <c:f>Sheet1!$A$2:$A$28</c:f>
              <c:strCache>
                <c:ptCount val="27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Marshall Is.</c:v>
                </c:pt>
                <c:pt idx="4">
                  <c:v>Myanmar</c:v>
                </c:pt>
                <c:pt idx="5">
                  <c:v>Nauru</c:v>
                </c:pt>
                <c:pt idx="6">
                  <c:v>Kiribati</c:v>
                </c:pt>
                <c:pt idx="7">
                  <c:v>Samoa</c:v>
                </c:pt>
                <c:pt idx="8">
                  <c:v>Tuvalu</c:v>
                </c:pt>
                <c:pt idx="9">
                  <c:v>Tonga</c:v>
                </c:pt>
                <c:pt idx="10">
                  <c:v>Indonesia</c:v>
                </c:pt>
                <c:pt idx="11">
                  <c:v>Philippines</c:v>
                </c:pt>
                <c:pt idx="12">
                  <c:v>Fiji</c:v>
                </c:pt>
                <c:pt idx="13">
                  <c:v>Malaysia</c:v>
                </c:pt>
                <c:pt idx="14">
                  <c:v>Thailand</c:v>
                </c:pt>
                <c:pt idx="15">
                  <c:v>Brunei</c:v>
                </c:pt>
                <c:pt idx="16">
                  <c:v>Mongolia</c:v>
                </c:pt>
                <c:pt idx="17">
                  <c:v>Vietnam</c:v>
                </c:pt>
                <c:pt idx="18">
                  <c:v>China</c:v>
                </c:pt>
                <c:pt idx="19">
                  <c:v>Palau</c:v>
                </c:pt>
                <c:pt idx="20">
                  <c:v>Macao</c:v>
                </c:pt>
                <c:pt idx="21">
                  <c:v>Hong Kong</c:v>
                </c:pt>
                <c:pt idx="22">
                  <c:v>New Zealand</c:v>
                </c:pt>
                <c:pt idx="23">
                  <c:v>Korea, Rep.</c:v>
                </c:pt>
                <c:pt idx="24">
                  <c:v>Australia</c:v>
                </c:pt>
                <c:pt idx="25">
                  <c:v>Singapore</c:v>
                </c:pt>
                <c:pt idx="26">
                  <c:v>Japan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66.5</c:v>
                </c:pt>
                <c:pt idx="1">
                  <c:v>84.2</c:v>
                </c:pt>
                <c:pt idx="2">
                  <c:v>69.9</c:v>
                </c:pt>
                <c:pt idx="3">
                  <c:v>88.8</c:v>
                </c:pt>
                <c:pt idx="4">
                  <c:v>76.3</c:v>
                </c:pt>
                <c:pt idx="5">
                  <c:v>82.2</c:v>
                </c:pt>
                <c:pt idx="6">
                  <c:v>96.7</c:v>
                </c:pt>
                <c:pt idx="7">
                  <c:v>102.8</c:v>
                </c:pt>
                <c:pt idx="8">
                  <c:v>102.5</c:v>
                </c:pt>
                <c:pt idx="9">
                  <c:v>100.4</c:v>
                </c:pt>
                <c:pt idx="10">
                  <c:v>96.5</c:v>
                </c:pt>
                <c:pt idx="11">
                  <c:v>98.4</c:v>
                </c:pt>
                <c:pt idx="12">
                  <c:v>120.3</c:v>
                </c:pt>
                <c:pt idx="13">
                  <c:v>111.1</c:v>
                </c:pt>
                <c:pt idx="14">
                  <c:v>114.3</c:v>
                </c:pt>
                <c:pt idx="15">
                  <c:v>117.4</c:v>
                </c:pt>
                <c:pt idx="16">
                  <c:v>128.1</c:v>
                </c:pt>
                <c:pt idx="17">
                  <c:v>123.8</c:v>
                </c:pt>
                <c:pt idx="18">
                  <c:v>127.5</c:v>
                </c:pt>
                <c:pt idx="19">
                  <c:v>132.6</c:v>
                </c:pt>
                <c:pt idx="20">
                  <c:v>147.9</c:v>
                </c:pt>
                <c:pt idx="21">
                  <c:v>162.5</c:v>
                </c:pt>
                <c:pt idx="22">
                  <c:v>155.0</c:v>
                </c:pt>
                <c:pt idx="23">
                  <c:v>170.8</c:v>
                </c:pt>
                <c:pt idx="24">
                  <c:v>160.8</c:v>
                </c:pt>
                <c:pt idx="25">
                  <c:v>179.4</c:v>
                </c:pt>
                <c:pt idx="26">
                  <c:v>172.5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Employment</c:v>
                </c:pt>
              </c:strCache>
            </c:strRef>
          </c:tx>
          <c:spPr>
            <a:solidFill>
              <a:srgbClr val="E87D1E"/>
            </a:solidFill>
          </c:spPr>
          <c:cat>
            <c:strRef>
              <c:f>Sheet1!$A$2:$A$28</c:f>
              <c:strCache>
                <c:ptCount val="27"/>
                <c:pt idx="0">
                  <c:v>Lao PDR</c:v>
                </c:pt>
                <c:pt idx="1">
                  <c:v>Vanuatu</c:v>
                </c:pt>
                <c:pt idx="2">
                  <c:v>Cambodia</c:v>
                </c:pt>
                <c:pt idx="3">
                  <c:v>Marshall Is.</c:v>
                </c:pt>
                <c:pt idx="4">
                  <c:v>Myanmar</c:v>
                </c:pt>
                <c:pt idx="5">
                  <c:v>Nauru</c:v>
                </c:pt>
                <c:pt idx="6">
                  <c:v>Kiribati</c:v>
                </c:pt>
                <c:pt idx="7">
                  <c:v>Samoa</c:v>
                </c:pt>
                <c:pt idx="8">
                  <c:v>Tuvalu</c:v>
                </c:pt>
                <c:pt idx="9">
                  <c:v>Tonga</c:v>
                </c:pt>
                <c:pt idx="10">
                  <c:v>Indonesia</c:v>
                </c:pt>
                <c:pt idx="11">
                  <c:v>Philippines</c:v>
                </c:pt>
                <c:pt idx="12">
                  <c:v>Fiji</c:v>
                </c:pt>
                <c:pt idx="13">
                  <c:v>Malaysia</c:v>
                </c:pt>
                <c:pt idx="14">
                  <c:v>Thailand</c:v>
                </c:pt>
                <c:pt idx="15">
                  <c:v>Brunei</c:v>
                </c:pt>
                <c:pt idx="16">
                  <c:v>Mongolia</c:v>
                </c:pt>
                <c:pt idx="17">
                  <c:v>Vietnam</c:v>
                </c:pt>
                <c:pt idx="18">
                  <c:v>China</c:v>
                </c:pt>
                <c:pt idx="19">
                  <c:v>Palau</c:v>
                </c:pt>
                <c:pt idx="20">
                  <c:v>Macao</c:v>
                </c:pt>
                <c:pt idx="21">
                  <c:v>Hong Kong</c:v>
                </c:pt>
                <c:pt idx="22">
                  <c:v>New Zealand</c:v>
                </c:pt>
                <c:pt idx="23">
                  <c:v>Korea, Rep.</c:v>
                </c:pt>
                <c:pt idx="24">
                  <c:v>Australia</c:v>
                </c:pt>
                <c:pt idx="25">
                  <c:v>Singapore</c:v>
                </c:pt>
                <c:pt idx="26">
                  <c:v>Japan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30.3</c:v>
                </c:pt>
                <c:pt idx="1">
                  <c:v>13.0</c:v>
                </c:pt>
                <c:pt idx="2">
                  <c:v>28.4</c:v>
                </c:pt>
                <c:pt idx="3">
                  <c:v>20.0</c:v>
                </c:pt>
                <c:pt idx="4">
                  <c:v>34.3</c:v>
                </c:pt>
                <c:pt idx="5">
                  <c:v>43.5</c:v>
                </c:pt>
                <c:pt idx="6">
                  <c:v>24.2</c:v>
                </c:pt>
                <c:pt idx="7">
                  <c:v>18.3</c:v>
                </c:pt>
                <c:pt idx="8">
                  <c:v>23.0</c:v>
                </c:pt>
                <c:pt idx="9">
                  <c:v>31.0</c:v>
                </c:pt>
                <c:pt idx="10">
                  <c:v>38.1</c:v>
                </c:pt>
                <c:pt idx="11">
                  <c:v>37.1</c:v>
                </c:pt>
                <c:pt idx="12">
                  <c:v>30.8</c:v>
                </c:pt>
                <c:pt idx="13">
                  <c:v>47.8</c:v>
                </c:pt>
                <c:pt idx="14">
                  <c:v>45.5</c:v>
                </c:pt>
                <c:pt idx="15">
                  <c:v>45.8</c:v>
                </c:pt>
                <c:pt idx="16">
                  <c:v>38.9</c:v>
                </c:pt>
                <c:pt idx="17">
                  <c:v>49.5</c:v>
                </c:pt>
                <c:pt idx="18">
                  <c:v>45.8</c:v>
                </c:pt>
                <c:pt idx="19">
                  <c:v>55.0</c:v>
                </c:pt>
                <c:pt idx="20">
                  <c:v>60.1</c:v>
                </c:pt>
                <c:pt idx="21">
                  <c:v>48.5</c:v>
                </c:pt>
                <c:pt idx="22">
                  <c:v>61.5</c:v>
                </c:pt>
                <c:pt idx="23">
                  <c:v>47.4</c:v>
                </c:pt>
                <c:pt idx="24">
                  <c:v>61.2</c:v>
                </c:pt>
                <c:pt idx="25">
                  <c:v>55.3</c:v>
                </c:pt>
                <c:pt idx="26">
                  <c:v>64.4</c:v>
                </c:pt>
              </c:numCache>
            </c:numRef>
          </c:val>
        </c:ser>
        <c:gapWidth val="2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0.0"/>
        </c:scaling>
        <c:delete val="0"/>
        <c:axPos val="b"/>
        <c:majorGridlines>
          <c:spPr>
            <a:ln>
              <a:solidFill>
                <a:srgbClr val="EEEE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Health Score</c:v>
                </c:pt>
              </c:strCache>
            </c:strRef>
          </c:tx>
          <c:spPr>
            <a:solidFill>
              <a:srgbClr val="00889E"/>
            </a:solidFill>
          </c:spPr>
          <c:dPt>
            <c:idx val="2"/>
            <c:spPr>
              <a:solidFill>
                <a:srgbClr val="006EAF"/>
              </a:solidFill>
            </c:spPr>
          </c:dPt>
          <c:dPt>
            <c:idx val="6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East Asia
&amp; Pacific</c:v>
                </c:pt>
                <c:pt idx="3">
                  <c:v>Latin America
&amp; Caribbean</c:v>
                </c:pt>
                <c:pt idx="4">
                  <c:v>MENA+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37.3</c:v>
                </c:pt>
                <c:pt idx="1">
                  <c:v>41.0</c:v>
                </c:pt>
                <c:pt idx="2">
                  <c:v>42.8</c:v>
                </c:pt>
                <c:pt idx="3">
                  <c:v>43.4</c:v>
                </c:pt>
                <c:pt idx="4">
                  <c:v>44.9</c:v>
                </c:pt>
                <c:pt idx="5">
                  <c:v>45.9</c:v>
                </c:pt>
                <c:pt idx="6">
                  <c:v>42.6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Education Score</c:v>
                </c:pt>
              </c:strCache>
            </c:strRef>
          </c:tx>
          <c:spPr>
            <a:solidFill>
              <a:srgbClr val="006EAF"/>
            </a:solidFill>
          </c:spPr>
          <c:dPt>
            <c:idx val="4"/>
            <c:spPr>
              <a:solidFill>
                <a:srgbClr val="006EAF"/>
              </a:solidFill>
            </c:spPr>
          </c:dPt>
          <c:dPt>
            <c:idx val="6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Sub-Saharan
Africa</c:v>
                </c:pt>
                <c:pt idx="1">
                  <c:v>South
Asia</c:v>
                </c:pt>
                <c:pt idx="2">
                  <c:v>Latin America
&amp; Caribbean</c:v>
                </c:pt>
                <c:pt idx="3">
                  <c:v>MENA+</c:v>
                </c:pt>
                <c:pt idx="4">
                  <c:v>East Asia
&amp; Pacific</c:v>
                </c:pt>
                <c:pt idx="5">
                  <c:v>Europe &amp;
Central Asia</c:v>
                </c:pt>
                <c:pt idx="6">
                  <c:v>World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64.1</c:v>
                </c:pt>
                <c:pt idx="1">
                  <c:v>83.0</c:v>
                </c:pt>
                <c:pt idx="2">
                  <c:v>98.3</c:v>
                </c:pt>
                <c:pt idx="3">
                  <c:v>105.8</c:v>
                </c:pt>
                <c:pt idx="4">
                  <c:v>118.1</c:v>
                </c:pt>
                <c:pt idx="5">
                  <c:v>140.8</c:v>
                </c:pt>
                <c:pt idx="6">
                  <c:v>107.4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Employment Score</c:v>
                </c:pt>
              </c:strCache>
            </c:strRef>
          </c:tx>
          <c:spPr>
            <a:solidFill>
              <a:srgbClr val="E87D1E"/>
            </a:solidFill>
          </c:spPr>
          <c:dPt>
            <c:idx val="4"/>
            <c:spPr>
              <a:solidFill>
                <a:srgbClr val="006EAF"/>
              </a:solidFill>
            </c:spPr>
          </c:dPt>
          <c:dPt>
            <c:idx val="3"/>
            <c:spPr>
              <a:solidFill>
                <a:srgbClr val="7A7A8C"/>
              </a:solidFill>
            </c:spPr>
          </c:dPt>
          <c:dLbls>
            <c:numFmt formatCode="0.0" sourceLinked="0"/>
            <c:txPr>
              <a:bodyPr/>
              <a:lstStyle/>
              <a:p>
                <a:pPr>
                  <a:defRPr sz="900" b="1"/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South
Asia</c:v>
                </c:pt>
                <c:pt idx="1">
                  <c:v>Sub-Saharan
Africa</c:v>
                </c:pt>
                <c:pt idx="2">
                  <c:v>MENA+</c:v>
                </c:pt>
                <c:pt idx="3">
                  <c:v>World</c:v>
                </c:pt>
                <c:pt idx="4">
                  <c:v>East Asia
&amp; Pacific</c:v>
                </c:pt>
                <c:pt idx="5">
                  <c:v>Latin America
&amp; Caribbean</c:v>
                </c:pt>
                <c:pt idx="6">
                  <c:v>Europe &amp;
Central Asia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23.4</c:v>
                </c:pt>
                <c:pt idx="1">
                  <c:v>26.9</c:v>
                </c:pt>
                <c:pt idx="2">
                  <c:v>35.0</c:v>
                </c:pt>
                <c:pt idx="3">
                  <c:v>37.2</c:v>
                </c:pt>
                <c:pt idx="4">
                  <c:v>40.7</c:v>
                </c:pt>
                <c:pt idx="5">
                  <c:v>41.5</c:v>
                </c:pt>
                <c:pt idx="6">
                  <c:v>46.6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Male HCI+ &gt; Female HCI+</c:v>
                </c:pt>
              </c:strCache>
            </c:strRef>
          </c:tx>
          <c:spPr>
            <a:solidFill>
              <a:srgbClr val="6B8CA3"/>
            </a:solidFill>
            <a:ln w="47625">
              <a:solidFill>
                <a:srgbClr val="6B8CA3"/>
              </a:solidFill>
            </a:ln>
          </c:spPr>
          <c:marker>
            <c:symbol val="circle"/>
            <c:size val="8"/>
            <c:spPr>
              <a:solidFill>
                <a:srgbClr val="6B8CA3"/>
              </a:solidFill>
              <a:ln>
                <a:solidFill>
                  <a:srgbClr val="6B8CA3"/>
                </a:solidFill>
              </a:ln>
            </c:spPr>
          </c:marker>
          <c:xVal>
            <c:numRef>
              <c:f>Sheet1!$A$2:$A$16</c:f>
              <c:numCache>
                <c:formatCode>General</c:formatCode>
                <c:ptCount val="15"/>
                <c:pt idx="0">
                  <c:v>277.5</c:v>
                </c:pt>
                <c:pt idx="1">
                  <c:v>258.9</c:v>
                </c:pt>
                <c:pt idx="2">
                  <c:v>264.8</c:v>
                </c:pt>
                <c:pt idx="3">
                  <c:v>262.7</c:v>
                </c:pt>
                <c:pt idx="4">
                  <c:v>253.8</c:v>
                </c:pt>
                <c:pt idx="5">
                  <c:v>196.3</c:v>
                </c:pt>
                <c:pt idx="6">
                  <c:v>177.2</c:v>
                </c:pt>
                <c:pt idx="7">
                  <c:v>158.7</c:v>
                </c:pt>
                <c:pt idx="8">
                  <c:v>171.8</c:v>
                </c:pt>
                <c:pt idx="9">
                  <c:v>175.2</c:v>
                </c:pt>
                <c:pt idx="10">
                  <c:v>164.2</c:v>
                </c:pt>
                <c:pt idx="11">
                  <c:v>140.3</c:v>
                </c:pt>
                <c:pt idx="12">
                  <c:v>139.5</c:v>
                </c:pt>
                <c:pt idx="13">
                  <c:v>130.5</c:v>
                </c:pt>
                <c:pt idx="14">
                  <c:v>128.0</c:v>
                </c:pt>
              </c:numCache>
            </c:numRef>
          </c:xVal>
          <c:yVal>
            <c:numRef>
              <c:f>Sheet1!$B$2:$B$16</c:f>
              <c:numCache>
                <c:formatCode>General</c:formatCode>
                <c:ptCount val="15"/>
                <c:pt idx="0">
                  <c:v>290.8</c:v>
                </c:pt>
                <c:pt idx="1">
                  <c:v>274.9</c:v>
                </c:pt>
                <c:pt idx="2">
                  <c:v>275.2</c:v>
                </c:pt>
                <c:pt idx="3">
                  <c:v>263.5</c:v>
                </c:pt>
                <c:pt idx="4">
                  <c:v>263.0</c:v>
                </c:pt>
                <c:pt idx="5">
                  <c:v>206.3</c:v>
                </c:pt>
                <c:pt idx="6">
                  <c:v>208.4</c:v>
                </c:pt>
                <c:pt idx="7">
                  <c:v>192.1</c:v>
                </c:pt>
                <c:pt idx="8">
                  <c:v>179.0</c:v>
                </c:pt>
                <c:pt idx="9">
                  <c:v>176.4</c:v>
                </c:pt>
                <c:pt idx="10">
                  <c:v>164.6</c:v>
                </c:pt>
                <c:pt idx="11">
                  <c:v>158.1</c:v>
                </c:pt>
                <c:pt idx="12">
                  <c:v>150.9</c:v>
                </c:pt>
                <c:pt idx="13">
                  <c:v>140.7</c:v>
                </c:pt>
                <c:pt idx="14">
                  <c:v>144.8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Sheet1!$B$18</c:f>
              <c:strCache>
                <c:ptCount val="1"/>
                <c:pt idx="0">
                  <c:v>Female HCI+ ≥ Male HCI+</c:v>
                </c:pt>
              </c:strCache>
            </c:strRef>
          </c:tx>
          <c:spPr>
            <a:solidFill>
              <a:srgbClr val="E07B73"/>
            </a:solidFill>
            <a:ln w="47625">
              <a:solidFill>
                <a:srgbClr val="E07B73"/>
              </a:solidFill>
            </a:ln>
          </c:spPr>
          <c:marker>
            <c:symbol val="circle"/>
            <c:size val="8"/>
            <c:spPr>
              <a:solidFill>
                <a:srgbClr val="E07B73"/>
              </a:solidFill>
              <a:ln>
                <a:solidFill>
                  <a:srgbClr val="E07B73"/>
                </a:solidFill>
              </a:ln>
            </c:spPr>
          </c:marker>
          <c:xVal>
            <c:numRef>
              <c:f>Sheet1!$A$19:$A$28</c:f>
              <c:numCache>
                <c:formatCode>General</c:formatCode>
                <c:ptCount val="10"/>
                <c:pt idx="0">
                  <c:v>284.1</c:v>
                </c:pt>
                <c:pt idx="1">
                  <c:v>260.2</c:v>
                </c:pt>
                <c:pt idx="2">
                  <c:v>225.4</c:v>
                </c:pt>
                <c:pt idx="3">
                  <c:v>220.8</c:v>
                </c:pt>
                <c:pt idx="4">
                  <c:v>214.2</c:v>
                </c:pt>
                <c:pt idx="5">
                  <c:v>211.0</c:v>
                </c:pt>
                <c:pt idx="6">
                  <c:v>210.5</c:v>
                </c:pt>
                <c:pt idx="7">
                  <c:v>173.4</c:v>
                </c:pt>
                <c:pt idx="8">
                  <c:v>163.5</c:v>
                </c:pt>
                <c:pt idx="9">
                  <c:v>150.0</c:v>
                </c:pt>
              </c:numCache>
            </c:numRef>
          </c:xVal>
          <c:yVal>
            <c:numRef>
              <c:f>Sheet1!$B$19:$B$28</c:f>
              <c:numCache>
                <c:formatCode>General</c:formatCode>
                <c:ptCount val="10"/>
                <c:pt idx="0">
                  <c:v>280.6</c:v>
                </c:pt>
                <c:pt idx="1">
                  <c:v>251.6</c:v>
                </c:pt>
                <c:pt idx="2">
                  <c:v>214.2</c:v>
                </c:pt>
                <c:pt idx="3">
                  <c:v>210.8</c:v>
                </c:pt>
                <c:pt idx="4">
                  <c:v>204.8</c:v>
                </c:pt>
                <c:pt idx="5">
                  <c:v>204.2</c:v>
                </c:pt>
                <c:pt idx="6">
                  <c:v>194.1</c:v>
                </c:pt>
                <c:pt idx="7">
                  <c:v>158.8</c:v>
                </c:pt>
                <c:pt idx="8">
                  <c:v>160.3</c:v>
                </c:pt>
                <c:pt idx="9">
                  <c:v>127.8</c:v>
                </c:pt>
              </c:numCache>
            </c:numRef>
          </c:yVal>
          <c:smooth val="0"/>
        </c:ser>
        <c:axId val="-2128940872"/>
        <c:axId val="-2129643912"/>
        <c:ser>
          <c:idx val="2"/>
          <c:order val="2"/>
          <c:tx>
            <c:strRef>
              <c:f/>
              <c:strCache>
                <c:ptCount val="1"/>
                <c:pt idx="0">
                  <c:v>45° line</c:v>
                </c:pt>
              </c:strCache>
            </c:strRef>
          </c:tx>
          <c:spPr>
            <a:ln w="12700">
              <a:solidFill>
                <a:srgbClr val="CCCCCC"/>
              </a:solidFill>
            </a:ln>
          </c:spPr>
          <c:marker>
            <c:symbol val="none"/>
          </c:marker>
          <c:xVal>
            <c:numRef>
              <c:f/>
              <c:numCache>
                <c:ptCount val="2"/>
                <c:pt idx="0">
                  <c:v>120</c:v>
                </c:pt>
                <c:pt idx="1">
                  <c:v>300</c:v>
                </c:pt>
              </c:numCache>
            </c:numRef>
          </c:xVal>
          <c:yVal>
            <c:numRef>
              <c:f/>
              <c:numCache>
                <c:ptCount val="2"/>
                <c:pt idx="0">
                  <c:v>120</c:v>
                </c:pt>
                <c:pt idx="1">
                  <c:v>300</c:v>
                </c:pt>
              </c:numCache>
            </c:numRef>
          </c:yVal>
          <c:smooth val="0"/>
        </c:ser>
      </c:scatterChart>
      <c:valAx>
        <c:axId val="-2128940872"/>
        <c:scaling>
          <c:orientation val="minMax"/>
          <c:max val="300.0"/>
          <c:min val="120.0"/>
        </c:scaling>
        <c:delete val="0"/>
        <c:axPos val="b"/>
        <c:majorGridlines>
          <c:spPr>
            <a:ln>
              <a:solidFill>
                <a:srgbClr val="E8E8E8"/>
              </a:solidFill>
              <a:prstDash val="dash"/>
            </a:ln>
          </c:spPr>
        </c:majorGridlines>
        <c:title>
          <c:tx>
            <c:rich>
              <a:bodyPr/>
              <a:lstStyle/>
              <a:p>
                <a:pPr>
                  <a:defRPr sz="1100" b="1">
                    <a:latin typeface="Calibri"/>
                  </a:defRPr>
                </a:pPr>
                <a:r>
                  <a:t>Female HCI+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9643912"/>
        <c:crosses val="autoZero"/>
        <c:crossBetween val="midCat"/>
      </c:valAx>
      <c:valAx>
        <c:axId val="-2129643912"/>
        <c:scaling>
          <c:orientation val="minMax"/>
          <c:max val="300.0"/>
          <c:min val="120.0"/>
        </c:scaling>
        <c:delete val="0"/>
        <c:axPos val="l"/>
        <c:majorGridlines>
          <c:spPr>
            <a:ln>
              <a:solidFill>
                <a:srgbClr val="E8E8E8"/>
              </a:solidFill>
              <a:prstDash val="dash"/>
            </a:ln>
          </c:spPr>
        </c:majorGridlines>
        <c:title>
          <c:tx>
            <c:rich>
              <a:bodyPr/>
              <a:lstStyle/>
              <a:p>
                <a:pPr>
                  <a:defRPr sz="1100" b="1">
                    <a:latin typeface="Calibri"/>
                  </a:defRPr>
                </a:pPr>
                <a:r>
                  <a:t>Male HCI+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12191695" cy="1371600"/>
          </a:xfrm>
          <a:prstGeom prst="rect">
            <a:avLst/>
          </a:prstGeom>
          <a:solidFill>
            <a:srgbClr val="001F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8720" y="1828800"/>
            <a:ext cx="1645920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103120"/>
            <a:ext cx="6400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800" b="1">
                <a:solidFill>
                  <a:srgbClr val="FFFFFF"/>
                </a:solidFill>
                <a:latin typeface="Calibri Light"/>
              </a:defRPr>
            </a:pPr>
            <a:r>
              <a:t>Human Capital</a:t>
            </a:r>
            <a:br/>
            <a:r>
              <a:t>Index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3657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200" b="1">
                <a:solidFill>
                  <a:srgbClr val="006EAF"/>
                </a:solidFill>
                <a:latin typeface="Calibri"/>
              </a:defRPr>
            </a:pPr>
            <a:r>
              <a:t>HCI+  | 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297680"/>
            <a:ext cx="73152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5303520"/>
            <a:ext cx="5486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Regional overview across 27 economies spanning health,</a:t>
            </a:r>
            <a:br/>
            <a:r>
              <a:t>education, and employment dimensions of human capital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006EAF"/>
                </a:solidFill>
                <a:latin typeface="Calibri"/>
              </a:defRPr>
            </a:pPr>
            <a:r>
              <a:t>27 Economies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6035040"/>
            <a:ext cx="2011680" cy="292608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6035040"/>
            <a:ext cx="2011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900" b="0">
                <a:solidFill>
                  <a:srgbClr val="006EAF"/>
                </a:solidFill>
                <a:latin typeface="Calibri"/>
              </a:defRPr>
            </a:pPr>
            <a:r>
              <a:t>All Income Levels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74720" cy="4572000"/>
          </a:xfrm>
          <a:prstGeom prst="roundRect">
            <a:avLst/>
          </a:prstGeom>
          <a:solidFill>
            <a:srgbClr val="00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1554480"/>
            <a:ext cx="3474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REGIONAL HCI+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94560"/>
            <a:ext cx="347472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7200" b="1">
                <a:solidFill>
                  <a:srgbClr val="FFFFFF"/>
                </a:solidFill>
                <a:latin typeface="Calibri Light"/>
              </a:defRPr>
            </a:pPr>
            <a:r>
              <a:t>201.7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57600"/>
            <a:ext cx="34747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0">
                <a:solidFill>
                  <a:srgbClr val="7A7A8C"/>
                </a:solidFill>
                <a:latin typeface="Calibri"/>
              </a:defRPr>
            </a:pPr>
            <a:r>
              <a:t>out of 325  |  World avg: 188.5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20624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420624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00889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440740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40" y="4407408"/>
            <a:ext cx="2504724" cy="91440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4709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470916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006EAF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491032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4910328"/>
            <a:ext cx="1919833" cy="91440"/>
          </a:xfrm>
          <a:prstGeom prst="round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521208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AABBCC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0" y="5212080"/>
            <a:ext cx="6400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900" b="1">
                <a:solidFill>
                  <a:srgbClr val="E87D1E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5413248"/>
            <a:ext cx="2926080" cy="91440"/>
          </a:xfrm>
          <a:prstGeom prst="round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21040" y="5413248"/>
            <a:ext cx="1701306" cy="91440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532120"/>
            <a:ext cx="29260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E87D1E"/>
                </a:solidFill>
                <a:latin typeface="Calibri"/>
              </a:defRPr>
            </a:pPr>
            <a:r>
              <a:t>Ranked #3 among 7 World Bank regions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HCI+ vs GDP per Capita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201.7 / 325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80467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HCI+ SCORE vs LOG GDP PER CAPITA (PPP)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2860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EAP countries in blue. All other regions shown in light gray for context.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1520" y="2011680"/>
          <a:ext cx="7498079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778240" y="1188720"/>
            <a:ext cx="301752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78240" y="1188720"/>
            <a:ext cx="63500" cy="493776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371600"/>
            <a:ext cx="26517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06EAF"/>
                </a:solidFill>
                <a:latin typeface="Calibri"/>
              </a:defRPr>
            </a:pPr>
            <a:r>
              <a:t>EAP IN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7373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Regional Average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1737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006EAF"/>
                </a:solidFill>
                <a:latin typeface="Calibri"/>
              </a:defRPr>
            </a:pPr>
            <a:r>
              <a:t>201.7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0299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1945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World Average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1945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188.5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24871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26517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Economies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26517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1A1A2E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29443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52560" y="31089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Top Performer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31089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00889E"/>
                </a:solidFill>
                <a:latin typeface="Calibri"/>
              </a:defRPr>
            </a:pPr>
            <a:r>
              <a:t>Japan (284.3)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4015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0" y="35661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Lowest in EAP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5661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E05A4F"/>
                </a:solidFill>
                <a:latin typeface="Calibri"/>
              </a:defRPr>
            </a:pPr>
            <a:r>
              <a:t>Lao PDR (135.6)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8587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40233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Europe/C. Asia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40233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233.3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52560" y="43159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0" y="44805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Latin America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44805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183.2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2560" y="4773168"/>
            <a:ext cx="2560320" cy="127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52560" y="4937760"/>
            <a:ext cx="16459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vs Sub-Saharan Africa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4937760"/>
            <a:ext cx="1097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1">
                <a:solidFill>
                  <a:srgbClr val="7A7A8C"/>
                </a:solidFill>
                <a:latin typeface="Calibri"/>
              </a:defRPr>
            </a:pPr>
            <a:r>
              <a:t>128.4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4846320"/>
            <a:ext cx="26517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5120640"/>
            <a:ext cx="26517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EAP (avg 201.7) ranks 3rd among WB regions, exceeding the global average by 13 points. The region shows enormous variation: Japan (284.3) leads globally, while Lao PDR (135.6) trails. High-income EAP economies rival Europe.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Score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201.7 / 325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COMPONENT DECOMPOSITION BY 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502920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5720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7A7A8C"/>
                </a:solidFill>
                <a:latin typeface="Calibri"/>
              </a:defRPr>
            </a:pPr>
            <a:r>
              <a:t>EAP vs WORLD AVERAGE (Filled = EAP, Hollow = World)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892040"/>
            <a:ext cx="1828800" cy="254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Health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52212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217932" y="51206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29636" y="5120640"/>
            <a:ext cx="219456" cy="219456"/>
          </a:xfrm>
          <a:prstGeom prst="ellipse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65044" y="53035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00889E"/>
                </a:solidFill>
                <a:latin typeface="Calibri"/>
              </a:defRPr>
            </a:pPr>
            <a:r>
              <a:t>42.8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5321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56784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70806" y="55778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4745" y="5577840"/>
            <a:ext cx="219456" cy="219456"/>
          </a:xfrm>
          <a:prstGeom prst="ellipse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153" y="57607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006EAF"/>
                </a:solidFill>
                <a:latin typeface="Calibri"/>
              </a:defRPr>
            </a:pPr>
            <a:r>
              <a:t>118.1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989320"/>
            <a:ext cx="2011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Employment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34640" y="6135624"/>
            <a:ext cx="2926080" cy="25400"/>
          </a:xfrm>
          <a:prstGeom prst="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79914" y="6035040"/>
            <a:ext cx="219456" cy="219456"/>
          </a:xfrm>
          <a:prstGeom prst="ellipse">
            <a:avLst/>
          </a:prstGeom>
          <a:noFill/>
          <a:ln w="31750">
            <a:solidFill>
              <a:srgbClr val="BBBB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26218" y="6035040"/>
            <a:ext cx="219456" cy="219456"/>
          </a:xfrm>
          <a:prstGeom prst="ellipse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626" y="6217920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E87D1E"/>
                </a:solidFill>
                <a:latin typeface="Calibri"/>
              </a:defRPr>
            </a:pPr>
            <a:r>
              <a:t>40.7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1188720"/>
            <a:ext cx="5486400" cy="4937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1371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ALL EAP ECONOMIES BY HCI+ SCORE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1691640"/>
            <a:ext cx="18288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6492240" y="1828800"/>
          <a:ext cx="493776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1" name="Rectangle 30"/>
          <p:cNvSpPr/>
          <p:nvPr/>
        </p:nvSpPr>
        <p:spPr>
          <a:xfrm>
            <a:off x="6492240" y="5760720"/>
            <a:ext cx="228600" cy="109728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571500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Above world avg (188.5)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03920" y="5760720"/>
            <a:ext cx="228600" cy="109728"/>
          </a:xfrm>
          <a:prstGeom prst="rect">
            <a:avLst/>
          </a:prstGeom>
          <a:solidFill>
            <a:srgbClr val="E05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23960" y="5715000"/>
            <a:ext cx="13716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Below world avg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East Asia &amp; Pacific  |  Country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1600" b="1">
                <a:solidFill>
                  <a:srgbClr val="006EAF"/>
                </a:solidFill>
                <a:latin typeface="Calibri"/>
              </a:defRPr>
            </a:pPr>
            <a:r>
              <a:t>Health + Education + Employment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471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COMPONENT DECOMPOSITION BY ECONOMY (sorted by total HCI+)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08760"/>
            <a:ext cx="22860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645920"/>
          <a:ext cx="107899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Health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889E"/>
                </a:solidFill>
                <a:latin typeface="Calibri"/>
              </a:defRPr>
            </a:pPr>
            <a:r>
              <a:t>Avg: 42.8 / 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Health outcomes reflect adult survival (ages 15-60) and freedom from childhood stunting.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54864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548640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0889E"/>
                </a:solidFill>
                <a:latin typeface="Calibri"/>
              </a:defRPr>
            </a:pPr>
            <a:r>
              <a:t>ADULT SURVIVAL RATE (EAP AVG)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Probability of surviving from age 15 to 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400" b="1">
                <a:solidFill>
                  <a:srgbClr val="00889E"/>
                </a:solidFill>
                <a:latin typeface="Calibri Light"/>
              </a:defRPr>
            </a:pPr>
            <a:r>
              <a:t>85.3%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337560"/>
            <a:ext cx="4937760" cy="164592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3337560"/>
            <a:ext cx="4211909" cy="164592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7A8C"/>
                </a:solidFill>
                <a:latin typeface="Calibri"/>
              </a:defRPr>
            </a:pPr>
            <a:r>
              <a:t>World avg: 81.5%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2608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006EAF"/>
                </a:solidFill>
                <a:latin typeface="Calibri"/>
              </a:defRPr>
            </a:pPr>
            <a:r>
              <a:t>Best: Korea 96.7%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5794" y="3246120"/>
            <a:ext cx="25400" cy="347472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1474" y="3566160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E87D1E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828800"/>
            <a:ext cx="5486400" cy="21945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828800"/>
            <a:ext cx="548640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11680"/>
            <a:ext cx="27432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0889E"/>
                </a:solidFill>
                <a:latin typeface="Calibri"/>
              </a:defRPr>
            </a:pPr>
            <a:r>
              <a:t>NOT STUNTED RATE (EAP AVG)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286000"/>
            <a:ext cx="4572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7A7A8C"/>
                </a:solidFill>
                <a:latin typeface="Calibri"/>
              </a:defRPr>
            </a:pPr>
            <a:r>
              <a:t>Share of children under 5 not stunted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606040"/>
            <a:ext cx="22860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400" b="1">
                <a:solidFill>
                  <a:srgbClr val="00889E"/>
                </a:solidFill>
                <a:latin typeface="Calibri Light"/>
              </a:defRPr>
            </a:pPr>
            <a:r>
              <a:t>86.6%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92240" y="3337560"/>
            <a:ext cx="4937760" cy="164592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92240" y="3337560"/>
            <a:ext cx="4276100" cy="164592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0" y="265176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7A7A8C"/>
                </a:solidFill>
                <a:latin typeface="Calibri"/>
              </a:defRPr>
            </a:pPr>
            <a:r>
              <a:t>World avg: 77.1%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2926080"/>
            <a:ext cx="22860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0">
                <a:solidFill>
                  <a:srgbClr val="006EAF"/>
                </a:solidFill>
                <a:latin typeface="Calibri"/>
              </a:defRPr>
            </a:pPr>
            <a:r>
              <a:t>Best: Korea 99.1%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299252" y="3246120"/>
            <a:ext cx="25400" cy="347472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4932" y="3566160"/>
            <a:ext cx="10972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E87D1E"/>
                </a:solidFill>
                <a:latin typeface="Calibri"/>
              </a:defRPr>
            </a:pPr>
            <a:r>
              <a:t>World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297680"/>
            <a:ext cx="11247120" cy="19202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43484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HEALTH COMPONENT: REGIONAL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709160"/>
            <a:ext cx="1828800" cy="254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731520" y="4800600"/>
          <a:ext cx="10789920" cy="1234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Rectangle 3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Education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Avg: 118.1 / 180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7315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Education captures learning quality, years of schooling, pre-primary education, and tertiary enrollment.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97480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Expected Years</a:t>
            </a:r>
            <a:br/>
            <a:r>
              <a:t>of Schooling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6EAF"/>
                </a:solidFill>
                <a:latin typeface="Calibri Light"/>
              </a:defRPr>
            </a:pPr>
            <a:r>
              <a:t>10.8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years (EAP avg)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1869294" cy="109728"/>
          </a:xfrm>
          <a:prstGeom prst="round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10.1 yrs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Japan 12.0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828800"/>
            <a:ext cx="2697480" cy="50800"/>
          </a:xfrm>
          <a:prstGeom prst="rect">
            <a:avLst/>
          </a:prstGeom>
          <a:solidFill>
            <a:srgbClr val="00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Harmonized Learning</a:t>
            </a:r>
            <a:br/>
            <a:r>
              <a:t>Outcomes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5A9E"/>
                </a:solidFill>
                <a:latin typeface="Calibri Light"/>
              </a:defRPr>
            </a:pPr>
            <a:r>
              <a:t>436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HLO score (out of 625)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3520440"/>
            <a:ext cx="1690396" cy="109728"/>
          </a:xfrm>
          <a:prstGeom prst="roundRect">
            <a:avLst/>
          </a:prstGeom>
          <a:solidFill>
            <a:srgbClr val="005A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411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Singapore 594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1828800"/>
            <a:ext cx="269748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Pre-Primary</a:t>
            </a:r>
            <a:br/>
            <a:r>
              <a:t>Education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889E"/>
                </a:solidFill>
                <a:latin typeface="Calibri Light"/>
              </a:defRPr>
            </a:pPr>
            <a:r>
              <a:t>0.59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learning-adj. years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3520440"/>
            <a:ext cx="1429664" cy="109728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0.46 yrs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Singapore 0.91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828800"/>
            <a:ext cx="2697480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Tertiary</a:t>
            </a:r>
            <a:br/>
            <a:r>
              <a:t>Enrollment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E87D1E"/>
                </a:solidFill>
                <a:latin typeface="Calibri Light"/>
              </a:defRPr>
            </a:pPr>
            <a:r>
              <a:t>37.4%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gross enrollment rate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35440" y="3520440"/>
            <a:ext cx="906261" cy="109728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32.6%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Korea 76.9%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6858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EDUCATION COMPONENT: REGIONAL COMPARISON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74920"/>
            <a:ext cx="1828800" cy="254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731520" y="5120640"/>
          <a:ext cx="6400800" cy="960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ounded Rectangle 47"/>
          <p:cNvSpPr/>
          <p:nvPr/>
        </p:nvSpPr>
        <p:spPr>
          <a:xfrm>
            <a:off x="7589520" y="4709160"/>
            <a:ext cx="4114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89520" y="4709160"/>
            <a:ext cx="63500" cy="146304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480060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029200"/>
            <a:ext cx="3657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Education is EAP's strongest component, scoring 118.1 — well above the world average (107.4) and second only to Europe &amp; Central Asia (140.8). Singapore leads globally with an HLO of 594. EAP averages 10.8 expected years of schooling. Tertiary enrollment (37.4%) and pre-primary (0.59 years) remain areas for growth across the region.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Employment Component  |  East Asia &amp; Pacific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E87D1E"/>
                </a:solidFill>
                <a:latin typeface="Calibri"/>
              </a:defRPr>
            </a:pPr>
            <a:r>
              <a:t>Avg: 40.7 / 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7A7A8C"/>
                </a:solidFill>
                <a:latin typeface="Calibri"/>
              </a:defRPr>
            </a:pPr>
            <a:r>
              <a:t>Employment captures labor force participation, wage employment, and skill accumulation for youth (15–24) and working-age (25–65).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28800"/>
            <a:ext cx="2697480" cy="508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LFP Youth</a:t>
            </a:r>
            <a:br/>
            <a:r>
              <a:t>(15–24)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E87D1E"/>
                </a:solidFill>
                <a:latin typeface="Calibri Light"/>
              </a:defRPr>
            </a:pPr>
            <a:r>
              <a:t>60.0%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1453896" cy="109728"/>
          </a:xfrm>
          <a:prstGeom prst="round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48.2%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Nauru 79.7%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828800"/>
            <a:ext cx="2697480" cy="50800"/>
          </a:xfrm>
          <a:prstGeom prst="rect">
            <a:avLst/>
          </a:prstGeom>
          <a:solidFill>
            <a:srgbClr val="C06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Wage Emp.</a:t>
            </a:r>
            <a:br/>
            <a:r>
              <a:t>Youth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C06510"/>
                </a:solidFill>
                <a:latin typeface="Calibri Light"/>
              </a:defRPr>
            </a:pPr>
            <a:r>
              <a:t>75.2%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wage share of employment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3520440"/>
            <a:ext cx="1822216" cy="109728"/>
          </a:xfrm>
          <a:prstGeom prst="roundRect">
            <a:avLst/>
          </a:prstGeom>
          <a:solidFill>
            <a:srgbClr val="C06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55.1%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Japan 93.8%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1828800"/>
            <a:ext cx="2697480" cy="50800"/>
          </a:xfrm>
          <a:prstGeom prst="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LFP Working Age</a:t>
            </a:r>
            <a:br/>
            <a:r>
              <a:t>(25–65)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889E"/>
                </a:solidFill>
                <a:latin typeface="Calibri Light"/>
              </a:defRPr>
            </a:pPr>
            <a:r>
              <a:t>75.3%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EAP average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5508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355080" y="3520440"/>
            <a:ext cx="1824639" cy="109728"/>
          </a:xfrm>
          <a:prstGeom prst="roundRect">
            <a:avLst/>
          </a:prstGeom>
          <a:solidFill>
            <a:srgbClr val="008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72.6%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Palau 87.8%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80" y="1828800"/>
            <a:ext cx="2697480" cy="2651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98280" y="1828800"/>
            <a:ext cx="2697480" cy="508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2011680"/>
            <a:ext cx="24231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Calibri"/>
              </a:defRPr>
            </a:pPr>
            <a:r>
              <a:t>Wage Emp.</a:t>
            </a:r>
            <a:br/>
            <a:r>
              <a:t>Working 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35440" y="2560320"/>
            <a:ext cx="242316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006EAF"/>
                </a:solidFill>
                <a:latin typeface="Calibri Light"/>
              </a:defRPr>
            </a:pPr>
            <a:r>
              <a:t>71.0%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40" y="3200400"/>
            <a:ext cx="24231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wage share of employment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3520440"/>
            <a:ext cx="2423160" cy="109728"/>
          </a:xfrm>
          <a:prstGeom prst="roundRect">
            <a:avLst/>
          </a:prstGeom>
          <a:solidFill>
            <a:srgbClr val="E0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35440" y="3520440"/>
            <a:ext cx="1720443" cy="109728"/>
          </a:xfrm>
          <a:prstGeom prst="round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3749039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World: 59.8%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40" y="3931920"/>
            <a:ext cx="242316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1">
                <a:solidFill>
                  <a:srgbClr val="006EAF"/>
                </a:solidFill>
                <a:latin typeface="Calibri"/>
              </a:defRPr>
            </a:pPr>
            <a:r>
              <a:t>Best: Japan 92.4%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6858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4572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EMPLOYMENT COMPONENT: REGIONAL COMPARISON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074920"/>
            <a:ext cx="1828800" cy="2540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731520" y="5120640"/>
          <a:ext cx="6400800" cy="960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ounded Rectangle 47"/>
          <p:cNvSpPr/>
          <p:nvPr/>
        </p:nvSpPr>
        <p:spPr>
          <a:xfrm>
            <a:off x="7589520" y="4709160"/>
            <a:ext cx="41148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89520" y="4709160"/>
            <a:ext cx="63500" cy="1463040"/>
          </a:xfrm>
          <a:prstGeom prst="rect">
            <a:avLst/>
          </a:prstGeom>
          <a:solidFill>
            <a:srgbClr val="E87D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63840" y="480060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E87D1E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5029200"/>
            <a:ext cx="36576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EAP's employment score (40.7) ranks 3rd among regions and exceeds the world average (37.2). Youth LFP (60.0%) is notably high — well above the global average of 48.2%. Wage employment for working-age adults (71.0%) also surpasses the world average (59.8%). Japan leads in wage employment, while Palau and Nauru post strong labor force participation rates.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73152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defRPr sz="2400" b="1">
                <a:solidFill>
                  <a:srgbClr val="FFFFFF"/>
                </a:solidFill>
                <a:latin typeface="Calibri Light"/>
              </a:defRPr>
            </a:pPr>
            <a:r>
              <a:t>Gender Analysis  |  Male vs Female HCI+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37160"/>
            <a:ext cx="320040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defRPr sz="2200" b="1">
                <a:solidFill>
                  <a:srgbClr val="006EAF"/>
                </a:solidFill>
                <a:latin typeface="Calibri"/>
              </a:defRPr>
            </a:pPr>
            <a:r>
              <a:t>East Asia &amp; Pacific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822960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64008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7A7A8C"/>
                </a:solidFill>
                <a:latin typeface="Calibri"/>
              </a:defRPr>
            </a:pPr>
            <a:r>
              <a:t>MALE HCI+ vs FEMALE HCI+ BY ECONOMY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691640"/>
            <a:ext cx="2286000" cy="3810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Countries above the 45° line: Male HCI+ &gt; Female HCI+. Below: Female HCI+ &gt; Male HCI+.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1520" y="2011680"/>
          <a:ext cx="768096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018020" y="212994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JPN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6127" y="233202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SGP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18808" y="2444953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KOR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601" y="2439009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AUS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58" y="2670809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NZL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7089" y="268071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HKG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7678" y="290657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MAC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9476" y="364754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CHN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6553" y="371490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VNM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446" y="383377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MNG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8152" y="384566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BRN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9356" y="4045762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THA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65549" y="380405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7542" y="376245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FJI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2090" y="408538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IDN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4545" y="434492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PHL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72358" y="4396435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TON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4692" y="474512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TUV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58846" y="4630216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WSM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2532" y="4715408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KIR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60397" y="475899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MMR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30324" y="4901641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MHL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25040" y="5359298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E07B73"/>
                </a:solidFill>
                <a:latin typeface="Calibri"/>
              </a:defRPr>
            </a:pPr>
            <a:r>
              <a:t>KHM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91996" y="5103723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LAO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98016" y="5022494"/>
            <a:ext cx="54864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1">
                <a:solidFill>
                  <a:srgbClr val="6B8CA3"/>
                </a:solidFill>
                <a:latin typeface="Calibri"/>
              </a:defRPr>
            </a:pPr>
            <a:r>
              <a:t>VUT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0" y="1188720"/>
            <a:ext cx="2834640" cy="5303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61120" y="1188720"/>
            <a:ext cx="63500" cy="5303520"/>
          </a:xfrm>
          <a:prstGeom prst="rect">
            <a:avLst/>
          </a:prstGeom>
          <a:solidFill>
            <a:srgbClr val="006E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35440" y="137160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006EAF"/>
                </a:solidFill>
                <a:latin typeface="Calibri"/>
              </a:defRPr>
            </a:pPr>
            <a:r>
              <a:t>GENDER ANALYSIS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1737360"/>
            <a:ext cx="228600" cy="137160"/>
          </a:xfrm>
          <a:prstGeom prst="rect">
            <a:avLst/>
          </a:prstGeom>
          <a:solidFill>
            <a:srgbClr val="6B8C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55480" y="1709928"/>
            <a:ext cx="210312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Male HCI+ &gt; Female HCI+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35440" y="1965960"/>
            <a:ext cx="228600" cy="137160"/>
          </a:xfrm>
          <a:prstGeom prst="rect">
            <a:avLst/>
          </a:prstGeom>
          <a:solidFill>
            <a:srgbClr val="E07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55480" y="1938528"/>
            <a:ext cx="210312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A1A2E"/>
                </a:solidFill>
                <a:latin typeface="Calibri"/>
              </a:defRPr>
            </a:pPr>
            <a:r>
              <a:t>Female HCI+ ≥ Male HCI+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35440" y="2240280"/>
            <a:ext cx="2468880" cy="127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237744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26517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Above 45° 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5440" y="28803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15 economies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5440" y="3154680"/>
            <a:ext cx="24688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Male HCI+ exceeds Female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35440" y="33375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Below 45° 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5440" y="35661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10 economies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40480"/>
            <a:ext cx="246888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7A7A8C"/>
                </a:solidFill>
                <a:latin typeface="Calibri"/>
              </a:defRPr>
            </a:pPr>
            <a:r>
              <a:t>Female HCI+ exceeds Male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0233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Largest male</a:t>
            </a:r>
            <a:br/>
            <a:r>
              <a:t>advantage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5440" y="42519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Indonesia (+33.4)</a:t>
            </a:r>
            <a:br/>
            <a:r>
              <a:t>Fiji (+31.2)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35440" y="4709160"/>
            <a:ext cx="24688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7A7A8C"/>
                </a:solidFill>
                <a:latin typeface="Calibri"/>
              </a:defRPr>
            </a:pPr>
            <a:r>
              <a:t>Largest female</a:t>
            </a:r>
            <a:br/>
            <a:r>
              <a:t>advantage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440" y="493776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1A1A2E"/>
                </a:solidFill>
                <a:latin typeface="Calibri"/>
              </a:defRPr>
            </a:pPr>
            <a:r>
              <a:t>Cambodia (−22.2)</a:t>
            </a:r>
            <a:br/>
            <a:r>
              <a:t>Thailand (−16.4)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5394960"/>
            <a:ext cx="2468880" cy="12700"/>
          </a:xfrm>
          <a:prstGeom prst="rect">
            <a:avLst/>
          </a:prstGeom>
          <a:solidFill>
            <a:srgbClr val="D0D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35440" y="553212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000" b="1">
                <a:solidFill>
                  <a:srgbClr val="006EAF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35440" y="5806440"/>
            <a:ext cx="24688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Most EAP economies show higher male HCI+, driven largely by employment gaps. However, several countries — notably Cambodia, Thailand, China, and Vietnam — show female advantage, reflecting higher female education outcomes and labor force participation in these economies.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002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6464808"/>
            <a:ext cx="54864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AABBCC"/>
                </a:solidFill>
                <a:latin typeface="Calibri"/>
              </a:defRPr>
            </a:pPr>
            <a:r>
              <a:t>Source: World Bank Human Capital Index Plus (HCI+) 2025  |  github.com/worldbank/HCI-Plus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6464808"/>
            <a:ext cx="2286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00889E"/>
                </a:solidFill>
                <a:latin typeface="Calibri"/>
              </a:defRPr>
            </a:pPr>
            <a:r>
              <a:t>humancapital.worldbank.org/hciplus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21440" y="6464808"/>
            <a:ext cx="457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8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