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Other Regions</c:v>
                </c:pt>
              </c:strCache>
            </c:strRef>
          </c:tx>
          <c:spPr>
            <a:solidFill>
              <a:srgbClr val="CCCCCC">
                <a:alpha val="40000"/>
              </a:srgbClr>
            </a:solidFill>
          </c:spPr>
          <c:invertIfNegative val="0"/>
          <c:xVal>
            <c:numRef>
              <c:f>Sheet1!$A$2:$A$39</c:f>
              <c:numCache>
                <c:formatCode>General</c:formatCode>
                <c:ptCount val="38"/>
                <c:pt idx="0">
                  <c:v>8.64</c:v>
                </c:pt>
                <c:pt idx="1">
                  <c:v>9.52</c:v>
                </c:pt>
                <c:pt idx="2">
                  <c:v>8.67</c:v>
                </c:pt>
                <c:pt idx="3">
                  <c:v>7.97</c:v>
                </c:pt>
                <c:pt idx="4">
                  <c:v>8.86</c:v>
                </c:pt>
                <c:pt idx="5">
                  <c:v>8.09</c:v>
                </c:pt>
                <c:pt idx="6">
                  <c:v>7.97</c:v>
                </c:pt>
                <c:pt idx="7">
                  <c:v>8.22</c:v>
                </c:pt>
                <c:pt idx="8">
                  <c:v>10.22</c:v>
                </c:pt>
                <c:pt idx="9">
                  <c:v>8.41</c:v>
                </c:pt>
                <c:pt idx="10">
                  <c:v>9.8</c:v>
                </c:pt>
                <c:pt idx="11">
                  <c:v>11.05</c:v>
                </c:pt>
                <c:pt idx="12">
                  <c:v>10.91</c:v>
                </c:pt>
                <c:pt idx="13">
                  <c:v>11.05</c:v>
                </c:pt>
                <c:pt idx="14">
                  <c:v>10.72</c:v>
                </c:pt>
                <c:pt idx="15">
                  <c:v>11.17</c:v>
                </c:pt>
                <c:pt idx="16">
                  <c:v>10.32</c:v>
                </c:pt>
                <c:pt idx="17">
                  <c:v>9.85</c:v>
                </c:pt>
                <c:pt idx="18">
                  <c:v>8.86</c:v>
                </c:pt>
                <c:pt idx="19">
                  <c:v>10.4</c:v>
                </c:pt>
                <c:pt idx="20">
                  <c:v>9.73</c:v>
                </c:pt>
                <c:pt idx="21">
                  <c:v>10.32</c:v>
                </c:pt>
                <c:pt idx="22">
                  <c:v>9.89</c:v>
                </c:pt>
                <c:pt idx="23">
                  <c:v>10.0</c:v>
                </c:pt>
                <c:pt idx="24">
                  <c:v>9.83</c:v>
                </c:pt>
                <c:pt idx="25">
                  <c:v>10.1</c:v>
                </c:pt>
                <c:pt idx="26">
                  <c:v>9.24</c:v>
                </c:pt>
                <c:pt idx="27">
                  <c:v>8.94</c:v>
                </c:pt>
                <c:pt idx="28">
                  <c:v>9.19</c:v>
                </c:pt>
                <c:pt idx="29">
                  <c:v>9.05</c:v>
                </c:pt>
                <c:pt idx="30">
                  <c:v>9.73</c:v>
                </c:pt>
                <c:pt idx="31">
                  <c:v>8.47</c:v>
                </c:pt>
                <c:pt idx="32">
                  <c:v>9.16</c:v>
                </c:pt>
                <c:pt idx="33">
                  <c:v>9.73</c:v>
                </c:pt>
                <c:pt idx="34">
                  <c:v>9.11</c:v>
                </c:pt>
                <c:pt idx="35">
                  <c:v>10.17</c:v>
                </c:pt>
                <c:pt idx="36">
                  <c:v>11.2</c:v>
                </c:pt>
                <c:pt idx="37">
                  <c:v>10.98</c:v>
                </c:pt>
              </c:numCache>
            </c:numRef>
          </c:xVal>
          <c:yVal>
            <c:numRef>
              <c:f>Sheet1!$B$2:$B$39</c:f>
              <c:numCache>
                <c:formatCode>General</c:formatCode>
                <c:ptCount val="38"/>
                <c:pt idx="0">
                  <c:v>130.7</c:v>
                </c:pt>
                <c:pt idx="1">
                  <c:v>132.1</c:v>
                </c:pt>
                <c:pt idx="2">
                  <c:v>170.8</c:v>
                </c:pt>
                <c:pt idx="3">
                  <c:v>123.4</c:v>
                </c:pt>
                <c:pt idx="4">
                  <c:v>152.9</c:v>
                </c:pt>
                <c:pt idx="5">
                  <c:v>156.9</c:v>
                </c:pt>
                <c:pt idx="6">
                  <c:v>145.2</c:v>
                </c:pt>
                <c:pt idx="7">
                  <c:v>132.6</c:v>
                </c:pt>
                <c:pt idx="8">
                  <c:v>201.0</c:v>
                </c:pt>
                <c:pt idx="9">
                  <c:v>109.4</c:v>
                </c:pt>
                <c:pt idx="10">
                  <c:v>156.9</c:v>
                </c:pt>
                <c:pt idx="11">
                  <c:v>256.5</c:v>
                </c:pt>
                <c:pt idx="12">
                  <c:v>251.2</c:v>
                </c:pt>
                <c:pt idx="13">
                  <c:v>269.3</c:v>
                </c:pt>
                <c:pt idx="14">
                  <c:v>259.5</c:v>
                </c:pt>
                <c:pt idx="15">
                  <c:v>269.7</c:v>
                </c:pt>
                <c:pt idx="16">
                  <c:v>210.5</c:v>
                </c:pt>
                <c:pt idx="17">
                  <c:v>203.5</c:v>
                </c:pt>
                <c:pt idx="18">
                  <c:v>197.5</c:v>
                </c:pt>
                <c:pt idx="19">
                  <c:v>221.3</c:v>
                </c:pt>
                <c:pt idx="20">
                  <c:v>204.7</c:v>
                </c:pt>
                <c:pt idx="21">
                  <c:v>226.2</c:v>
                </c:pt>
                <c:pt idx="22">
                  <c:v>202.9</c:v>
                </c:pt>
                <c:pt idx="23">
                  <c:v>193.5</c:v>
                </c:pt>
                <c:pt idx="24">
                  <c:v>197.6</c:v>
                </c:pt>
                <c:pt idx="25">
                  <c:v>205.3</c:v>
                </c:pt>
                <c:pt idx="26">
                  <c:v>200.1</c:v>
                </c:pt>
                <c:pt idx="27">
                  <c:v>178.1</c:v>
                </c:pt>
                <c:pt idx="28">
                  <c:v>158.8</c:v>
                </c:pt>
                <c:pt idx="29">
                  <c:v>146.7</c:v>
                </c:pt>
                <c:pt idx="30">
                  <c:v>182.6</c:v>
                </c:pt>
                <c:pt idx="31">
                  <c:v>99.3</c:v>
                </c:pt>
                <c:pt idx="32">
                  <c:v>170.2</c:v>
                </c:pt>
                <c:pt idx="33">
                  <c:v>161.2</c:v>
                </c:pt>
                <c:pt idx="34">
                  <c:v>147.1</c:v>
                </c:pt>
                <c:pt idx="35">
                  <c:v>196.3</c:v>
                </c:pt>
                <c:pt idx="36">
                  <c:v>251.2</c:v>
                </c:pt>
                <c:pt idx="37">
                  <c:v>257.3</c:v>
                </c:pt>
              </c:numCache>
            </c:numRef>
          </c:yVal>
          <c:bubbleSize>
            <c:numRef>
              <c:f>Sheet1!$C$2:$C$39</c:f>
              <c:numCache>
                <c:formatCode>General</c:formatCode>
                <c:ptCount val="38"/>
                <c:pt idx="0">
                  <c:v>0.3</c:v>
                </c:pt>
                <c:pt idx="1">
                  <c:v>0.3</c:v>
                </c:pt>
                <c:pt idx="2">
                  <c:v>0.3</c:v>
                </c:pt>
                <c:pt idx="3">
                  <c:v>0.3</c:v>
                </c:pt>
                <c:pt idx="4">
                  <c:v>0.3</c:v>
                </c:pt>
                <c:pt idx="5">
                  <c:v>0.3</c:v>
                </c:pt>
                <c:pt idx="6">
                  <c:v>0.3</c:v>
                </c:pt>
                <c:pt idx="7">
                  <c:v>0.3</c:v>
                </c:pt>
                <c:pt idx="8">
                  <c:v>0.3</c:v>
                </c:pt>
                <c:pt idx="9">
                  <c:v>0.3</c:v>
                </c:pt>
                <c:pt idx="10">
                  <c:v>0.3</c:v>
                </c:pt>
                <c:pt idx="11">
                  <c:v>0.3</c:v>
                </c:pt>
                <c:pt idx="12">
                  <c:v>0.3</c:v>
                </c:pt>
                <c:pt idx="13">
                  <c:v>0.3</c:v>
                </c:pt>
                <c:pt idx="14">
                  <c:v>0.3</c:v>
                </c:pt>
                <c:pt idx="15">
                  <c:v>0.3</c:v>
                </c:pt>
                <c:pt idx="16">
                  <c:v>0.3</c:v>
                </c:pt>
                <c:pt idx="17">
                  <c:v>0.3</c:v>
                </c:pt>
                <c:pt idx="18">
                  <c:v>0.3</c:v>
                </c:pt>
                <c:pt idx="19">
                  <c:v>0.3</c:v>
                </c:pt>
                <c:pt idx="20">
                  <c:v>0.3</c:v>
                </c:pt>
                <c:pt idx="21">
                  <c:v>0.3</c:v>
                </c:pt>
                <c:pt idx="22">
                  <c:v>0.3</c:v>
                </c:pt>
                <c:pt idx="23">
                  <c:v>0.3</c:v>
                </c:pt>
                <c:pt idx="24">
                  <c:v>0.3</c:v>
                </c:pt>
                <c:pt idx="25">
                  <c:v>0.3</c:v>
                </c:pt>
                <c:pt idx="26">
                  <c:v>0.3</c:v>
                </c:pt>
                <c:pt idx="27">
                  <c:v>0.3</c:v>
                </c:pt>
                <c:pt idx="28">
                  <c:v>0.3</c:v>
                </c:pt>
                <c:pt idx="29">
                  <c:v>0.3</c:v>
                </c:pt>
                <c:pt idx="30">
                  <c:v>0.3</c:v>
                </c:pt>
                <c:pt idx="31">
                  <c:v>0.3</c:v>
                </c:pt>
                <c:pt idx="32">
                  <c:v>0.3</c:v>
                </c:pt>
                <c:pt idx="33">
                  <c:v>0.3</c:v>
                </c:pt>
                <c:pt idx="34">
                  <c:v>0.3</c:v>
                </c:pt>
                <c:pt idx="35">
                  <c:v>0.3</c:v>
                </c:pt>
                <c:pt idx="36">
                  <c:v>0.3</c:v>
                </c:pt>
                <c:pt idx="37">
                  <c:v>0.3</c:v>
                </c:pt>
              </c:numCache>
            </c:numRef>
          </c:bubbleSize>
          <c:bubble3D val="0"/>
        </c:ser>
        <c:ser>
          <c:idx val="1"/>
          <c:order val="1"/>
          <c:tx>
            <c:strRef>
              <c:f>Sheet1!$B$41</c:f>
              <c:strCache>
                <c:ptCount val="1"/>
                <c:pt idx="0">
                  <c:v>East Asia &amp; Pacific</c:v>
                </c:pt>
              </c:strCache>
            </c:strRef>
          </c:tx>
          <c:spPr>
            <a:solidFill>
              <a:srgbClr val="2171B5"/>
            </a:solidFill>
          </c:spPr>
          <c:invertIfNegative val="0"/>
          <c:xVal>
            <c:numRef>
              <c:f>Sheet1!$A$42:$A$64</c:f>
              <c:numCache>
                <c:formatCode>General</c:formatCode>
                <c:ptCount val="23"/>
                <c:pt idx="0">
                  <c:v>10.74</c:v>
                </c:pt>
                <c:pt idx="1">
                  <c:v>11.79</c:v>
                </c:pt>
                <c:pt idx="2">
                  <c:v>10.83</c:v>
                </c:pt>
                <c:pt idx="3">
                  <c:v>11.0</c:v>
                </c:pt>
                <c:pt idx="4">
                  <c:v>10.78</c:v>
                </c:pt>
                <c:pt idx="5">
                  <c:v>11.1</c:v>
                </c:pt>
                <c:pt idx="6">
                  <c:v>11.63</c:v>
                </c:pt>
                <c:pt idx="7">
                  <c:v>10.08</c:v>
                </c:pt>
                <c:pt idx="8">
                  <c:v>9.58</c:v>
                </c:pt>
                <c:pt idx="9">
                  <c:v>9.73</c:v>
                </c:pt>
                <c:pt idx="10">
                  <c:v>11.28</c:v>
                </c:pt>
                <c:pt idx="11">
                  <c:v>9.99</c:v>
                </c:pt>
                <c:pt idx="12">
                  <c:v>10.44</c:v>
                </c:pt>
                <c:pt idx="13">
                  <c:v>9.55</c:v>
                </c:pt>
                <c:pt idx="14">
                  <c:v>9.58</c:v>
                </c:pt>
                <c:pt idx="15">
                  <c:v>9.25</c:v>
                </c:pt>
                <c:pt idx="16">
                  <c:v>8.86</c:v>
                </c:pt>
                <c:pt idx="17">
                  <c:v>8.67</c:v>
                </c:pt>
                <c:pt idx="18">
                  <c:v>8.09</c:v>
                </c:pt>
                <c:pt idx="19">
                  <c:v>8.57</c:v>
                </c:pt>
                <c:pt idx="20">
                  <c:v>8.86</c:v>
                </c:pt>
                <c:pt idx="21">
                  <c:v>9.06</c:v>
                </c:pt>
                <c:pt idx="22">
                  <c:v>8.06</c:v>
                </c:pt>
              </c:numCache>
            </c:numRef>
          </c:xVal>
          <c:yVal>
            <c:numRef>
              <c:f>Sheet1!$B$42:$B$64</c:f>
              <c:numCache>
                <c:formatCode>General</c:formatCode>
                <c:ptCount val="23"/>
                <c:pt idx="0">
                  <c:v>284.3</c:v>
                </c:pt>
                <c:pt idx="1">
                  <c:v>282.4</c:v>
                </c:pt>
                <c:pt idx="2">
                  <c:v>266.9</c:v>
                </c:pt>
                <c:pt idx="3">
                  <c:v>270.0</c:v>
                </c:pt>
                <c:pt idx="4">
                  <c:v>263.1</c:v>
                </c:pt>
                <c:pt idx="5">
                  <c:v>258.4</c:v>
                </c:pt>
                <c:pt idx="6">
                  <c:v>255.9</c:v>
                </c:pt>
                <c:pt idx="7">
                  <c:v>219.8</c:v>
                </c:pt>
                <c:pt idx="8">
                  <c:v>215.8</c:v>
                </c:pt>
                <c:pt idx="9">
                  <c:v>209.5</c:v>
                </c:pt>
                <c:pt idx="10">
                  <c:v>207.6</c:v>
                </c:pt>
                <c:pt idx="11">
                  <c:v>202.3</c:v>
                </c:pt>
                <c:pt idx="12">
                  <c:v>201.3</c:v>
                </c:pt>
                <c:pt idx="13">
                  <c:v>192.8</c:v>
                </c:pt>
                <c:pt idx="14">
                  <c:v>175.4</c:v>
                </c:pt>
                <c:pt idx="15">
                  <c:v>175.4</c:v>
                </c:pt>
                <c:pt idx="16">
                  <c:v>175.8</c:v>
                </c:pt>
                <c:pt idx="17">
                  <c:v>166.1</c:v>
                </c:pt>
                <c:pt idx="18">
                  <c:v>161.9</c:v>
                </c:pt>
                <c:pt idx="19">
                  <c:v>149.2</c:v>
                </c:pt>
                <c:pt idx="20">
                  <c:v>138.9</c:v>
                </c:pt>
                <c:pt idx="21">
                  <c:v>135.6</c:v>
                </c:pt>
                <c:pt idx="22">
                  <c:v>136.4</c:v>
                </c:pt>
              </c:numCache>
            </c:numRef>
          </c:yVal>
          <c:bubbleSize>
            <c:numRef>
              <c:f>Sheet1!$C$42:$C$64</c:f>
              <c:numCache>
                <c:formatCode>General</c:formatCode>
                <c:ptCount val="23"/>
                <c:pt idx="0">
                  <c:v>0.3</c:v>
                </c:pt>
                <c:pt idx="1">
                  <c:v>0.3</c:v>
                </c:pt>
                <c:pt idx="2">
                  <c:v>0.3</c:v>
                </c:pt>
                <c:pt idx="3">
                  <c:v>0.3</c:v>
                </c:pt>
                <c:pt idx="4">
                  <c:v>0.3</c:v>
                </c:pt>
                <c:pt idx="5">
                  <c:v>0.3</c:v>
                </c:pt>
                <c:pt idx="6">
                  <c:v>0.3</c:v>
                </c:pt>
                <c:pt idx="7">
                  <c:v>0.3</c:v>
                </c:pt>
                <c:pt idx="8">
                  <c:v>0.3</c:v>
                </c:pt>
                <c:pt idx="9">
                  <c:v>0.3</c:v>
                </c:pt>
                <c:pt idx="10">
                  <c:v>0.3</c:v>
                </c:pt>
                <c:pt idx="11">
                  <c:v>0.3</c:v>
                </c:pt>
                <c:pt idx="12">
                  <c:v>0.3</c:v>
                </c:pt>
                <c:pt idx="13">
                  <c:v>0.3</c:v>
                </c:pt>
                <c:pt idx="14">
                  <c:v>0.3</c:v>
                </c:pt>
                <c:pt idx="15">
                  <c:v>0.3</c:v>
                </c:pt>
                <c:pt idx="16">
                  <c:v>0.3</c:v>
                </c:pt>
                <c:pt idx="17">
                  <c:v>0.3</c:v>
                </c:pt>
                <c:pt idx="18">
                  <c:v>0.3</c:v>
                </c:pt>
                <c:pt idx="19">
                  <c:v>0.3</c:v>
                </c:pt>
                <c:pt idx="20">
                  <c:v>0.3</c:v>
                </c:pt>
                <c:pt idx="21">
                  <c:v>0.3</c:v>
                </c:pt>
                <c:pt idx="22">
                  <c:v>0.3</c:v>
                </c:pt>
              </c:numCache>
            </c:numRef>
          </c:bubbleSize>
          <c:bubble3D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5"/>
        <c:showNegBubbles val="0"/>
        <c:axId val="-2115720072"/>
        <c:axId val="-2115723560"/>
      </c:bubbleChart>
      <c:valAx>
        <c:axId val="-2115720072"/>
        <c:scaling>
          <c:orientation val="minMax"/>
          <c:max val="12.0"/>
          <c:min val="7.5"/>
        </c:scaling>
        <c:delete val="0"/>
        <c:axPos val="b"/>
        <c:title>
          <c:tx>
            <c:rich>
              <a:bodyPr/>
              <a:lstStyle/>
              <a:p>
                <a:pPr>
                  <a:defRPr sz="1000">
                    <a:latin typeface="Calibri"/>
                  </a:defRPr>
                </a:pPr>
                <a:r>
                  <a:t>Log GDP per Capita (PPP)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5723560"/>
        <c:crosses val="autoZero"/>
        <c:crossBetween val="midCat"/>
      </c:valAx>
      <c:valAx>
        <c:axId val="-2115723560"/>
        <c:scaling>
          <c:orientation val="minMax"/>
          <c:max val="310.0"/>
          <c:min val="60.0"/>
        </c:scaling>
        <c:delete val="0"/>
        <c:axPos val="l"/>
        <c:majorGridlines>
          <c:spPr>
            <a:ln>
              <a:solidFill>
                <a:srgbClr val="EEEEEE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000">
                    <a:latin typeface="Calibri"/>
                  </a:defRPr>
                </a:pPr>
                <a:r>
                  <a:t>HCI+ Score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5720072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Health</c:v>
                </c:pt>
              </c:strCache>
            </c:strRef>
          </c:tx>
          <c:spPr>
            <a:solidFill>
              <a:srgbClr val="2B4C7E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900" b="1"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SSA</c:v>
                </c:pt>
                <c:pt idx="1">
                  <c:v>SAR</c:v>
                </c:pt>
                <c:pt idx="2">
                  <c:v>LAC</c:v>
                </c:pt>
                <c:pt idx="3">
                  <c:v>MENA+</c:v>
                </c:pt>
                <c:pt idx="4">
                  <c:v>EAP</c:v>
                </c:pt>
                <c:pt idx="5">
                  <c:v>ECA</c:v>
                </c:pt>
                <c:pt idx="6">
                  <c:v>World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37.3</c:v>
                </c:pt>
                <c:pt idx="1">
                  <c:v>41.0</c:v>
                </c:pt>
                <c:pt idx="2">
                  <c:v>43.4</c:v>
                </c:pt>
                <c:pt idx="3">
                  <c:v>44.9</c:v>
                </c:pt>
                <c:pt idx="4">
                  <c:v>42.8</c:v>
                </c:pt>
                <c:pt idx="5">
                  <c:v>45.9</c:v>
                </c:pt>
                <c:pt idx="6">
                  <c:v>42.6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Education</c:v>
                </c:pt>
              </c:strCache>
            </c:strRef>
          </c:tx>
          <c:spPr>
            <a:solidFill>
              <a:srgbClr val="D4533B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900" b="1"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SSA</c:v>
                </c:pt>
                <c:pt idx="1">
                  <c:v>SAR</c:v>
                </c:pt>
                <c:pt idx="2">
                  <c:v>LAC</c:v>
                </c:pt>
                <c:pt idx="3">
                  <c:v>MENA+</c:v>
                </c:pt>
                <c:pt idx="4">
                  <c:v>EAP</c:v>
                </c:pt>
                <c:pt idx="5">
                  <c:v>ECA</c:v>
                </c:pt>
                <c:pt idx="6">
                  <c:v>World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64.1</c:v>
                </c:pt>
                <c:pt idx="1">
                  <c:v>83.0</c:v>
                </c:pt>
                <c:pt idx="2">
                  <c:v>98.3</c:v>
                </c:pt>
                <c:pt idx="3">
                  <c:v>105.8</c:v>
                </c:pt>
                <c:pt idx="4">
                  <c:v>118.1</c:v>
                </c:pt>
                <c:pt idx="5">
                  <c:v>140.8</c:v>
                </c:pt>
                <c:pt idx="6">
                  <c:v>107.4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Employment</c:v>
                </c:pt>
              </c:strCache>
            </c:strRef>
          </c:tx>
          <c:spPr>
            <a:solidFill>
              <a:srgbClr val="4E9A51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900" b="1"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SSA</c:v>
                </c:pt>
                <c:pt idx="1">
                  <c:v>SAR</c:v>
                </c:pt>
                <c:pt idx="2">
                  <c:v>LAC</c:v>
                </c:pt>
                <c:pt idx="3">
                  <c:v>MENA+</c:v>
                </c:pt>
                <c:pt idx="4">
                  <c:v>EAP</c:v>
                </c:pt>
                <c:pt idx="5">
                  <c:v>ECA</c:v>
                </c:pt>
                <c:pt idx="6">
                  <c:v>World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26.9</c:v>
                </c:pt>
                <c:pt idx="1">
                  <c:v>23.4</c:v>
                </c:pt>
                <c:pt idx="2">
                  <c:v>41.5</c:v>
                </c:pt>
                <c:pt idx="3">
                  <c:v>35.0</c:v>
                </c:pt>
                <c:pt idx="4">
                  <c:v>40.7</c:v>
                </c:pt>
                <c:pt idx="5">
                  <c:v>46.6</c:v>
                </c:pt>
                <c:pt idx="6">
                  <c:v>37.2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80.0"/>
        </c:scaling>
        <c:delete val="0"/>
        <c:axPos val="b"/>
        <c:majorGridlines>
          <c:spPr>
            <a:ln>
              <a:solidFill>
                <a:srgbClr val="EEEE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Health Score</c:v>
                </c:pt>
              </c:strCache>
            </c:strRef>
          </c:tx>
          <c:spPr>
            <a:solidFill>
              <a:srgbClr val="9E9E9E"/>
            </a:solidFill>
          </c:spPr>
          <c:dPt>
            <c:idx val="2"/>
            <c:spPr>
              <a:solidFill>
                <a:srgbClr val="2171B5"/>
              </a:solidFill>
            </c:spPr>
          </c:dPt>
          <c:dPt>
            <c:idx val="6"/>
            <c:spPr>
              <a:solidFill>
                <a:srgbClr val="9E1B34"/>
              </a:solidFill>
            </c:spPr>
          </c:dPt>
          <c:dLbls>
            <c:numFmt formatCode="0.0" sourceLinked="0"/>
            <c:txPr>
              <a:bodyPr/>
              <a:lstStyle/>
              <a:p>
                <a:pPr>
                  <a:defRPr sz="1400" b="1"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SSA</c:v>
                </c:pt>
                <c:pt idx="1">
                  <c:v>SAR</c:v>
                </c:pt>
                <c:pt idx="2">
                  <c:v>EAP</c:v>
                </c:pt>
                <c:pt idx="3">
                  <c:v>LAC</c:v>
                </c:pt>
                <c:pt idx="4">
                  <c:v>MENA+</c:v>
                </c:pt>
                <c:pt idx="5">
                  <c:v>ECA</c:v>
                </c:pt>
                <c:pt idx="6">
                  <c:v>World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37.3</c:v>
                </c:pt>
                <c:pt idx="1">
                  <c:v>41.0</c:v>
                </c:pt>
                <c:pt idx="2">
                  <c:v>42.8</c:v>
                </c:pt>
                <c:pt idx="3">
                  <c:v>43.4</c:v>
                </c:pt>
                <c:pt idx="4">
                  <c:v>44.9</c:v>
                </c:pt>
                <c:pt idx="5">
                  <c:v>45.9</c:v>
                </c:pt>
                <c:pt idx="6">
                  <c:v>42.6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Education Score</c:v>
                </c:pt>
              </c:strCache>
            </c:strRef>
          </c:tx>
          <c:spPr>
            <a:solidFill>
              <a:srgbClr val="9E9E9E"/>
            </a:solidFill>
          </c:spPr>
          <c:dPt>
            <c:idx val="4"/>
            <c:spPr>
              <a:solidFill>
                <a:srgbClr val="2171B5"/>
              </a:solidFill>
            </c:spPr>
          </c:dPt>
          <c:dPt>
            <c:idx val="6"/>
            <c:spPr>
              <a:solidFill>
                <a:srgbClr val="9E1B34"/>
              </a:solidFill>
            </c:spPr>
          </c:dPt>
          <c:dLbls>
            <c:numFmt formatCode="0.0" sourceLinked="0"/>
            <c:txPr>
              <a:bodyPr/>
              <a:lstStyle/>
              <a:p>
                <a:pPr>
                  <a:defRPr sz="1400" b="1"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SSA</c:v>
                </c:pt>
                <c:pt idx="1">
                  <c:v>SAR</c:v>
                </c:pt>
                <c:pt idx="2">
                  <c:v>LAC</c:v>
                </c:pt>
                <c:pt idx="3">
                  <c:v>MENA+</c:v>
                </c:pt>
                <c:pt idx="4">
                  <c:v>EAP</c:v>
                </c:pt>
                <c:pt idx="5">
                  <c:v>ECA</c:v>
                </c:pt>
                <c:pt idx="6">
                  <c:v>World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64.1</c:v>
                </c:pt>
                <c:pt idx="1">
                  <c:v>83.0</c:v>
                </c:pt>
                <c:pt idx="2">
                  <c:v>98.3</c:v>
                </c:pt>
                <c:pt idx="3">
                  <c:v>105.8</c:v>
                </c:pt>
                <c:pt idx="4">
                  <c:v>118.1</c:v>
                </c:pt>
                <c:pt idx="5">
                  <c:v>140.8</c:v>
                </c:pt>
                <c:pt idx="6">
                  <c:v>107.4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Employment Score</c:v>
                </c:pt>
              </c:strCache>
            </c:strRef>
          </c:tx>
          <c:spPr>
            <a:solidFill>
              <a:srgbClr val="9E9E9E"/>
            </a:solidFill>
          </c:spPr>
          <c:dPt>
            <c:idx val="4"/>
            <c:spPr>
              <a:solidFill>
                <a:srgbClr val="2171B5"/>
              </a:solidFill>
            </c:spPr>
          </c:dPt>
          <c:dPt>
            <c:idx val="3"/>
            <c:spPr>
              <a:solidFill>
                <a:srgbClr val="9E1B34"/>
              </a:solidFill>
            </c:spPr>
          </c:dPt>
          <c:dLbls>
            <c:numFmt formatCode="0.0" sourceLinked="0"/>
            <c:txPr>
              <a:bodyPr/>
              <a:lstStyle/>
              <a:p>
                <a:pPr>
                  <a:defRPr sz="1400" b="1"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SAR</c:v>
                </c:pt>
                <c:pt idx="1">
                  <c:v>SSA</c:v>
                </c:pt>
                <c:pt idx="2">
                  <c:v>MENA+</c:v>
                </c:pt>
                <c:pt idx="3">
                  <c:v>World</c:v>
                </c:pt>
                <c:pt idx="4">
                  <c:v>EAP</c:v>
                </c:pt>
                <c:pt idx="5">
                  <c:v>LAC</c:v>
                </c:pt>
                <c:pt idx="6">
                  <c:v>ECA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23.4</c:v>
                </c:pt>
                <c:pt idx="1">
                  <c:v>26.9</c:v>
                </c:pt>
                <c:pt idx="2">
                  <c:v>35.0</c:v>
                </c:pt>
                <c:pt idx="3">
                  <c:v>37.2</c:v>
                </c:pt>
                <c:pt idx="4">
                  <c:v>40.7</c:v>
                </c:pt>
                <c:pt idx="5">
                  <c:v>41.5</c:v>
                </c:pt>
                <c:pt idx="6">
                  <c:v>46.6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HCI+ Score</c:v>
                </c:pt>
              </c:strCache>
            </c:strRef>
          </c:tx>
          <c:spPr>
            <a:solidFill>
              <a:srgbClr val="7EBDC2"/>
            </a:solidFill>
          </c:spPr>
          <c:dPt>
            <c:idx val="0"/>
            <c:spPr>
              <a:solidFill>
                <a:srgbClr val="E8A09A"/>
              </a:solidFill>
            </c:spPr>
          </c:dPt>
          <c:dPt>
            <c:idx val="1"/>
            <c:spPr>
              <a:solidFill>
                <a:srgbClr val="E8A09A"/>
              </a:solidFill>
            </c:spPr>
          </c:dPt>
          <c:dPt>
            <c:idx val="2"/>
            <c:spPr>
              <a:solidFill>
                <a:srgbClr val="E8A09A"/>
              </a:solidFill>
            </c:spPr>
          </c:dPt>
          <c:dPt>
            <c:idx val="3"/>
            <c:spPr>
              <a:solidFill>
                <a:srgbClr val="E8A09A"/>
              </a:solidFill>
            </c:spPr>
          </c:dPt>
          <c:dPt>
            <c:idx val="4"/>
            <c:spPr>
              <a:solidFill>
                <a:srgbClr val="E8A09A"/>
              </a:solidFill>
            </c:spPr>
          </c:dPt>
          <c:dPt>
            <c:idx val="5"/>
            <c:spPr>
              <a:solidFill>
                <a:srgbClr val="E8A09A"/>
              </a:solidFill>
            </c:spPr>
          </c:dPt>
          <c:dPt>
            <c:idx val="6"/>
            <c:spPr>
              <a:solidFill>
                <a:srgbClr val="E8A09A"/>
              </a:solidFill>
            </c:spPr>
          </c:dPt>
          <c:dPt>
            <c:idx val="7"/>
            <c:spPr>
              <a:solidFill>
                <a:srgbClr val="E8A09A"/>
              </a:solidFill>
            </c:spPr>
          </c:dPt>
          <c:dPt>
            <c:idx val="8"/>
            <c:spPr>
              <a:solidFill>
                <a:srgbClr val="E8A09A"/>
              </a:solidFill>
            </c:spPr>
          </c:dPt>
          <c:dPt>
            <c:idx val="9"/>
            <c:spPr>
              <a:solidFill>
                <a:srgbClr val="E8A09A"/>
              </a:solidFill>
            </c:spPr>
          </c:dPt>
          <c:dPt>
            <c:idx val="10"/>
            <c:spPr>
              <a:solidFill>
                <a:srgbClr val="E8A09A"/>
              </a:solidFill>
            </c:spPr>
          </c:dPt>
          <c:dPt>
            <c:idx val="11"/>
            <c:spPr>
              <a:solidFill>
                <a:srgbClr val="E8A09A"/>
              </a:solidFill>
            </c:spPr>
          </c:dPt>
          <c:dLbls>
            <c:numFmt formatCode="0.0" sourceLinked="0"/>
            <c:txPr>
              <a:bodyPr/>
              <a:lstStyle/>
              <a:p>
                <a:pPr>
                  <a:defRPr sz="600" b="1"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LAO</c:v>
                </c:pt>
                <c:pt idx="1">
                  <c:v>VUT</c:v>
                </c:pt>
                <c:pt idx="2">
                  <c:v>KHM</c:v>
                </c:pt>
                <c:pt idx="3">
                  <c:v>MHL</c:v>
                </c:pt>
                <c:pt idx="4">
                  <c:v>MMR</c:v>
                </c:pt>
                <c:pt idx="5">
                  <c:v>NRU</c:v>
                </c:pt>
                <c:pt idx="6">
                  <c:v>KIR</c:v>
                </c:pt>
                <c:pt idx="7">
                  <c:v>WSM</c:v>
                </c:pt>
                <c:pt idx="8">
                  <c:v>TUV</c:v>
                </c:pt>
                <c:pt idx="9">
                  <c:v>TON</c:v>
                </c:pt>
                <c:pt idx="10">
                  <c:v>IDN</c:v>
                </c:pt>
                <c:pt idx="11">
                  <c:v>PHL</c:v>
                </c:pt>
                <c:pt idx="12">
                  <c:v>FJI</c:v>
                </c:pt>
                <c:pt idx="13">
                  <c:v>MYS</c:v>
                </c:pt>
                <c:pt idx="14">
                  <c:v>THA</c:v>
                </c:pt>
                <c:pt idx="15">
                  <c:v>BRN</c:v>
                </c:pt>
                <c:pt idx="16">
                  <c:v>MNG</c:v>
                </c:pt>
                <c:pt idx="17">
                  <c:v>VNM</c:v>
                </c:pt>
                <c:pt idx="18">
                  <c:v>CHN</c:v>
                </c:pt>
                <c:pt idx="19">
                  <c:v>PLW</c:v>
                </c:pt>
                <c:pt idx="20">
                  <c:v>MAC</c:v>
                </c:pt>
                <c:pt idx="21">
                  <c:v>HKG</c:v>
                </c:pt>
                <c:pt idx="22">
                  <c:v>NZL</c:v>
                </c:pt>
                <c:pt idx="23">
                  <c:v>KOR</c:v>
                </c:pt>
                <c:pt idx="24">
                  <c:v>AUS</c:v>
                </c:pt>
                <c:pt idx="25">
                  <c:v>SGP</c:v>
                </c:pt>
                <c:pt idx="26">
                  <c:v>JPN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135.6</c:v>
                </c:pt>
                <c:pt idx="1">
                  <c:v>136.4</c:v>
                </c:pt>
                <c:pt idx="2">
                  <c:v>138.9</c:v>
                </c:pt>
                <c:pt idx="3">
                  <c:v>145.2</c:v>
                </c:pt>
                <c:pt idx="4">
                  <c:v>149.2</c:v>
                </c:pt>
                <c:pt idx="5">
                  <c:v>161.6</c:v>
                </c:pt>
                <c:pt idx="6">
                  <c:v>161.9</c:v>
                </c:pt>
                <c:pt idx="7">
                  <c:v>164.4</c:v>
                </c:pt>
                <c:pt idx="8">
                  <c:v>166.1</c:v>
                </c:pt>
                <c:pt idx="9">
                  <c:v>175.8</c:v>
                </c:pt>
                <c:pt idx="10">
                  <c:v>175.4</c:v>
                </c:pt>
                <c:pt idx="11">
                  <c:v>175.4</c:v>
                </c:pt>
                <c:pt idx="12">
                  <c:v>192.8</c:v>
                </c:pt>
                <c:pt idx="13">
                  <c:v>201.3</c:v>
                </c:pt>
                <c:pt idx="14">
                  <c:v>202.3</c:v>
                </c:pt>
                <c:pt idx="15">
                  <c:v>207.6</c:v>
                </c:pt>
                <c:pt idx="16">
                  <c:v>209.5</c:v>
                </c:pt>
                <c:pt idx="17">
                  <c:v>215.8</c:v>
                </c:pt>
                <c:pt idx="18">
                  <c:v>219.8</c:v>
                </c:pt>
                <c:pt idx="19">
                  <c:v>228.6</c:v>
                </c:pt>
                <c:pt idx="20">
                  <c:v>255.9</c:v>
                </c:pt>
                <c:pt idx="21">
                  <c:v>258.4</c:v>
                </c:pt>
                <c:pt idx="22">
                  <c:v>263.1</c:v>
                </c:pt>
                <c:pt idx="23">
                  <c:v>266.9</c:v>
                </c:pt>
                <c:pt idx="24">
                  <c:v>270.0</c:v>
                </c:pt>
                <c:pt idx="25">
                  <c:v>282.4</c:v>
                </c:pt>
                <c:pt idx="26">
                  <c:v>284.3</c:v>
                </c:pt>
              </c:numCache>
            </c:numRef>
          </c:val>
        </c:ser>
        <c:gapWidth val="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0.0"/>
        </c:scaling>
        <c:delete val="0"/>
        <c:axPos val="b"/>
        <c:majorGridlines>
          <c:spPr>
            <a:ln>
              <a:solidFill>
                <a:srgbClr val="EEEE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/>
          <a:lstStyle/>
          <a:p>
            <a:pPr>
              <a:defRPr sz="7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Health</c:v>
                </c:pt>
              </c:strCache>
            </c:strRef>
          </c:tx>
          <c:spPr>
            <a:solidFill>
              <a:srgbClr val="2B4C7E"/>
            </a:solidFill>
          </c:spPr>
          <c:cat>
            <c:strRef>
              <c:f>Sheet1!$A$2:$A$28</c:f>
              <c:strCache>
                <c:ptCount val="27"/>
                <c:pt idx="0">
                  <c:v>LAO</c:v>
                </c:pt>
                <c:pt idx="1">
                  <c:v>VUT</c:v>
                </c:pt>
                <c:pt idx="2">
                  <c:v>KHM</c:v>
                </c:pt>
                <c:pt idx="3">
                  <c:v>MHL</c:v>
                </c:pt>
                <c:pt idx="4">
                  <c:v>MMR</c:v>
                </c:pt>
                <c:pt idx="5">
                  <c:v>NRU</c:v>
                </c:pt>
                <c:pt idx="6">
                  <c:v>KIR</c:v>
                </c:pt>
                <c:pt idx="7">
                  <c:v>WSM</c:v>
                </c:pt>
                <c:pt idx="8">
                  <c:v>TUV</c:v>
                </c:pt>
                <c:pt idx="9">
                  <c:v>TON</c:v>
                </c:pt>
                <c:pt idx="10">
                  <c:v>IDN</c:v>
                </c:pt>
                <c:pt idx="11">
                  <c:v>PHL</c:v>
                </c:pt>
                <c:pt idx="12">
                  <c:v>FJI</c:v>
                </c:pt>
                <c:pt idx="13">
                  <c:v>MYS</c:v>
                </c:pt>
                <c:pt idx="14">
                  <c:v>THA</c:v>
                </c:pt>
                <c:pt idx="15">
                  <c:v>BRN</c:v>
                </c:pt>
                <c:pt idx="16">
                  <c:v>MNG</c:v>
                </c:pt>
                <c:pt idx="17">
                  <c:v>VNM</c:v>
                </c:pt>
                <c:pt idx="18">
                  <c:v>CHN</c:v>
                </c:pt>
                <c:pt idx="19">
                  <c:v>PLW</c:v>
                </c:pt>
                <c:pt idx="20">
                  <c:v>MAC</c:v>
                </c:pt>
                <c:pt idx="21">
                  <c:v>HKG</c:v>
                </c:pt>
                <c:pt idx="22">
                  <c:v>NZL</c:v>
                </c:pt>
                <c:pt idx="23">
                  <c:v>KOR</c:v>
                </c:pt>
                <c:pt idx="24">
                  <c:v>AUS</c:v>
                </c:pt>
                <c:pt idx="25">
                  <c:v>SGP</c:v>
                </c:pt>
                <c:pt idx="26">
                  <c:v>JPN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38.8</c:v>
                </c:pt>
                <c:pt idx="1">
                  <c:v>39.3</c:v>
                </c:pt>
                <c:pt idx="2">
                  <c:v>40.6</c:v>
                </c:pt>
                <c:pt idx="3">
                  <c:v>36.4</c:v>
                </c:pt>
                <c:pt idx="4">
                  <c:v>38.5</c:v>
                </c:pt>
                <c:pt idx="5">
                  <c:v>35.9</c:v>
                </c:pt>
                <c:pt idx="6">
                  <c:v>41.0</c:v>
                </c:pt>
                <c:pt idx="7">
                  <c:v>43.3</c:v>
                </c:pt>
                <c:pt idx="8">
                  <c:v>40.7</c:v>
                </c:pt>
                <c:pt idx="9">
                  <c:v>44.4</c:v>
                </c:pt>
                <c:pt idx="10">
                  <c:v>40.7</c:v>
                </c:pt>
                <c:pt idx="11">
                  <c:v>40.0</c:v>
                </c:pt>
                <c:pt idx="12">
                  <c:v>41.7</c:v>
                </c:pt>
                <c:pt idx="13">
                  <c:v>42.4</c:v>
                </c:pt>
                <c:pt idx="14">
                  <c:v>42.5</c:v>
                </c:pt>
                <c:pt idx="15">
                  <c:v>44.4</c:v>
                </c:pt>
                <c:pt idx="16">
                  <c:v>42.5</c:v>
                </c:pt>
                <c:pt idx="17">
                  <c:v>42.5</c:v>
                </c:pt>
                <c:pt idx="18">
                  <c:v>46.5</c:v>
                </c:pt>
                <c:pt idx="19">
                  <c:v>41.0</c:v>
                </c:pt>
                <c:pt idx="20">
                  <c:v>47.9</c:v>
                </c:pt>
                <c:pt idx="21">
                  <c:v>47.4</c:v>
                </c:pt>
                <c:pt idx="22">
                  <c:v>46.6</c:v>
                </c:pt>
                <c:pt idx="23">
                  <c:v>48.8</c:v>
                </c:pt>
                <c:pt idx="24">
                  <c:v>48.0</c:v>
                </c:pt>
                <c:pt idx="25">
                  <c:v>47.7</c:v>
                </c:pt>
                <c:pt idx="26">
                  <c:v>47.5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Education</c:v>
                </c:pt>
              </c:strCache>
            </c:strRef>
          </c:tx>
          <c:spPr>
            <a:solidFill>
              <a:srgbClr val="D4533B"/>
            </a:solidFill>
          </c:spPr>
          <c:cat>
            <c:strRef>
              <c:f>Sheet1!$A$2:$A$28</c:f>
              <c:strCache>
                <c:ptCount val="27"/>
                <c:pt idx="0">
                  <c:v>LAO</c:v>
                </c:pt>
                <c:pt idx="1">
                  <c:v>VUT</c:v>
                </c:pt>
                <c:pt idx="2">
                  <c:v>KHM</c:v>
                </c:pt>
                <c:pt idx="3">
                  <c:v>MHL</c:v>
                </c:pt>
                <c:pt idx="4">
                  <c:v>MMR</c:v>
                </c:pt>
                <c:pt idx="5">
                  <c:v>NRU</c:v>
                </c:pt>
                <c:pt idx="6">
                  <c:v>KIR</c:v>
                </c:pt>
                <c:pt idx="7">
                  <c:v>WSM</c:v>
                </c:pt>
                <c:pt idx="8">
                  <c:v>TUV</c:v>
                </c:pt>
                <c:pt idx="9">
                  <c:v>TON</c:v>
                </c:pt>
                <c:pt idx="10">
                  <c:v>IDN</c:v>
                </c:pt>
                <c:pt idx="11">
                  <c:v>PHL</c:v>
                </c:pt>
                <c:pt idx="12">
                  <c:v>FJI</c:v>
                </c:pt>
                <c:pt idx="13">
                  <c:v>MYS</c:v>
                </c:pt>
                <c:pt idx="14">
                  <c:v>THA</c:v>
                </c:pt>
                <c:pt idx="15">
                  <c:v>BRN</c:v>
                </c:pt>
                <c:pt idx="16">
                  <c:v>MNG</c:v>
                </c:pt>
                <c:pt idx="17">
                  <c:v>VNM</c:v>
                </c:pt>
                <c:pt idx="18">
                  <c:v>CHN</c:v>
                </c:pt>
                <c:pt idx="19">
                  <c:v>PLW</c:v>
                </c:pt>
                <c:pt idx="20">
                  <c:v>MAC</c:v>
                </c:pt>
                <c:pt idx="21">
                  <c:v>HKG</c:v>
                </c:pt>
                <c:pt idx="22">
                  <c:v>NZL</c:v>
                </c:pt>
                <c:pt idx="23">
                  <c:v>KOR</c:v>
                </c:pt>
                <c:pt idx="24">
                  <c:v>AUS</c:v>
                </c:pt>
                <c:pt idx="25">
                  <c:v>SGP</c:v>
                </c:pt>
                <c:pt idx="26">
                  <c:v>JPN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66.5</c:v>
                </c:pt>
                <c:pt idx="1">
                  <c:v>84.2</c:v>
                </c:pt>
                <c:pt idx="2">
                  <c:v>69.9</c:v>
                </c:pt>
                <c:pt idx="3">
                  <c:v>88.8</c:v>
                </c:pt>
                <c:pt idx="4">
                  <c:v>76.3</c:v>
                </c:pt>
                <c:pt idx="5">
                  <c:v>82.2</c:v>
                </c:pt>
                <c:pt idx="6">
                  <c:v>96.7</c:v>
                </c:pt>
                <c:pt idx="7">
                  <c:v>102.8</c:v>
                </c:pt>
                <c:pt idx="8">
                  <c:v>102.5</c:v>
                </c:pt>
                <c:pt idx="9">
                  <c:v>100.4</c:v>
                </c:pt>
                <c:pt idx="10">
                  <c:v>96.5</c:v>
                </c:pt>
                <c:pt idx="11">
                  <c:v>98.4</c:v>
                </c:pt>
                <c:pt idx="12">
                  <c:v>120.3</c:v>
                </c:pt>
                <c:pt idx="13">
                  <c:v>111.1</c:v>
                </c:pt>
                <c:pt idx="14">
                  <c:v>114.3</c:v>
                </c:pt>
                <c:pt idx="15">
                  <c:v>117.4</c:v>
                </c:pt>
                <c:pt idx="16">
                  <c:v>128.1</c:v>
                </c:pt>
                <c:pt idx="17">
                  <c:v>123.8</c:v>
                </c:pt>
                <c:pt idx="18">
                  <c:v>127.5</c:v>
                </c:pt>
                <c:pt idx="19">
                  <c:v>132.6</c:v>
                </c:pt>
                <c:pt idx="20">
                  <c:v>147.9</c:v>
                </c:pt>
                <c:pt idx="21">
                  <c:v>162.5</c:v>
                </c:pt>
                <c:pt idx="22">
                  <c:v>155.0</c:v>
                </c:pt>
                <c:pt idx="23">
                  <c:v>170.8</c:v>
                </c:pt>
                <c:pt idx="24">
                  <c:v>160.8</c:v>
                </c:pt>
                <c:pt idx="25">
                  <c:v>179.4</c:v>
                </c:pt>
                <c:pt idx="26">
                  <c:v>172.5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Employment</c:v>
                </c:pt>
              </c:strCache>
            </c:strRef>
          </c:tx>
          <c:spPr>
            <a:solidFill>
              <a:srgbClr val="4E9A51"/>
            </a:solidFill>
          </c:spPr>
          <c:cat>
            <c:strRef>
              <c:f>Sheet1!$A$2:$A$28</c:f>
              <c:strCache>
                <c:ptCount val="27"/>
                <c:pt idx="0">
                  <c:v>LAO</c:v>
                </c:pt>
                <c:pt idx="1">
                  <c:v>VUT</c:v>
                </c:pt>
                <c:pt idx="2">
                  <c:v>KHM</c:v>
                </c:pt>
                <c:pt idx="3">
                  <c:v>MHL</c:v>
                </c:pt>
                <c:pt idx="4">
                  <c:v>MMR</c:v>
                </c:pt>
                <c:pt idx="5">
                  <c:v>NRU</c:v>
                </c:pt>
                <c:pt idx="6">
                  <c:v>KIR</c:v>
                </c:pt>
                <c:pt idx="7">
                  <c:v>WSM</c:v>
                </c:pt>
                <c:pt idx="8">
                  <c:v>TUV</c:v>
                </c:pt>
                <c:pt idx="9">
                  <c:v>TON</c:v>
                </c:pt>
                <c:pt idx="10">
                  <c:v>IDN</c:v>
                </c:pt>
                <c:pt idx="11">
                  <c:v>PHL</c:v>
                </c:pt>
                <c:pt idx="12">
                  <c:v>FJI</c:v>
                </c:pt>
                <c:pt idx="13">
                  <c:v>MYS</c:v>
                </c:pt>
                <c:pt idx="14">
                  <c:v>THA</c:v>
                </c:pt>
                <c:pt idx="15">
                  <c:v>BRN</c:v>
                </c:pt>
                <c:pt idx="16">
                  <c:v>MNG</c:v>
                </c:pt>
                <c:pt idx="17">
                  <c:v>VNM</c:v>
                </c:pt>
                <c:pt idx="18">
                  <c:v>CHN</c:v>
                </c:pt>
                <c:pt idx="19">
                  <c:v>PLW</c:v>
                </c:pt>
                <c:pt idx="20">
                  <c:v>MAC</c:v>
                </c:pt>
                <c:pt idx="21">
                  <c:v>HKG</c:v>
                </c:pt>
                <c:pt idx="22">
                  <c:v>NZL</c:v>
                </c:pt>
                <c:pt idx="23">
                  <c:v>KOR</c:v>
                </c:pt>
                <c:pt idx="24">
                  <c:v>AUS</c:v>
                </c:pt>
                <c:pt idx="25">
                  <c:v>SGP</c:v>
                </c:pt>
                <c:pt idx="26">
                  <c:v>JPN</c:v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30.3</c:v>
                </c:pt>
                <c:pt idx="1">
                  <c:v>13.0</c:v>
                </c:pt>
                <c:pt idx="2">
                  <c:v>28.4</c:v>
                </c:pt>
                <c:pt idx="3">
                  <c:v>20.0</c:v>
                </c:pt>
                <c:pt idx="4">
                  <c:v>34.3</c:v>
                </c:pt>
                <c:pt idx="5">
                  <c:v>43.5</c:v>
                </c:pt>
                <c:pt idx="6">
                  <c:v>24.2</c:v>
                </c:pt>
                <c:pt idx="7">
                  <c:v>18.3</c:v>
                </c:pt>
                <c:pt idx="8">
                  <c:v>23.0</c:v>
                </c:pt>
                <c:pt idx="9">
                  <c:v>31.0</c:v>
                </c:pt>
                <c:pt idx="10">
                  <c:v>38.1</c:v>
                </c:pt>
                <c:pt idx="11">
                  <c:v>37.1</c:v>
                </c:pt>
                <c:pt idx="12">
                  <c:v>30.8</c:v>
                </c:pt>
                <c:pt idx="13">
                  <c:v>47.8</c:v>
                </c:pt>
                <c:pt idx="14">
                  <c:v>45.5</c:v>
                </c:pt>
                <c:pt idx="15">
                  <c:v>45.8</c:v>
                </c:pt>
                <c:pt idx="16">
                  <c:v>38.9</c:v>
                </c:pt>
                <c:pt idx="17">
                  <c:v>49.5</c:v>
                </c:pt>
                <c:pt idx="18">
                  <c:v>45.8</c:v>
                </c:pt>
                <c:pt idx="19">
                  <c:v>55.0</c:v>
                </c:pt>
                <c:pt idx="20">
                  <c:v>60.1</c:v>
                </c:pt>
                <c:pt idx="21">
                  <c:v>48.5</c:v>
                </c:pt>
                <c:pt idx="22">
                  <c:v>61.5</c:v>
                </c:pt>
                <c:pt idx="23">
                  <c:v>47.4</c:v>
                </c:pt>
                <c:pt idx="24">
                  <c:v>61.2</c:v>
                </c:pt>
                <c:pt idx="25">
                  <c:v>55.3</c:v>
                </c:pt>
                <c:pt idx="26">
                  <c:v>64.4</c:v>
                </c:pt>
              </c:numCache>
            </c:numRef>
          </c:val>
        </c:ser>
        <c:gapWidth val="2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0.0"/>
        </c:scaling>
        <c:delete val="0"/>
        <c:axPos val="b"/>
        <c:majorGridlines>
          <c:spPr>
            <a:ln>
              <a:solidFill>
                <a:srgbClr val="EEEE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Male HCI+ &gt; Female HCI+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8"/>
            <c:spPr>
              <a:solidFill>
                <a:srgbClr val="6B8CA3"/>
              </a:solidFill>
              <a:ln>
                <a:solidFill>
                  <a:srgbClr val="6B8CA3"/>
                </a:solidFill>
              </a:ln>
            </c:spPr>
          </c:marker>
          <c:xVal>
            <c:numRef>
              <c:f>Sheet1!$A$2:$A$16</c:f>
              <c:numCache>
                <c:formatCode>General</c:formatCode>
                <c:ptCount val="15"/>
                <c:pt idx="0">
                  <c:v>277.5</c:v>
                </c:pt>
                <c:pt idx="1">
                  <c:v>258.9</c:v>
                </c:pt>
                <c:pt idx="2">
                  <c:v>264.8</c:v>
                </c:pt>
                <c:pt idx="3">
                  <c:v>262.7</c:v>
                </c:pt>
                <c:pt idx="4">
                  <c:v>253.8</c:v>
                </c:pt>
                <c:pt idx="5">
                  <c:v>196.3</c:v>
                </c:pt>
                <c:pt idx="6">
                  <c:v>177.2</c:v>
                </c:pt>
                <c:pt idx="7">
                  <c:v>158.7</c:v>
                </c:pt>
                <c:pt idx="8">
                  <c:v>171.8</c:v>
                </c:pt>
                <c:pt idx="9">
                  <c:v>175.2</c:v>
                </c:pt>
                <c:pt idx="10">
                  <c:v>164.2</c:v>
                </c:pt>
                <c:pt idx="11">
                  <c:v>140.3</c:v>
                </c:pt>
                <c:pt idx="12">
                  <c:v>139.5</c:v>
                </c:pt>
                <c:pt idx="13">
                  <c:v>130.5</c:v>
                </c:pt>
                <c:pt idx="14">
                  <c:v>128.0</c:v>
                </c:pt>
              </c:numCache>
            </c:numRef>
          </c:xVal>
          <c:yVal>
            <c:numRef>
              <c:f>Sheet1!$B$2:$B$16</c:f>
              <c:numCache>
                <c:formatCode>General</c:formatCode>
                <c:ptCount val="15"/>
                <c:pt idx="0">
                  <c:v>290.8</c:v>
                </c:pt>
                <c:pt idx="1">
                  <c:v>274.9</c:v>
                </c:pt>
                <c:pt idx="2">
                  <c:v>275.2</c:v>
                </c:pt>
                <c:pt idx="3">
                  <c:v>263.5</c:v>
                </c:pt>
                <c:pt idx="4">
                  <c:v>263.0</c:v>
                </c:pt>
                <c:pt idx="5">
                  <c:v>206.3</c:v>
                </c:pt>
                <c:pt idx="6">
                  <c:v>208.4</c:v>
                </c:pt>
                <c:pt idx="7">
                  <c:v>192.1</c:v>
                </c:pt>
                <c:pt idx="8">
                  <c:v>179.0</c:v>
                </c:pt>
                <c:pt idx="9">
                  <c:v>176.4</c:v>
                </c:pt>
                <c:pt idx="10">
                  <c:v>164.6</c:v>
                </c:pt>
                <c:pt idx="11">
                  <c:v>158.1</c:v>
                </c:pt>
                <c:pt idx="12">
                  <c:v>150.9</c:v>
                </c:pt>
                <c:pt idx="13">
                  <c:v>140.7</c:v>
                </c:pt>
                <c:pt idx="14">
                  <c:v>144.8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Sheet1!$B$18</c:f>
              <c:strCache>
                <c:ptCount val="1"/>
                <c:pt idx="0">
                  <c:v>Female HCI+ ≥ Male HCI+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8"/>
            <c:spPr>
              <a:solidFill>
                <a:srgbClr val="E07B73"/>
              </a:solidFill>
              <a:ln>
                <a:solidFill>
                  <a:srgbClr val="E07B73"/>
                </a:solidFill>
              </a:ln>
            </c:spPr>
          </c:marker>
          <c:xVal>
            <c:numRef>
              <c:f>Sheet1!$A$19:$A$28</c:f>
              <c:numCache>
                <c:formatCode>General</c:formatCode>
                <c:ptCount val="10"/>
                <c:pt idx="0">
                  <c:v>284.1</c:v>
                </c:pt>
                <c:pt idx="1">
                  <c:v>260.2</c:v>
                </c:pt>
                <c:pt idx="2">
                  <c:v>225.4</c:v>
                </c:pt>
                <c:pt idx="3">
                  <c:v>220.8</c:v>
                </c:pt>
                <c:pt idx="4">
                  <c:v>214.2</c:v>
                </c:pt>
                <c:pt idx="5">
                  <c:v>211.0</c:v>
                </c:pt>
                <c:pt idx="6">
                  <c:v>210.5</c:v>
                </c:pt>
                <c:pt idx="7">
                  <c:v>173.4</c:v>
                </c:pt>
                <c:pt idx="8">
                  <c:v>163.5</c:v>
                </c:pt>
                <c:pt idx="9">
                  <c:v>150.0</c:v>
                </c:pt>
              </c:numCache>
            </c:numRef>
          </c:xVal>
          <c:yVal>
            <c:numRef>
              <c:f>Sheet1!$B$19:$B$28</c:f>
              <c:numCache>
                <c:formatCode>General</c:formatCode>
                <c:ptCount val="10"/>
                <c:pt idx="0">
                  <c:v>280.6</c:v>
                </c:pt>
                <c:pt idx="1">
                  <c:v>251.6</c:v>
                </c:pt>
                <c:pt idx="2">
                  <c:v>214.2</c:v>
                </c:pt>
                <c:pt idx="3">
                  <c:v>210.8</c:v>
                </c:pt>
                <c:pt idx="4">
                  <c:v>204.8</c:v>
                </c:pt>
                <c:pt idx="5">
                  <c:v>204.2</c:v>
                </c:pt>
                <c:pt idx="6">
                  <c:v>194.1</c:v>
                </c:pt>
                <c:pt idx="7">
                  <c:v>158.8</c:v>
                </c:pt>
                <c:pt idx="8">
                  <c:v>160.3</c:v>
                </c:pt>
                <c:pt idx="9">
                  <c:v>127.8</c:v>
                </c:pt>
              </c:numCache>
            </c:numRef>
          </c:yVal>
          <c:smooth val="0"/>
        </c:ser>
        <c:axId val="-2128940872"/>
        <c:axId val="-2129643912"/>
        <c:ser>
          <c:idx val="2"/>
          <c:order val="2"/>
          <c:tx>
            <c:strRef>
              <c:f/>
              <c:strCache>
                <c:ptCount val="1"/>
                <c:pt idx="0">
                  <c:v>45° line</c:v>
                </c:pt>
              </c:strCache>
            </c:strRef>
          </c:tx>
          <c:spPr>
            <a:ln w="12700">
              <a:solidFill>
                <a:srgbClr val="CCCCCC"/>
              </a:solidFill>
            </a:ln>
          </c:spPr>
          <c:marker>
            <c:symbol val="none"/>
          </c:marker>
          <c:xVal>
            <c:numRef>
              <c:f/>
              <c:numCache>
                <c:ptCount val="2"/>
                <c:pt idx="0">
                  <c:v>120</c:v>
                </c:pt>
                <c:pt idx="1">
                  <c:v>300</c:v>
                </c:pt>
              </c:numCache>
            </c:numRef>
          </c:xVal>
          <c:yVal>
            <c:numRef>
              <c:f/>
              <c:numCache>
                <c:ptCount val="2"/>
                <c:pt idx="0">
                  <c:v>120</c:v>
                </c:pt>
                <c:pt idx="1">
                  <c:v>300</c:v>
                </c:pt>
              </c:numCache>
            </c:numRef>
          </c:yVal>
          <c:smooth val="0"/>
        </c:ser>
      </c:scatterChart>
      <c:valAx>
        <c:axId val="-2128940872"/>
        <c:scaling>
          <c:orientation val="minMax"/>
          <c:max val="300.0"/>
          <c:min val="120.0"/>
        </c:scaling>
        <c:delete val="0"/>
        <c:axPos val="b"/>
        <c:majorGridlines>
          <c:spPr>
            <a:ln>
              <a:solidFill>
                <a:srgbClr val="E8E8E8"/>
              </a:solidFill>
              <a:prstDash val="dash"/>
            </a:ln>
          </c:spPr>
        </c:majorGridlines>
        <c:title>
          <c:tx>
            <c:rich>
              <a:bodyPr/>
              <a:lstStyle/>
              <a:p>
                <a:pPr>
                  <a:defRPr sz="1100" b="1">
                    <a:latin typeface="Calibri"/>
                  </a:defRPr>
                </a:pPr>
                <a:r>
                  <a:t>Female HCI+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  <c:max val="300.0"/>
          <c:min val="120.0"/>
        </c:scaling>
        <c:delete val="0"/>
        <c:axPos val="l"/>
        <c:majorGridlines>
          <c:spPr>
            <a:ln>
              <a:solidFill>
                <a:srgbClr val="E8E8E8"/>
              </a:solidFill>
              <a:prstDash val="dash"/>
            </a:ln>
          </c:spPr>
        </c:majorGridlines>
        <c:title>
          <c:tx>
            <c:rich>
              <a:bodyPr/>
              <a:lstStyle/>
              <a:p>
                <a:pPr>
                  <a:defRPr sz="1100" b="1">
                    <a:latin typeface="Calibri"/>
                  </a:defRPr>
                </a:pPr>
                <a:r>
                  <a:t>Male HCI+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28940872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001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8720" y="1828800"/>
            <a:ext cx="1645920" cy="5080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03120"/>
            <a:ext cx="64008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4800" b="1">
                <a:solidFill>
                  <a:srgbClr val="FFFFFF"/>
                </a:solidFill>
                <a:latin typeface="Calibri Light"/>
              </a:defRPr>
            </a:pPr>
            <a:r>
              <a:t>Human Capital</a:t>
            </a:r>
            <a:br/>
            <a:r>
              <a:t>Index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566160"/>
            <a:ext cx="3657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200" b="1">
                <a:solidFill>
                  <a:srgbClr val="2171B5"/>
                </a:solidFill>
                <a:latin typeface="Calibri"/>
              </a:defRPr>
            </a:pPr>
            <a:r>
              <a:t>HCI+  | 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297680"/>
            <a:ext cx="73152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EAST ASIA &amp; PACIFIC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5303520"/>
            <a:ext cx="54864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8899AA"/>
                </a:solidFill>
                <a:latin typeface="Calibri"/>
              </a:defRPr>
            </a:pPr>
            <a:r>
              <a:t>Regional overview across 27 economies spanning health,</a:t>
            </a:r>
            <a:br/>
            <a:r>
              <a:t>education, and employment dimensions of human capital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6035040"/>
            <a:ext cx="2011680" cy="292608"/>
          </a:xfrm>
          <a:prstGeom prst="roundRect">
            <a:avLst/>
          </a:prstGeom>
          <a:solidFill>
            <a:srgbClr val="0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6035040"/>
            <a:ext cx="2011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900" b="0">
                <a:solidFill>
                  <a:srgbClr val="2171B5"/>
                </a:solidFill>
                <a:latin typeface="Calibri"/>
              </a:defRPr>
            </a:pPr>
            <a:r>
              <a:t>27 Economies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6035040"/>
            <a:ext cx="2011680" cy="292608"/>
          </a:xfrm>
          <a:prstGeom prst="roundRect">
            <a:avLst/>
          </a:prstGeom>
          <a:solidFill>
            <a:srgbClr val="0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6035040"/>
            <a:ext cx="2011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900" b="0">
                <a:solidFill>
                  <a:srgbClr val="2171B5"/>
                </a:solidFill>
                <a:latin typeface="Calibri"/>
              </a:defRPr>
            </a:pPr>
            <a:r>
              <a:t>All Income Levels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371600"/>
            <a:ext cx="3474720" cy="4572000"/>
          </a:xfrm>
          <a:prstGeom prst="roundRect">
            <a:avLst/>
          </a:prstGeom>
          <a:solidFill>
            <a:srgbClr val="0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554480"/>
            <a:ext cx="34747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1">
                <a:solidFill>
                  <a:srgbClr val="2171B5"/>
                </a:solidFill>
                <a:latin typeface="Calibri"/>
              </a:defRPr>
            </a:pPr>
            <a:r>
              <a:t>REGIONAL HCI+ AVERAGE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94560"/>
            <a:ext cx="347472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7200" b="1">
                <a:solidFill>
                  <a:srgbClr val="FFFFFF"/>
                </a:solidFill>
                <a:latin typeface="Calibri Light"/>
              </a:defRPr>
            </a:pPr>
            <a:r>
              <a:t>201.7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657600"/>
            <a:ext cx="34747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0">
                <a:solidFill>
                  <a:srgbClr val="7A7A8C"/>
                </a:solidFill>
                <a:latin typeface="Calibri"/>
              </a:defRPr>
            </a:pPr>
            <a:r>
              <a:t>out of 325  |  World avg: 188.5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20624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AABBCC"/>
                </a:solidFill>
                <a:latin typeface="Calibri"/>
              </a:defRPr>
            </a:pPr>
            <a:r>
              <a:t>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4206240"/>
            <a:ext cx="6400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900" b="1">
                <a:solidFill>
                  <a:srgbClr val="2B4C7E"/>
                </a:solidFill>
                <a:latin typeface="Calibri"/>
              </a:defRPr>
            </a:pPr>
            <a:r>
              <a:t>42.8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4407408"/>
            <a:ext cx="2926080" cy="91440"/>
          </a:xfrm>
          <a:prstGeom prst="round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21040" y="4407408"/>
            <a:ext cx="2504724" cy="91440"/>
          </a:xfrm>
          <a:prstGeom prst="roundRect">
            <a:avLst/>
          </a:prstGeom>
          <a:solidFill>
            <a:srgbClr val="2B4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7091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AABBCC"/>
                </a:solidFill>
                <a:latin typeface="Calibri"/>
              </a:defRPr>
            </a:pPr>
            <a:r>
              <a:t>Education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4709160"/>
            <a:ext cx="6400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900" b="1">
                <a:solidFill>
                  <a:srgbClr val="D4533B"/>
                </a:solidFill>
                <a:latin typeface="Calibri"/>
              </a:defRPr>
            </a:pPr>
            <a:r>
              <a:t>118.1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21040" y="4910328"/>
            <a:ext cx="2926080" cy="91440"/>
          </a:xfrm>
          <a:prstGeom prst="round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321040" y="4910328"/>
            <a:ext cx="1919833" cy="91440"/>
          </a:xfrm>
          <a:prstGeom prst="roundRect">
            <a:avLst/>
          </a:prstGeom>
          <a:solidFill>
            <a:srgbClr val="D45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521208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AABBCC"/>
                </a:solidFill>
                <a:latin typeface="Calibri"/>
              </a:defRPr>
            </a:pPr>
            <a:r>
              <a:t>Employment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5212080"/>
            <a:ext cx="6400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900" b="1">
                <a:solidFill>
                  <a:srgbClr val="4E9A51"/>
                </a:solidFill>
                <a:latin typeface="Calibri"/>
              </a:defRPr>
            </a:pPr>
            <a:r>
              <a:t>40.7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21040" y="5413248"/>
            <a:ext cx="2926080" cy="91440"/>
          </a:xfrm>
          <a:prstGeom prst="round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321040" y="5413248"/>
            <a:ext cx="1701306" cy="91440"/>
          </a:xfrm>
          <a:prstGeom prst="roundRect">
            <a:avLst/>
          </a:prstGeom>
          <a:solidFill>
            <a:srgbClr val="4E9A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5532120"/>
            <a:ext cx="29260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2171B5"/>
                </a:solidFill>
                <a:latin typeface="Calibri"/>
              </a:defRPr>
            </a:pPr>
            <a:r>
              <a:t>Ranked #3 among 7 World Bank regions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East Asia &amp; Pacific  |  HCI+ vs GDP per Capita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2171B5"/>
                </a:solidFill>
                <a:latin typeface="Calibri"/>
              </a:defRPr>
            </a:pPr>
            <a:r>
              <a:t>201.7 / 325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8046720" cy="4937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6400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7A7A8C"/>
                </a:solidFill>
                <a:latin typeface="Calibri"/>
              </a:defRPr>
            </a:pPr>
            <a:r>
              <a:t>HCI+ SCORE vs LOG GDP PER CAPITA (PPP)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2286000" cy="3810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6400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EAP countries in blue. All other regions shown in light gray for context.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31520" y="2011680"/>
          <a:ext cx="7498079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778240" y="1188720"/>
            <a:ext cx="3017520" cy="4937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0" y="1188720"/>
            <a:ext cx="63500" cy="493776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0" y="1371600"/>
            <a:ext cx="26517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2171B5"/>
                </a:solidFill>
                <a:latin typeface="Calibri"/>
              </a:defRPr>
            </a:pPr>
            <a:r>
              <a:t>EAP IN 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1737360"/>
            <a:ext cx="16459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Regional Average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17373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2171B5"/>
                </a:solidFill>
                <a:latin typeface="Calibri"/>
              </a:defRPr>
            </a:pPr>
            <a:r>
              <a:t>201.7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2029968"/>
            <a:ext cx="256032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2194560"/>
            <a:ext cx="16459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World Average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21945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9E1B34"/>
                </a:solidFill>
                <a:latin typeface="Calibri"/>
              </a:defRPr>
            </a:pPr>
            <a:r>
              <a:t>188.5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2487168"/>
            <a:ext cx="256032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2651760"/>
            <a:ext cx="16459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Economies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26517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1A1A2E"/>
                </a:solidFill>
                <a:latin typeface="Calibri"/>
              </a:defRPr>
            </a:pPr>
            <a:r>
              <a:t>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2944368"/>
            <a:ext cx="256032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3108960"/>
            <a:ext cx="16459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Top Performer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31089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2171B5"/>
                </a:solidFill>
                <a:latin typeface="Calibri"/>
              </a:defRPr>
            </a:pPr>
            <a:r>
              <a:t>Japan (284.3)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3401568"/>
            <a:ext cx="256032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0" y="3566160"/>
            <a:ext cx="16459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Lowest in EAP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5661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C0392B"/>
                </a:solidFill>
                <a:latin typeface="Calibri"/>
              </a:defRPr>
            </a:pPr>
            <a:r>
              <a:t>Lao PDR (135.6)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2560" y="3858768"/>
            <a:ext cx="256032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4023360"/>
            <a:ext cx="16459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vs Europe/C. Asia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40233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7A7A8C"/>
                </a:solidFill>
                <a:latin typeface="Calibri"/>
              </a:defRPr>
            </a:pPr>
            <a:r>
              <a:t>233.3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52560" y="4315968"/>
            <a:ext cx="256032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0" y="4480560"/>
            <a:ext cx="16459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vs Latin America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44805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7A7A8C"/>
                </a:solidFill>
                <a:latin typeface="Calibri"/>
              </a:defRPr>
            </a:pPr>
            <a:r>
              <a:t>183.2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52560" y="4773168"/>
            <a:ext cx="256032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52560" y="4937760"/>
            <a:ext cx="16459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vs Sub-Saharan Africa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49377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7A7A8C"/>
                </a:solidFill>
                <a:latin typeface="Calibri"/>
              </a:defRPr>
            </a:pPr>
            <a:r>
              <a:t>128.4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4846320"/>
            <a:ext cx="26517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2171B5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5120640"/>
            <a:ext cx="265176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t>EAP (avg 201.7) ranks 3rd among WB regions, exceeding the global average by 13 points. The region shows enormous variation: Japan (284.3) leads globally, while Lao PDR (135.6) trails. High-income EAP economies rival Europe.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2590" y="4266645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NGA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47946" y="4248466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ZAF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87090" y="3745967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KEN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48739" y="4361431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ETH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68929" y="3978389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GHA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26742" y="3926451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RWA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48739" y="4078370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UGA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19579" y="4241974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TZA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86298" y="3353836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MUS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01417" y="4543214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SEN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63287" y="3926451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BWA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17487" y="2633197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DEU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09816" y="2702015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FRA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17487" y="2466996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SWE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27978" y="2594244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POL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95490" y="2461802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NLD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34634" y="3230483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TUR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37455" y="3321375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ALB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68929" y="3399281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KGZ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53303" y="3090251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ROU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59452" y="3305793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GEO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34634" y="3026627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CHL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96789" y="3329165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BRA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59959" y="3451219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MEX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07788" y="3397983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COL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08295" y="3298003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ARG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32606" y="3365522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JAM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87598" y="3651180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NIC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558438" y="3901781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IND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50767" y="4058893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BGD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59452" y="3592750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LKA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490418" y="4674357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PAK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513937" y="3753758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JOR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59452" y="3870618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EGY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39769" y="4053699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MAR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12130" y="3414863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IRN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39991" y="2702015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USA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3652" y="2622810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CCCCCC"/>
                </a:solidFill>
                <a:latin typeface="Calibri"/>
              </a:defRPr>
            </a:pPr>
            <a:r>
              <a:t>CAN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857645" y="2272229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600" b="1">
                <a:solidFill>
                  <a:srgbClr val="2171B5"/>
                </a:solidFill>
                <a:latin typeface="Calibri"/>
              </a:defRPr>
            </a:pPr>
            <a:r>
              <a:t>JPN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15173" y="2296899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600" b="1">
                <a:solidFill>
                  <a:srgbClr val="2171B5"/>
                </a:solidFill>
                <a:latin typeface="Calibri"/>
              </a:defRPr>
            </a:pPr>
            <a:r>
              <a:t>SGP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91148" y="2498159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600" b="1">
                <a:solidFill>
                  <a:srgbClr val="2171B5"/>
                </a:solidFill>
                <a:latin typeface="Calibri"/>
              </a:defRPr>
            </a:pPr>
            <a:r>
              <a:t>KOR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43319" y="2457907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600" b="1">
                <a:solidFill>
                  <a:srgbClr val="2171B5"/>
                </a:solidFill>
                <a:latin typeface="Calibri"/>
              </a:defRPr>
            </a:pPr>
            <a:r>
              <a:t>AUS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16980" y="2547500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600" b="1">
                <a:solidFill>
                  <a:srgbClr val="2171B5"/>
                </a:solidFill>
                <a:latin typeface="Calibri"/>
              </a:defRPr>
            </a:pPr>
            <a:r>
              <a:t>NZL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91655" y="2608527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600" b="1">
                <a:solidFill>
                  <a:srgbClr val="2171B5"/>
                </a:solidFill>
                <a:latin typeface="Calibri"/>
              </a:defRPr>
            </a:pPr>
            <a:r>
              <a:t>HKG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177835" y="2640988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600" b="1">
                <a:solidFill>
                  <a:srgbClr val="2171B5"/>
                </a:solidFill>
                <a:latin typeface="Calibri"/>
              </a:defRPr>
            </a:pPr>
            <a:r>
              <a:t>MAC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78628" y="3109728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600" b="1">
                <a:solidFill>
                  <a:srgbClr val="2171B5"/>
                </a:solidFill>
                <a:latin typeface="Calibri"/>
              </a:defRPr>
            </a:pPr>
            <a:r>
              <a:t>CHN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136948" y="3161666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600" b="1">
                <a:solidFill>
                  <a:srgbClr val="2171B5"/>
                </a:solidFill>
                <a:latin typeface="Calibri"/>
              </a:defRPr>
            </a:pPr>
            <a:r>
              <a:t>VNM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359452" y="3243468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600" b="1">
                <a:solidFill>
                  <a:srgbClr val="2171B5"/>
                </a:solidFill>
                <a:latin typeface="Calibri"/>
              </a:defRPr>
            </a:pPr>
            <a:r>
              <a:t>MNG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658659" y="3268138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600" b="1">
                <a:solidFill>
                  <a:srgbClr val="2171B5"/>
                </a:solidFill>
                <a:latin typeface="Calibri"/>
              </a:defRPr>
            </a:pPr>
            <a:r>
              <a:t>BRN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745125" y="3336956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600" b="1">
                <a:solidFill>
                  <a:srgbClr val="2171B5"/>
                </a:solidFill>
                <a:latin typeface="Calibri"/>
              </a:defRPr>
            </a:pPr>
            <a:r>
              <a:t>THA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412637" y="3349940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600" b="1">
                <a:solidFill>
                  <a:srgbClr val="2171B5"/>
                </a:solidFill>
                <a:latin typeface="Calibri"/>
              </a:defRPr>
            </a:pPr>
            <a:r>
              <a:t>MYS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092447" y="3460309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600" b="1">
                <a:solidFill>
                  <a:srgbClr val="2171B5"/>
                </a:solidFill>
                <a:latin typeface="Calibri"/>
              </a:defRPr>
            </a:pPr>
            <a:r>
              <a:t>FJI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136948" y="3686239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600" b="1">
                <a:solidFill>
                  <a:srgbClr val="2171B5"/>
                </a:solidFill>
                <a:latin typeface="Calibri"/>
              </a:defRPr>
            </a:pPr>
            <a:r>
              <a:t>IDN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647439" y="3686239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600" b="1">
                <a:solidFill>
                  <a:srgbClr val="2171B5"/>
                </a:solidFill>
                <a:latin typeface="Calibri"/>
              </a:defRPr>
            </a:pPr>
            <a:r>
              <a:t>PHL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068929" y="3681045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600" b="1">
                <a:solidFill>
                  <a:srgbClr val="2171B5"/>
                </a:solidFill>
                <a:latin typeface="Calibri"/>
              </a:defRPr>
            </a:pPr>
            <a:r>
              <a:t>TON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87090" y="3806994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600" b="1">
                <a:solidFill>
                  <a:srgbClr val="2171B5"/>
                </a:solidFill>
                <a:latin typeface="Calibri"/>
              </a:defRPr>
            </a:pPr>
            <a:r>
              <a:t>TUV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926742" y="3861529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600" b="1">
                <a:solidFill>
                  <a:srgbClr val="2171B5"/>
                </a:solidFill>
                <a:latin typeface="Calibri"/>
              </a:defRPr>
            </a:pPr>
            <a:r>
              <a:t>KIR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638754" y="4026432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600" b="1">
                <a:solidFill>
                  <a:srgbClr val="2171B5"/>
                </a:solidFill>
                <a:latin typeface="Calibri"/>
              </a:defRPr>
            </a:pPr>
            <a:r>
              <a:t>MMR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068929" y="4160172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600" b="1">
                <a:solidFill>
                  <a:srgbClr val="2171B5"/>
                </a:solidFill>
                <a:latin typeface="Calibri"/>
              </a:defRPr>
            </a:pPr>
            <a:r>
              <a:t>KHM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365601" y="4203021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600" b="1">
                <a:solidFill>
                  <a:srgbClr val="2171B5"/>
                </a:solidFill>
                <a:latin typeface="Calibri"/>
              </a:defRPr>
            </a:pPr>
            <a:r>
              <a:t>LAO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82241" y="4192633"/>
            <a:ext cx="457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600" b="1">
                <a:solidFill>
                  <a:srgbClr val="2171B5"/>
                </a:solidFill>
                <a:latin typeface="Calibri"/>
              </a:defRPr>
            </a:pPr>
            <a:r>
              <a:t>VUT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  |  github.com/worldbank/HCI-Plus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2B4C7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East Asia &amp; Pacific  |  Component Decomposition by Region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2171B5"/>
                </a:solidFill>
                <a:latin typeface="Calibri"/>
              </a:defRPr>
            </a:pPr>
            <a:r>
              <a:t>201.7 / 325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097280"/>
          <a:ext cx="685800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0" y="1188720"/>
            <a:ext cx="4114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2171B5"/>
                </a:solidFill>
                <a:latin typeface="Calibri"/>
              </a:defRPr>
            </a:pPr>
            <a:r>
              <a:t>EAP vs WORLD AVERAGE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508760"/>
            <a:ext cx="4114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Filled = EAP  |  Hollow = World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0" y="1783080"/>
            <a:ext cx="1828800" cy="3810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201168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1A1A2E"/>
                </a:solidFill>
                <a:latin typeface="Calibri"/>
              </a:defRPr>
            </a:pPr>
            <a:r>
              <a:t>Health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875520" y="2157984"/>
            <a:ext cx="1737360" cy="25400"/>
          </a:xfrm>
          <a:prstGeom prst="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46022" y="2057400"/>
            <a:ext cx="219456" cy="219456"/>
          </a:xfrm>
          <a:prstGeom prst="ellipse">
            <a:avLst/>
          </a:prstGeom>
          <a:noFill/>
          <a:ln w="3175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252972" y="2057400"/>
            <a:ext cx="219456" cy="219456"/>
          </a:xfrm>
          <a:prstGeom prst="ellipse">
            <a:avLst/>
          </a:prstGeom>
          <a:solidFill>
            <a:srgbClr val="2B4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88380" y="2240280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2B4C7E"/>
                </a:solidFill>
                <a:latin typeface="Calibri"/>
              </a:defRPr>
            </a:pPr>
            <a:r>
              <a:t>42.8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56032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1A1A2E"/>
                </a:solidFill>
                <a:latin typeface="Calibri"/>
              </a:defRPr>
            </a:pPr>
            <a:r>
              <a:t>Education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75520" y="2706624"/>
            <a:ext cx="1737360" cy="25400"/>
          </a:xfrm>
          <a:prstGeom prst="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802416" y="2606040"/>
            <a:ext cx="219456" cy="219456"/>
          </a:xfrm>
          <a:prstGeom prst="ellipse">
            <a:avLst/>
          </a:prstGeom>
          <a:noFill/>
          <a:ln w="3175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905693" y="2606040"/>
            <a:ext cx="219456" cy="219456"/>
          </a:xfrm>
          <a:prstGeom prst="ellipse">
            <a:avLst/>
          </a:prstGeom>
          <a:solidFill>
            <a:srgbClr val="D45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41101" y="2788920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D4533B"/>
                </a:solidFill>
                <a:latin typeface="Calibri"/>
              </a:defRPr>
            </a:pPr>
            <a:r>
              <a:t>118.1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310896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1A1A2E"/>
                </a:solidFill>
                <a:latin typeface="Calibri"/>
              </a:defRPr>
            </a:pPr>
            <a:r>
              <a:t>Employment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75520" y="3255264"/>
            <a:ext cx="1737360" cy="25400"/>
          </a:xfrm>
          <a:prstGeom prst="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689074" y="3154680"/>
            <a:ext cx="219456" cy="219456"/>
          </a:xfrm>
          <a:prstGeom prst="ellipse">
            <a:avLst/>
          </a:prstGeom>
          <a:noFill/>
          <a:ln w="3175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775942" y="3154680"/>
            <a:ext cx="219456" cy="219456"/>
          </a:xfrm>
          <a:prstGeom prst="ellipse">
            <a:avLst/>
          </a:prstGeom>
          <a:solidFill>
            <a:srgbClr val="4E9A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11350" y="3337560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4E9A51"/>
                </a:solidFill>
                <a:latin typeface="Calibri"/>
              </a:defRPr>
            </a:pPr>
            <a:r>
              <a:t>40.7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3840480"/>
            <a:ext cx="4114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2171B5"/>
                </a:solidFill>
                <a:latin typeface="Calibri"/>
              </a:defRPr>
            </a:pPr>
            <a:r>
              <a:t>REGIONAL AVERAGES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0" y="4160520"/>
            <a:ext cx="1828800" cy="3810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0" y="434340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Sub-Saharan Africa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4343400"/>
            <a:ext cx="1371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1A1A2E"/>
                </a:solidFill>
                <a:latin typeface="Calibri"/>
              </a:defRPr>
            </a:pPr>
            <a:r>
              <a:t>128.4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636008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South Asia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4636008"/>
            <a:ext cx="1371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1A1A2E"/>
                </a:solidFill>
                <a:latin typeface="Calibri"/>
              </a:defRPr>
            </a:pPr>
            <a:r>
              <a:t>147.5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4928616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Latin America &amp; Carib.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4928616"/>
            <a:ext cx="1371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1A1A2E"/>
                </a:solidFill>
                <a:latin typeface="Calibri"/>
              </a:defRPr>
            </a:pPr>
            <a:r>
              <a:t>183.2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5221224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MENA+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5221224"/>
            <a:ext cx="1371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1A1A2E"/>
                </a:solidFill>
                <a:latin typeface="Calibri"/>
              </a:defRPr>
            </a:pPr>
            <a:r>
              <a:t>185.7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5513832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East Asia &amp; Pacific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5513832"/>
            <a:ext cx="1371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2171B5"/>
                </a:solidFill>
                <a:latin typeface="Calibri"/>
              </a:defRPr>
            </a:pPr>
            <a:r>
              <a:t>201.7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580644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Europe &amp; Central Asia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5806440"/>
            <a:ext cx="1371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1A1A2E"/>
                </a:solidFill>
                <a:latin typeface="Calibri"/>
              </a:defRPr>
            </a:pPr>
            <a:r>
              <a:t>233.3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6099048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World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099048"/>
            <a:ext cx="1371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9E1B34"/>
                </a:solidFill>
                <a:latin typeface="Calibri"/>
              </a:defRPr>
            </a:pPr>
            <a:r>
              <a:t>188.5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  |  github.com/worldbank/HCI-Plus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2B4C7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2B4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Health Component  |  Regional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2B4C7E"/>
                </a:solidFill>
                <a:latin typeface="Calibri"/>
              </a:defRPr>
            </a:pPr>
            <a:r>
              <a:t>EAP Avg: 42.8 / 50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48640" y="1188720"/>
          <a:ext cx="1115568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  |  github.com/worldbank/HCI-Plus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2B4C7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5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Education Component  |  Regional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D4533B"/>
                </a:solidFill>
                <a:latin typeface="Calibri"/>
              </a:defRPr>
            </a:pPr>
            <a:r>
              <a:t>EAP Avg: 118.1 / 180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48640" y="1188720"/>
          <a:ext cx="1115568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  |  github.com/worldbank/HCI-Plus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2B4C7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4E9A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Employment Component  |  Regional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4E9A51"/>
                </a:solidFill>
                <a:latin typeface="Calibri"/>
              </a:defRPr>
            </a:pPr>
            <a:r>
              <a:t>EAP Avg: 40.7 / 70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48640" y="1188720"/>
          <a:ext cx="1115568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  |  github.com/worldbank/HCI-Plus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2B4C7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East Asia &amp; Pacific  |  All Economies Ranking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2171B5"/>
                </a:solidFill>
                <a:latin typeface="Calibri"/>
              </a:defRPr>
            </a:pPr>
            <a:r>
              <a:t>201.7 / 325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11247120" cy="4937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7A7A8C"/>
                </a:solidFill>
                <a:latin typeface="Calibri"/>
              </a:defRPr>
            </a:pPr>
            <a:r>
              <a:t>ALL EAP ECONOMIES BY HCI+ SCORE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1828800" cy="3810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1078992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31520" y="5760720"/>
            <a:ext cx="228600" cy="109728"/>
          </a:xfrm>
          <a:prstGeom prst="rect">
            <a:avLst/>
          </a:prstGeom>
          <a:solidFill>
            <a:srgbClr val="7EBD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715000"/>
            <a:ext cx="164592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t>Above world avg (188.5)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0" y="5760720"/>
            <a:ext cx="228600" cy="109728"/>
          </a:xfrm>
          <a:prstGeom prst="rect">
            <a:avLst/>
          </a:prstGeom>
          <a:solidFill>
            <a:srgbClr val="E8A0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5715000"/>
            <a:ext cx="13716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t>Below world avg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  |  github.com/worldbank/HCI-Plus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2B4C7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East Asia &amp; Pacific  |  Country Decomposition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600" b="1">
                <a:solidFill>
                  <a:srgbClr val="2171B5"/>
                </a:solidFill>
                <a:latin typeface="Calibri"/>
              </a:defRPr>
            </a:pPr>
            <a:r>
              <a:t>Health + Education + Employment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471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3444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7A7A8C"/>
                </a:solidFill>
                <a:latin typeface="Calibri"/>
              </a:defRPr>
            </a:pPr>
            <a:r>
              <a:t>COMPONENT DECOMPOSITION BY ECONOMY (sorted by total HCI+)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08760"/>
            <a:ext cx="2286000" cy="3810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645920"/>
          <a:ext cx="1078992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  |  github.com/worldbank/HCI-Plus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2B4C7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2B4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Health Component  |  East Asia &amp; Pacific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2B4C7E"/>
                </a:solidFill>
                <a:latin typeface="Calibri"/>
              </a:defRPr>
            </a:pPr>
            <a:r>
              <a:t>Avg: 42.8 / 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7315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7A7A8C"/>
                </a:solidFill>
                <a:latin typeface="Calibri"/>
              </a:defRPr>
            </a:pPr>
            <a:r>
              <a:t>Health outcomes reflect adult survival (ages 15-60) and freedom from childhood stunting.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548640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828800"/>
            <a:ext cx="5486400" cy="50800"/>
          </a:xfrm>
          <a:prstGeom prst="rect">
            <a:avLst/>
          </a:prstGeom>
          <a:solidFill>
            <a:srgbClr val="2B4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2B4C7E"/>
                </a:solidFill>
                <a:latin typeface="Calibri"/>
              </a:defRPr>
            </a:pPr>
            <a:r>
              <a:t>ADULT SURVIVAL RATE (EAP AVG)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Probability of surviving from age 15 to 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06040"/>
            <a:ext cx="22860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4400" b="1">
                <a:solidFill>
                  <a:srgbClr val="2B4C7E"/>
                </a:solidFill>
                <a:latin typeface="Calibri Light"/>
              </a:defRPr>
            </a:pPr>
            <a:r>
              <a:t>85.3%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37560"/>
            <a:ext cx="4937760" cy="164592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3337560"/>
            <a:ext cx="4211909" cy="164592"/>
          </a:xfrm>
          <a:prstGeom prst="roundRect">
            <a:avLst/>
          </a:prstGeom>
          <a:solidFill>
            <a:srgbClr val="2B4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2651760"/>
            <a:ext cx="2286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7A7A8C"/>
                </a:solidFill>
                <a:latin typeface="Calibri"/>
              </a:defRPr>
            </a:pPr>
            <a:r>
              <a:t>World avg: 81.5%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26080"/>
            <a:ext cx="2286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2171B5"/>
                </a:solidFill>
                <a:latin typeface="Calibri"/>
              </a:defRPr>
            </a:pPr>
            <a:r>
              <a:t>Best: Korea 96.7%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5794" y="3246120"/>
            <a:ext cx="25400" cy="347472"/>
          </a:xfrm>
          <a:prstGeom prst="rect">
            <a:avLst/>
          </a:prstGeom>
          <a:solidFill>
            <a:srgbClr val="9E1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1474" y="3566160"/>
            <a:ext cx="109728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0">
                <a:solidFill>
                  <a:srgbClr val="9E1B34"/>
                </a:solidFill>
                <a:latin typeface="Calibri"/>
              </a:defRPr>
            </a:pPr>
            <a:r>
              <a:t>World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828800"/>
            <a:ext cx="548640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828800"/>
            <a:ext cx="5486400" cy="50800"/>
          </a:xfrm>
          <a:prstGeom prst="rect">
            <a:avLst/>
          </a:prstGeom>
          <a:solidFill>
            <a:srgbClr val="2B4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1168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2B4C7E"/>
                </a:solidFill>
                <a:latin typeface="Calibri"/>
              </a:defRPr>
            </a:pPr>
            <a:r>
              <a:t>NOT STUNTED RATE (EAP AVG)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28600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Share of children under 5 not stunted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606040"/>
            <a:ext cx="22860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4400" b="1">
                <a:solidFill>
                  <a:srgbClr val="2B4C7E"/>
                </a:solidFill>
                <a:latin typeface="Calibri Light"/>
              </a:defRPr>
            </a:pPr>
            <a:r>
              <a:t>86.6%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3337560"/>
            <a:ext cx="4937760" cy="164592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92240" y="3337560"/>
            <a:ext cx="4276100" cy="164592"/>
          </a:xfrm>
          <a:prstGeom prst="roundRect">
            <a:avLst/>
          </a:prstGeom>
          <a:solidFill>
            <a:srgbClr val="2B4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0" y="2651760"/>
            <a:ext cx="2286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7A7A8C"/>
                </a:solidFill>
                <a:latin typeface="Calibri"/>
              </a:defRPr>
            </a:pPr>
            <a:r>
              <a:t>World avg: 77.1%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0" y="2926080"/>
            <a:ext cx="2286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2171B5"/>
                </a:solidFill>
                <a:latin typeface="Calibri"/>
              </a:defRPr>
            </a:pPr>
            <a:r>
              <a:t>Best: Korea 99.1%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299252" y="3246120"/>
            <a:ext cx="25400" cy="347472"/>
          </a:xfrm>
          <a:prstGeom prst="rect">
            <a:avLst/>
          </a:prstGeom>
          <a:solidFill>
            <a:srgbClr val="9E1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24932" y="3566160"/>
            <a:ext cx="109728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0">
                <a:solidFill>
                  <a:srgbClr val="9E1B34"/>
                </a:solidFill>
                <a:latin typeface="Calibri"/>
              </a:defRPr>
            </a:pPr>
            <a:r>
              <a:t>World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97680"/>
            <a:ext cx="11247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297680"/>
            <a:ext cx="63500" cy="1463040"/>
          </a:xfrm>
          <a:prstGeom prst="rect">
            <a:avLst/>
          </a:prstGeom>
          <a:solidFill>
            <a:srgbClr val="2B4C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389120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2B4C7E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617720"/>
            <a:ext cx="105156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EAP's health score of 42.8 ranks 3rd among regions, just above the world average (42.6). Adult survival averages 85.3% — well above the global mean (81.5%) — and stunting rates are low (13.4%). Korea leads with 96.7% adult survival and 99.1% not-stunted. Pacific Island nations and some ASEAN economies remain below regional averages, presenting targeted opportunities for health investment.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  |  github.com/worldbank/HCI-Plus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2B4C7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D45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Education Component  |  East Asia &amp; Pacific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D4533B"/>
                </a:solidFill>
                <a:latin typeface="Calibri"/>
              </a:defRPr>
            </a:pPr>
            <a:r>
              <a:t>Avg: 118.1 / 180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7315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7A7A8C"/>
                </a:solidFill>
                <a:latin typeface="Calibri"/>
              </a:defRPr>
            </a:pPr>
            <a:r>
              <a:t>Education captures learning quality, years of schooling, pre-primary education, and tertiary enrollment.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2697480" cy="2651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828800"/>
            <a:ext cx="2697480" cy="50800"/>
          </a:xfrm>
          <a:prstGeom prst="rect">
            <a:avLst/>
          </a:prstGeom>
          <a:solidFill>
            <a:srgbClr val="D45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11680"/>
            <a:ext cx="2423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Calibri"/>
              </a:defRPr>
            </a:pPr>
            <a:r>
              <a:t>Expected Years</a:t>
            </a:r>
            <a:br/>
            <a:r>
              <a:t>of Schooling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560320"/>
            <a:ext cx="24231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600" b="1">
                <a:solidFill>
                  <a:srgbClr val="D4533B"/>
                </a:solidFill>
                <a:latin typeface="Calibri Light"/>
              </a:defRPr>
            </a:pPr>
            <a:r>
              <a:t>10.8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200400"/>
            <a:ext cx="24231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years (EAP avg)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520440"/>
            <a:ext cx="2423160" cy="109728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20440"/>
            <a:ext cx="1869294" cy="109728"/>
          </a:xfrm>
          <a:prstGeom prst="roundRect">
            <a:avLst/>
          </a:prstGeom>
          <a:solidFill>
            <a:srgbClr val="D45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2496" y="3429000"/>
            <a:ext cx="25400" cy="292608"/>
          </a:xfrm>
          <a:prstGeom prst="rect">
            <a:avLst/>
          </a:prstGeom>
          <a:solidFill>
            <a:srgbClr val="9E1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13896" y="3703320"/>
            <a:ext cx="548640" cy="137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600" b="0">
                <a:solidFill>
                  <a:srgbClr val="9E1B34"/>
                </a:solidFill>
                <a:latin typeface="Calibri"/>
              </a:defRPr>
            </a:pPr>
            <a:r>
              <a:t>World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840480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7A7A8C"/>
                </a:solidFill>
                <a:latin typeface="Calibri"/>
              </a:defRPr>
            </a:pPr>
            <a:r>
              <a:t>World: 10.1 yrs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023360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1">
                <a:solidFill>
                  <a:srgbClr val="2171B5"/>
                </a:solidFill>
                <a:latin typeface="Calibri"/>
              </a:defRPr>
            </a:pPr>
            <a:r>
              <a:t>Best: Japan 12.0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37560" y="1828800"/>
            <a:ext cx="2697480" cy="2651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37560" y="1828800"/>
            <a:ext cx="2697480" cy="50800"/>
          </a:xfrm>
          <a:prstGeom prst="rect">
            <a:avLst/>
          </a:prstGeom>
          <a:solidFill>
            <a:srgbClr val="D45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2011680"/>
            <a:ext cx="2423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Calibri"/>
              </a:defRPr>
            </a:pPr>
            <a:r>
              <a:t>Harmonized Learning</a:t>
            </a:r>
            <a:br/>
            <a:r>
              <a:t>Outcomes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2560320"/>
            <a:ext cx="24231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600" b="1">
                <a:solidFill>
                  <a:srgbClr val="D4533B"/>
                </a:solidFill>
                <a:latin typeface="Calibri Light"/>
              </a:defRPr>
            </a:pPr>
            <a:r>
              <a:t>436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3200400"/>
            <a:ext cx="24231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HLO score (out of 625)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74720" y="3520440"/>
            <a:ext cx="2423160" cy="109728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474720" y="3520440"/>
            <a:ext cx="1690396" cy="109728"/>
          </a:xfrm>
          <a:prstGeom prst="roundRect">
            <a:avLst/>
          </a:prstGeom>
          <a:solidFill>
            <a:srgbClr val="D45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68190" y="3429000"/>
            <a:ext cx="25400" cy="292608"/>
          </a:xfrm>
          <a:prstGeom prst="rect">
            <a:avLst/>
          </a:prstGeom>
          <a:solidFill>
            <a:srgbClr val="9E1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39590" y="3703320"/>
            <a:ext cx="548640" cy="137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600" b="0">
                <a:solidFill>
                  <a:srgbClr val="9E1B34"/>
                </a:solidFill>
                <a:latin typeface="Calibri"/>
              </a:defRPr>
            </a:pPr>
            <a:r>
              <a:t>World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3840480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7A7A8C"/>
                </a:solidFill>
                <a:latin typeface="Calibri"/>
              </a:defRPr>
            </a:pPr>
            <a:r>
              <a:t>World: 411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4023360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1">
                <a:solidFill>
                  <a:srgbClr val="2171B5"/>
                </a:solidFill>
                <a:latin typeface="Calibri"/>
              </a:defRPr>
            </a:pPr>
            <a:r>
              <a:t>Best: Singapore 594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1828800"/>
            <a:ext cx="2697480" cy="2651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0" y="1828800"/>
            <a:ext cx="2697480" cy="50800"/>
          </a:xfrm>
          <a:prstGeom prst="rect">
            <a:avLst/>
          </a:prstGeom>
          <a:solidFill>
            <a:srgbClr val="D45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2011680"/>
            <a:ext cx="2423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Calibri"/>
              </a:defRPr>
            </a:pPr>
            <a:r>
              <a:t>Pre-Primary</a:t>
            </a:r>
            <a:br/>
            <a:r>
              <a:t>Education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2560320"/>
            <a:ext cx="24231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600" b="1">
                <a:solidFill>
                  <a:srgbClr val="D4533B"/>
                </a:solidFill>
                <a:latin typeface="Calibri Light"/>
              </a:defRPr>
            </a:pPr>
            <a:r>
              <a:t>0.59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3200400"/>
            <a:ext cx="24231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learning-adj. years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55080" y="3520440"/>
            <a:ext cx="2423160" cy="109728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355080" y="3520440"/>
            <a:ext cx="1429664" cy="109728"/>
          </a:xfrm>
          <a:prstGeom prst="roundRect">
            <a:avLst/>
          </a:prstGeom>
          <a:solidFill>
            <a:srgbClr val="D45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469733" y="3429000"/>
            <a:ext cx="25400" cy="292608"/>
          </a:xfrm>
          <a:prstGeom prst="rect">
            <a:avLst/>
          </a:prstGeom>
          <a:solidFill>
            <a:srgbClr val="9E1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41133" y="3703320"/>
            <a:ext cx="548640" cy="137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600" b="0">
                <a:solidFill>
                  <a:srgbClr val="9E1B34"/>
                </a:solidFill>
                <a:latin typeface="Calibri"/>
              </a:defRPr>
            </a:pPr>
            <a:r>
              <a:t>World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3840480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7A7A8C"/>
                </a:solidFill>
                <a:latin typeface="Calibri"/>
              </a:defRPr>
            </a:pPr>
            <a:r>
              <a:t>World: 0.46 yrs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4023360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1">
                <a:solidFill>
                  <a:srgbClr val="2171B5"/>
                </a:solidFill>
                <a:latin typeface="Calibri"/>
              </a:defRPr>
            </a:pPr>
            <a:r>
              <a:t>Best: Singapore 0.91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98280" y="1828800"/>
            <a:ext cx="2697480" cy="2651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098280" y="1828800"/>
            <a:ext cx="2697480" cy="50800"/>
          </a:xfrm>
          <a:prstGeom prst="rect">
            <a:avLst/>
          </a:prstGeom>
          <a:solidFill>
            <a:srgbClr val="D45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35440" y="2011680"/>
            <a:ext cx="2423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Calibri"/>
              </a:defRPr>
            </a:pPr>
            <a:r>
              <a:t>Tertiary</a:t>
            </a:r>
            <a:br/>
            <a:r>
              <a:t>Enrollment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2560320"/>
            <a:ext cx="24231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600" b="1">
                <a:solidFill>
                  <a:srgbClr val="D4533B"/>
                </a:solidFill>
                <a:latin typeface="Calibri Light"/>
              </a:defRPr>
            </a:pPr>
            <a:r>
              <a:t>37.4%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5440" y="3200400"/>
            <a:ext cx="24231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gross enrollment rate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35440" y="3520440"/>
            <a:ext cx="2423160" cy="109728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235440" y="3520440"/>
            <a:ext cx="906261" cy="109728"/>
          </a:xfrm>
          <a:prstGeom prst="roundRect">
            <a:avLst/>
          </a:prstGeom>
          <a:solidFill>
            <a:srgbClr val="D45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025390" y="3429000"/>
            <a:ext cx="25400" cy="292608"/>
          </a:xfrm>
          <a:prstGeom prst="rect">
            <a:avLst/>
          </a:prstGeom>
          <a:solidFill>
            <a:srgbClr val="9E1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96790" y="3703320"/>
            <a:ext cx="548640" cy="137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600" b="0">
                <a:solidFill>
                  <a:srgbClr val="9E1B34"/>
                </a:solidFill>
                <a:latin typeface="Calibri"/>
              </a:defRPr>
            </a:pPr>
            <a:r>
              <a:t>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3840480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7A7A8C"/>
                </a:solidFill>
                <a:latin typeface="Calibri"/>
              </a:defRPr>
            </a:pPr>
            <a:r>
              <a:t>World: 32.6%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35440" y="4023360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1">
                <a:solidFill>
                  <a:srgbClr val="2171B5"/>
                </a:solidFill>
                <a:latin typeface="Calibri"/>
              </a:defRPr>
            </a:pPr>
            <a:r>
              <a:t>Best: Korea 76.9%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7200" y="4709160"/>
            <a:ext cx="11247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57200" y="4709160"/>
            <a:ext cx="63500" cy="1463040"/>
          </a:xfrm>
          <a:prstGeom prst="rect">
            <a:avLst/>
          </a:prstGeom>
          <a:solidFill>
            <a:srgbClr val="D45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1520" y="4800600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D4533B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5029200"/>
            <a:ext cx="105156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Education is EAP's strongest component, scoring 118.1 — well above the world average (107.4) and second only to Europe &amp; Central Asia (140.8). Singapore leads globally with an HLO of 594. EAP averages 10.8 expected years of schooling. Tertiary enrollment (37.4%) and pre-primary (0.59 years) remain areas for growth across the region.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  |  github.com/worldbank/HCI-Plus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2B4C7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4E9A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Employment Component  |  East Asia &amp; Pacific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4E9A51"/>
                </a:solidFill>
                <a:latin typeface="Calibri"/>
              </a:defRPr>
            </a:pPr>
            <a:r>
              <a:t>Avg: 40.7 / 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9144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7A7A8C"/>
                </a:solidFill>
                <a:latin typeface="Calibri"/>
              </a:defRPr>
            </a:pPr>
            <a:r>
              <a:t>Employment captures labor force participation, wage employment, and skill accumulation for youth (15–24) and working-age (25–65).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4E9A51"/>
                </a:solidFill>
                <a:latin typeface="Calibri"/>
              </a:defRPr>
            </a:pPr>
            <a:r>
              <a:t>YOUTH (15–24)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83080"/>
            <a:ext cx="3520440" cy="1600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3520440" cy="38100"/>
          </a:xfrm>
          <a:prstGeom prst="rect">
            <a:avLst/>
          </a:prstGeom>
          <a:solidFill>
            <a:srgbClr val="4E9A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74520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1A1A2E"/>
                </a:solidFill>
                <a:latin typeface="Calibri"/>
              </a:defRPr>
            </a:pPr>
            <a:r>
              <a:t>LFP Youth</a:t>
            </a:r>
            <a:br/>
            <a:r>
              <a:t>(15–24)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94560"/>
            <a:ext cx="1371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600" b="1">
                <a:solidFill>
                  <a:srgbClr val="4E9A51"/>
                </a:solidFill>
                <a:latin typeface="Calibri Light"/>
              </a:defRPr>
            </a:pPr>
            <a:r>
              <a:t>60.0%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240280"/>
            <a:ext cx="19659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700" b="0">
                <a:solidFill>
                  <a:srgbClr val="7A7A8C"/>
                </a:solidFill>
                <a:latin typeface="Calibri"/>
              </a:defRPr>
            </a:pPr>
            <a:r>
              <a:t>EAP average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51760"/>
            <a:ext cx="3337560" cy="91440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2651760"/>
            <a:ext cx="2002536" cy="91440"/>
          </a:xfrm>
          <a:prstGeom prst="roundRect">
            <a:avLst/>
          </a:prstGeom>
          <a:solidFill>
            <a:srgbClr val="4E9A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57343" y="2587752"/>
            <a:ext cx="25400" cy="228600"/>
          </a:xfrm>
          <a:prstGeom prst="rect">
            <a:avLst/>
          </a:prstGeom>
          <a:solidFill>
            <a:srgbClr val="9E1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74463" y="2807208"/>
            <a:ext cx="45720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9E1B34"/>
                </a:solidFill>
                <a:latin typeface="Calibri"/>
              </a:defRPr>
            </a:pPr>
            <a:r>
              <a:t>World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926080"/>
            <a:ext cx="333756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700" b="0">
                <a:solidFill>
                  <a:srgbClr val="7A7A8C"/>
                </a:solidFill>
                <a:latin typeface="Calibri"/>
              </a:defRPr>
            </a:pPr>
            <a:r>
              <a:t>World: 48.2%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090672"/>
            <a:ext cx="333756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700" b="1">
                <a:solidFill>
                  <a:srgbClr val="2171B5"/>
                </a:solidFill>
                <a:latin typeface="Calibri"/>
              </a:defRPr>
            </a:pPr>
            <a:r>
              <a:t>Best: Nauru 79.7%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0" y="1783080"/>
            <a:ext cx="3520440" cy="1600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06240" y="1783080"/>
            <a:ext cx="3520440" cy="38100"/>
          </a:xfrm>
          <a:prstGeom prst="rect">
            <a:avLst/>
          </a:prstGeom>
          <a:solidFill>
            <a:srgbClr val="4E9A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874520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1A1A2E"/>
                </a:solidFill>
                <a:latin typeface="Calibri"/>
              </a:defRPr>
            </a:pPr>
            <a:r>
              <a:t>Emp. Rate Youth</a:t>
            </a:r>
            <a:br/>
            <a:r>
              <a:t>(15–24)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194560"/>
            <a:ext cx="1371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600" b="1">
                <a:solidFill>
                  <a:srgbClr val="4E9A51"/>
                </a:solidFill>
                <a:latin typeface="Calibri Light"/>
              </a:defRPr>
            </a:pPr>
            <a:r>
              <a:t>53.0%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2240280"/>
            <a:ext cx="19659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700" b="0">
                <a:solidFill>
                  <a:srgbClr val="7A7A8C"/>
                </a:solidFill>
                <a:latin typeface="Calibri"/>
              </a:defRPr>
            </a:pPr>
            <a:r>
              <a:t>EAP average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2651760"/>
            <a:ext cx="3337560" cy="91440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297680" y="2651760"/>
            <a:ext cx="1768906" cy="91440"/>
          </a:xfrm>
          <a:prstGeom prst="roundRect">
            <a:avLst/>
          </a:prstGeom>
          <a:solidFill>
            <a:srgbClr val="4E9A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19353" y="2587752"/>
            <a:ext cx="25400" cy="228600"/>
          </a:xfrm>
          <a:prstGeom prst="rect">
            <a:avLst/>
          </a:prstGeom>
          <a:solidFill>
            <a:srgbClr val="9E1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36473" y="2807208"/>
            <a:ext cx="45720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9E1B34"/>
                </a:solidFill>
                <a:latin typeface="Calibri"/>
              </a:defRPr>
            </a:pPr>
            <a:r>
              <a:t>World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2926080"/>
            <a:ext cx="333756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700" b="0">
                <a:solidFill>
                  <a:srgbClr val="7A7A8C"/>
                </a:solidFill>
                <a:latin typeface="Calibri"/>
              </a:defRPr>
            </a:pPr>
            <a:r>
              <a:t>World: 39.6%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3090672"/>
            <a:ext cx="333756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700" b="1">
                <a:solidFill>
                  <a:srgbClr val="2171B5"/>
                </a:solidFill>
                <a:latin typeface="Calibri"/>
              </a:defRPr>
            </a:pPr>
            <a:r>
              <a:t>Best: Cambodia 68.5%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5280" y="1783080"/>
            <a:ext cx="3520440" cy="1600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55280" y="1783080"/>
            <a:ext cx="3520440" cy="38100"/>
          </a:xfrm>
          <a:prstGeom prst="rect">
            <a:avLst/>
          </a:prstGeom>
          <a:solidFill>
            <a:srgbClr val="4E9A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0" y="1874520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1A1A2E"/>
                </a:solidFill>
                <a:latin typeface="Calibri"/>
              </a:defRPr>
            </a:pPr>
            <a:r>
              <a:t>Wage Emp.</a:t>
            </a:r>
            <a:br/>
            <a:r>
              <a:t>Youth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2194560"/>
            <a:ext cx="1371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600" b="1">
                <a:solidFill>
                  <a:srgbClr val="4E9A51"/>
                </a:solidFill>
                <a:latin typeface="Calibri Light"/>
              </a:defRPr>
            </a:pPr>
            <a:r>
              <a:t>75.2%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2240280"/>
            <a:ext cx="19659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700" b="0">
                <a:solidFill>
                  <a:srgbClr val="7A7A8C"/>
                </a:solidFill>
                <a:latin typeface="Calibri"/>
              </a:defRPr>
            </a:pPr>
            <a:r>
              <a:t>wage share of employment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46720" y="2651760"/>
            <a:ext cx="3337560" cy="91440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46720" y="2651760"/>
            <a:ext cx="2509845" cy="91440"/>
          </a:xfrm>
          <a:prstGeom prst="roundRect">
            <a:avLst/>
          </a:prstGeom>
          <a:solidFill>
            <a:srgbClr val="4E9A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85715" y="2587752"/>
            <a:ext cx="25400" cy="228600"/>
          </a:xfrm>
          <a:prstGeom prst="rect">
            <a:avLst/>
          </a:prstGeom>
          <a:solidFill>
            <a:srgbClr val="9E1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02835" y="2807208"/>
            <a:ext cx="45720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9E1B34"/>
                </a:solidFill>
                <a:latin typeface="Calibri"/>
              </a:defRPr>
            </a:pPr>
            <a:r>
              <a:t>World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2926080"/>
            <a:ext cx="333756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700" b="0">
                <a:solidFill>
                  <a:srgbClr val="7A7A8C"/>
                </a:solidFill>
                <a:latin typeface="Calibri"/>
              </a:defRPr>
            </a:pPr>
            <a:r>
              <a:t>World: 55.1%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46720" y="3090672"/>
            <a:ext cx="333756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700" b="1">
                <a:solidFill>
                  <a:srgbClr val="2171B5"/>
                </a:solidFill>
                <a:latin typeface="Calibri"/>
              </a:defRPr>
            </a:pPr>
            <a:r>
              <a:t>Best: Japan 93.8%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352044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4E9A51"/>
                </a:solidFill>
                <a:latin typeface="Calibri"/>
              </a:defRPr>
            </a:pPr>
            <a:r>
              <a:t>WORKING AGE (25–65)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3749039"/>
            <a:ext cx="3520440" cy="1600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3749039"/>
            <a:ext cx="3520440" cy="38100"/>
          </a:xfrm>
          <a:prstGeom prst="rect">
            <a:avLst/>
          </a:prstGeom>
          <a:solidFill>
            <a:srgbClr val="4E9A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3840479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1A1A2E"/>
                </a:solidFill>
                <a:latin typeface="Calibri"/>
              </a:defRPr>
            </a:pPr>
            <a:r>
              <a:t>LFP Working Age</a:t>
            </a:r>
            <a:br/>
            <a:r>
              <a:t>(25–65)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4160519"/>
            <a:ext cx="1371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600" b="1">
                <a:solidFill>
                  <a:srgbClr val="4E9A51"/>
                </a:solidFill>
                <a:latin typeface="Calibri Light"/>
              </a:defRPr>
            </a:pPr>
            <a:r>
              <a:t>75.3%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20240" y="4206239"/>
            <a:ext cx="19659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700" b="0">
                <a:solidFill>
                  <a:srgbClr val="7A7A8C"/>
                </a:solidFill>
                <a:latin typeface="Calibri"/>
              </a:defRPr>
            </a:pPr>
            <a:r>
              <a:t>EAP average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8640" y="4617719"/>
            <a:ext cx="3337560" cy="91440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8640" y="4617719"/>
            <a:ext cx="2513182" cy="91440"/>
          </a:xfrm>
          <a:prstGeom prst="roundRect">
            <a:avLst/>
          </a:prstGeom>
          <a:solidFill>
            <a:srgbClr val="4E9A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971708" y="4553711"/>
            <a:ext cx="25400" cy="228600"/>
          </a:xfrm>
          <a:prstGeom prst="rect">
            <a:avLst/>
          </a:prstGeom>
          <a:solidFill>
            <a:srgbClr val="9E1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88828" y="4773167"/>
            <a:ext cx="45720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9E1B34"/>
                </a:solidFill>
                <a:latin typeface="Calibri"/>
              </a:defRPr>
            </a:pPr>
            <a:r>
              <a:t>World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4892039"/>
            <a:ext cx="333756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700" b="0">
                <a:solidFill>
                  <a:srgbClr val="7A7A8C"/>
                </a:solidFill>
                <a:latin typeface="Calibri"/>
              </a:defRPr>
            </a:pPr>
            <a:r>
              <a:t>World: 72.6%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5056631"/>
            <a:ext cx="333756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700" b="1">
                <a:solidFill>
                  <a:srgbClr val="2171B5"/>
                </a:solidFill>
                <a:latin typeface="Calibri"/>
              </a:defRPr>
            </a:pPr>
            <a:r>
              <a:t>Best: Palau 87.8%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06240" y="3749039"/>
            <a:ext cx="3520440" cy="1600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206240" y="3749039"/>
            <a:ext cx="3520440" cy="38100"/>
          </a:xfrm>
          <a:prstGeom prst="rect">
            <a:avLst/>
          </a:prstGeom>
          <a:solidFill>
            <a:srgbClr val="4E9A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297680" y="3840479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1A1A2E"/>
                </a:solidFill>
                <a:latin typeface="Calibri"/>
              </a:defRPr>
            </a:pPr>
            <a:r>
              <a:t>Emp. Rate Working Age</a:t>
            </a:r>
            <a:br/>
            <a:r>
              <a:t>(25–65)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97680" y="4160519"/>
            <a:ext cx="1371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600" b="1">
                <a:solidFill>
                  <a:srgbClr val="4E9A51"/>
                </a:solidFill>
                <a:latin typeface="Calibri Light"/>
              </a:defRPr>
            </a:pPr>
            <a:r>
              <a:t>72.5%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4206239"/>
            <a:ext cx="19659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700" b="0">
                <a:solidFill>
                  <a:srgbClr val="7A7A8C"/>
                </a:solidFill>
                <a:latin typeface="Calibri"/>
              </a:defRPr>
            </a:pPr>
            <a:r>
              <a:t>EAP average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297680" y="4617719"/>
            <a:ext cx="3337560" cy="91440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297680" y="4617719"/>
            <a:ext cx="2419731" cy="91440"/>
          </a:xfrm>
          <a:prstGeom prst="roundRect">
            <a:avLst/>
          </a:prstGeom>
          <a:solidFill>
            <a:srgbClr val="4E9A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93921" y="4553711"/>
            <a:ext cx="25400" cy="228600"/>
          </a:xfrm>
          <a:prstGeom prst="rect">
            <a:avLst/>
          </a:prstGeom>
          <a:solidFill>
            <a:srgbClr val="9E1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11041" y="4773167"/>
            <a:ext cx="45720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9E1B34"/>
                </a:solidFill>
                <a:latin typeface="Calibri"/>
              </a:defRPr>
            </a:pPr>
            <a:r>
              <a:t>World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4892039"/>
            <a:ext cx="333756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700" b="0">
                <a:solidFill>
                  <a:srgbClr val="7A7A8C"/>
                </a:solidFill>
                <a:latin typeface="Calibri"/>
              </a:defRPr>
            </a:pPr>
            <a:r>
              <a:t>World: 68.8%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97680" y="5056631"/>
            <a:ext cx="333756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700" b="1">
                <a:solidFill>
                  <a:srgbClr val="2171B5"/>
                </a:solidFill>
                <a:latin typeface="Calibri"/>
              </a:defRPr>
            </a:pPr>
            <a:r>
              <a:t>Best: Palau 85.2%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955280" y="3749039"/>
            <a:ext cx="3520440" cy="1600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955280" y="3749039"/>
            <a:ext cx="3520440" cy="38100"/>
          </a:xfrm>
          <a:prstGeom prst="rect">
            <a:avLst/>
          </a:prstGeom>
          <a:solidFill>
            <a:srgbClr val="4E9A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46720" y="3840479"/>
            <a:ext cx="3337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1A1A2E"/>
                </a:solidFill>
                <a:latin typeface="Calibri"/>
              </a:defRPr>
            </a:pPr>
            <a:r>
              <a:t>Wage Emp.</a:t>
            </a:r>
            <a:br/>
            <a:r>
              <a:t>Working Age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46720" y="4160519"/>
            <a:ext cx="1371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600" b="1">
                <a:solidFill>
                  <a:srgbClr val="4E9A51"/>
                </a:solidFill>
                <a:latin typeface="Calibri Light"/>
              </a:defRPr>
            </a:pPr>
            <a:r>
              <a:t>71.0%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418320" y="4206239"/>
            <a:ext cx="19659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700" b="0">
                <a:solidFill>
                  <a:srgbClr val="7A7A8C"/>
                </a:solidFill>
                <a:latin typeface="Calibri"/>
              </a:defRPr>
            </a:pPr>
            <a:r>
              <a:t>wage share of employment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046720" y="4617719"/>
            <a:ext cx="3337560" cy="91440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046720" y="4617719"/>
            <a:ext cx="2369667" cy="91440"/>
          </a:xfrm>
          <a:prstGeom prst="roundRect">
            <a:avLst/>
          </a:prstGeom>
          <a:solidFill>
            <a:srgbClr val="4E9A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042580" y="4553711"/>
            <a:ext cx="25400" cy="228600"/>
          </a:xfrm>
          <a:prstGeom prst="rect">
            <a:avLst/>
          </a:prstGeom>
          <a:solidFill>
            <a:srgbClr val="9E1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859700" y="4773167"/>
            <a:ext cx="457200" cy="10972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00" b="0">
                <a:solidFill>
                  <a:srgbClr val="9E1B34"/>
                </a:solidFill>
                <a:latin typeface="Calibri"/>
              </a:defRPr>
            </a:pPr>
            <a:r>
              <a:t>World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46720" y="4892039"/>
            <a:ext cx="333756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700" b="0">
                <a:solidFill>
                  <a:srgbClr val="7A7A8C"/>
                </a:solidFill>
                <a:latin typeface="Calibri"/>
              </a:defRPr>
            </a:pPr>
            <a:r>
              <a:t>World: 59.8%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046720" y="5056631"/>
            <a:ext cx="333756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700" b="1">
                <a:solidFill>
                  <a:srgbClr val="2171B5"/>
                </a:solidFill>
                <a:latin typeface="Calibri"/>
              </a:defRPr>
            </a:pPr>
            <a:r>
              <a:t>Best: Japan 92.4%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7200" y="5440680"/>
            <a:ext cx="11247120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57200" y="5440680"/>
            <a:ext cx="50800" cy="777240"/>
          </a:xfrm>
          <a:prstGeom prst="rect">
            <a:avLst/>
          </a:prstGeom>
          <a:solidFill>
            <a:srgbClr val="4E9A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5468112"/>
            <a:ext cx="42062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4E9A51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31520" y="5650992"/>
            <a:ext cx="10515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EAP employment (40.7) ranks 3rd among regions, above world avg (37.2). Youth LFP (60.0%) far exceeds global avg (48.2%). Japan leads wage employment; Palau and Nauru post strong LFP rates.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  |  github.com/worldbank/HCI-Plus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2B4C7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Gender Analysis  |  Male vs Female HCI+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2171B5"/>
                </a:solidFill>
                <a:latin typeface="Calibri"/>
              </a:defRPr>
            </a:pPr>
            <a:r>
              <a:t>East Asia &amp; Pacific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82296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6400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7A7A8C"/>
                </a:solidFill>
                <a:latin typeface="Calibri"/>
              </a:defRPr>
            </a:pPr>
            <a:r>
              <a:t>MALE HCI+ vs FEMALE HCI+ BY ECONOMY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2286000" cy="3810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6400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Countries above the 45° line: Male HCI+ &gt; Female HCI+. Below: Female HCI+ &gt; Male HCI+.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31520" y="2011680"/>
          <a:ext cx="76809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018020" y="2129942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JPN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6127" y="2332024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E07B73"/>
                </a:solidFill>
                <a:latin typeface="Calibri"/>
              </a:defRPr>
            </a:pPr>
            <a:r>
              <a:t>SGP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8808" y="2444953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KOR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0601" y="2439009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AUS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1658" y="2670809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NZL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7089" y="2680716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HKG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7678" y="2906572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E07B73"/>
                </a:solidFill>
                <a:latin typeface="Calibri"/>
              </a:defRPr>
            </a:pPr>
            <a:r>
              <a:t>MAC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59476" y="3647541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E07B73"/>
                </a:solidFill>
                <a:latin typeface="Calibri"/>
              </a:defRPr>
            </a:pPr>
            <a:r>
              <a:t>CHN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86553" y="3714902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E07B73"/>
                </a:solidFill>
                <a:latin typeface="Calibri"/>
              </a:defRPr>
            </a:pPr>
            <a:r>
              <a:t>VNM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446" y="3833774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E07B73"/>
                </a:solidFill>
                <a:latin typeface="Calibri"/>
              </a:defRPr>
            </a:pPr>
            <a:r>
              <a:t>MNG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18152" y="3845661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E07B73"/>
                </a:solidFill>
                <a:latin typeface="Calibri"/>
              </a:defRPr>
            </a:pPr>
            <a:r>
              <a:t>BRN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9356" y="4045762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E07B73"/>
                </a:solidFill>
                <a:latin typeface="Calibri"/>
              </a:defRPr>
            </a:pPr>
            <a:r>
              <a:t>THA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65549" y="3804056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MYS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7542" y="3762451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FJI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52090" y="4085386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IDN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44545" y="4344924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PHL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72358" y="4396435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TON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4692" y="4745126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E07B73"/>
                </a:solidFill>
                <a:latin typeface="Calibri"/>
              </a:defRPr>
            </a:pPr>
            <a:r>
              <a:t>TUV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58846" y="4630216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WSM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32532" y="4715408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E07B73"/>
                </a:solidFill>
                <a:latin typeface="Calibri"/>
              </a:defRPr>
            </a:pPr>
            <a:r>
              <a:t>KIR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60397" y="4758994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MMR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30324" y="4901641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MHL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25040" y="5359298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E07B73"/>
                </a:solidFill>
                <a:latin typeface="Calibri"/>
              </a:defRPr>
            </a:pPr>
            <a:r>
              <a:t>KHM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91996" y="5103723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LAO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8016" y="5022494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VUT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61120" y="1188720"/>
            <a:ext cx="283464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961120" y="1188720"/>
            <a:ext cx="63500" cy="53035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35440" y="137160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2171B5"/>
                </a:solidFill>
                <a:latin typeface="Calibri"/>
              </a:defRPr>
            </a:pPr>
            <a:r>
              <a:t>GENDER ANALYSIS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35440" y="1737360"/>
            <a:ext cx="228600" cy="137160"/>
          </a:xfrm>
          <a:prstGeom prst="rect">
            <a:avLst/>
          </a:prstGeom>
          <a:solidFill>
            <a:srgbClr val="6B8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55480" y="1709928"/>
            <a:ext cx="210312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Male HCI+ &gt; Female HCI+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35440" y="1965960"/>
            <a:ext cx="228600" cy="137160"/>
          </a:xfrm>
          <a:prstGeom prst="rect">
            <a:avLst/>
          </a:prstGeom>
          <a:solidFill>
            <a:srgbClr val="E07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555480" y="1938528"/>
            <a:ext cx="210312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Female HCI+ ≥ Male HCI+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35440" y="2240280"/>
            <a:ext cx="2468880" cy="127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35440" y="237744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2171B5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5440" y="2651760"/>
            <a:ext cx="24688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Above 45° line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35440" y="288036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1A1A2E"/>
                </a:solidFill>
                <a:latin typeface="Calibri"/>
              </a:defRPr>
            </a:pPr>
            <a:r>
              <a:t>15 economies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5440" y="3154680"/>
            <a:ext cx="246888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7A7A8C"/>
                </a:solidFill>
                <a:latin typeface="Calibri"/>
              </a:defRPr>
            </a:pPr>
            <a:r>
              <a:t>Male HCI+ exceeds Female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35440" y="3337560"/>
            <a:ext cx="24688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Below 45° line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5440" y="356616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1A1A2E"/>
                </a:solidFill>
                <a:latin typeface="Calibri"/>
              </a:defRPr>
            </a:pPr>
            <a:r>
              <a:t>10 economies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3840480"/>
            <a:ext cx="246888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7A7A8C"/>
                </a:solidFill>
                <a:latin typeface="Calibri"/>
              </a:defRPr>
            </a:pPr>
            <a:r>
              <a:t>Female HCI+ exceeds Male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35440" y="4023360"/>
            <a:ext cx="24688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Largest male</a:t>
            </a:r>
            <a:br/>
            <a:r>
              <a:t>advantage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5440" y="425196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1A1A2E"/>
                </a:solidFill>
                <a:latin typeface="Calibri"/>
              </a:defRPr>
            </a:pPr>
            <a:r>
              <a:t>Indonesia (+33.4)</a:t>
            </a:r>
            <a:br/>
            <a:r>
              <a:t>Fiji (+31.2)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35440" y="4709160"/>
            <a:ext cx="24688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Largest female</a:t>
            </a:r>
            <a:br/>
            <a:r>
              <a:t>advantage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5440" y="493776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1A1A2E"/>
                </a:solidFill>
                <a:latin typeface="Calibri"/>
              </a:defRPr>
            </a:pPr>
            <a:r>
              <a:t>Cambodia (−22.2)</a:t>
            </a:r>
            <a:br/>
            <a:r>
              <a:t>Thailand (−16.4)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235440" y="5394960"/>
            <a:ext cx="2468880" cy="127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35440" y="553212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2171B5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35440" y="5806440"/>
            <a:ext cx="246888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t>Most EAP economies show higher male HCI+, driven largely by employment gaps. However, several countries — notably Cambodia, Thailand, China, and Vietnam — show female advantage, reflecting higher female education outcomes and labor force participation in these economies.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  |  github.com/worldbank/HCI-Plus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2B4C7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East Asia &amp; Pacific  |  HCI+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2171B5"/>
                </a:solidFill>
                <a:latin typeface="Calibri"/>
              </a:defRPr>
            </a:pPr>
            <a:r>
              <a:t>2025</a:t>
            </a:r>
          </a:p>
        </p:txBody>
      </p:sp>
      <p:pic>
        <p:nvPicPr>
          <p:cNvPr id="6" name="Picture 5" descr="eap_hci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5303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  |  github.com/worldbank/HCI-Plus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2B4C7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