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Regions</c:v>
                </c:pt>
              </c:strCache>
            </c:strRef>
          </c:tx>
          <c:spPr>
            <a:solidFill>
              <a:srgbClr val="CCCCCC">
                <a:alpha val="40000"/>
              </a:srgbClr>
            </a:solidFill>
          </c:spPr>
          <c:invertIfNegative val="0"/>
          <c:xVal>
            <c:numRef>
              <c:f>Sheet1!$A$2:$A$39</c:f>
              <c:numCache>
                <c:formatCode>General</c:formatCode>
                <c:ptCount val="38"/>
                <c:pt idx="0">
                  <c:v>8.64</c:v>
                </c:pt>
                <c:pt idx="1">
                  <c:v>9.52</c:v>
                </c:pt>
                <c:pt idx="2">
                  <c:v>8.67</c:v>
                </c:pt>
                <c:pt idx="3">
                  <c:v>7.97</c:v>
                </c:pt>
                <c:pt idx="4">
                  <c:v>8.86</c:v>
                </c:pt>
                <c:pt idx="5">
                  <c:v>8.09</c:v>
                </c:pt>
                <c:pt idx="6">
                  <c:v>7.97</c:v>
                </c:pt>
                <c:pt idx="7">
                  <c:v>8.22</c:v>
                </c:pt>
                <c:pt idx="8">
                  <c:v>10.22</c:v>
                </c:pt>
                <c:pt idx="9">
                  <c:v>8.41</c:v>
                </c:pt>
                <c:pt idx="10">
                  <c:v>9.8</c:v>
                </c:pt>
                <c:pt idx="11">
                  <c:v>11.05</c:v>
                </c:pt>
                <c:pt idx="12">
                  <c:v>10.91</c:v>
                </c:pt>
                <c:pt idx="13">
                  <c:v>11.05</c:v>
                </c:pt>
                <c:pt idx="14">
                  <c:v>10.72</c:v>
                </c:pt>
                <c:pt idx="15">
                  <c:v>11.17</c:v>
                </c:pt>
                <c:pt idx="16">
                  <c:v>10.32</c:v>
                </c:pt>
                <c:pt idx="17">
                  <c:v>9.85</c:v>
                </c:pt>
                <c:pt idx="18">
                  <c:v>8.86</c:v>
                </c:pt>
                <c:pt idx="19">
                  <c:v>10.4</c:v>
                </c:pt>
                <c:pt idx="20">
                  <c:v>9.73</c:v>
                </c:pt>
                <c:pt idx="21">
                  <c:v>10.32</c:v>
                </c:pt>
                <c:pt idx="22">
                  <c:v>9.89</c:v>
                </c:pt>
                <c:pt idx="23">
                  <c:v>10.0</c:v>
                </c:pt>
                <c:pt idx="24">
                  <c:v>9.83</c:v>
                </c:pt>
                <c:pt idx="25">
                  <c:v>10.1</c:v>
                </c:pt>
                <c:pt idx="26">
                  <c:v>9.24</c:v>
                </c:pt>
                <c:pt idx="27">
                  <c:v>8.94</c:v>
                </c:pt>
                <c:pt idx="28">
                  <c:v>9.19</c:v>
                </c:pt>
                <c:pt idx="29">
                  <c:v>9.05</c:v>
                </c:pt>
                <c:pt idx="30">
                  <c:v>9.73</c:v>
                </c:pt>
                <c:pt idx="31">
                  <c:v>8.47</c:v>
                </c:pt>
                <c:pt idx="32">
                  <c:v>9.16</c:v>
                </c:pt>
                <c:pt idx="33">
                  <c:v>9.73</c:v>
                </c:pt>
                <c:pt idx="34">
                  <c:v>9.11</c:v>
                </c:pt>
                <c:pt idx="35">
                  <c:v>10.17</c:v>
                </c:pt>
                <c:pt idx="36">
                  <c:v>11.2</c:v>
                </c:pt>
                <c:pt idx="37">
                  <c:v>10.98</c:v>
                </c:pt>
              </c:numCache>
            </c:numRef>
          </c:xVal>
          <c:yVal>
            <c:numRef>
              <c:f>Sheet1!$B$2:$B$39</c:f>
              <c:numCache>
                <c:formatCode>General</c:formatCode>
                <c:ptCount val="38"/>
                <c:pt idx="0">
                  <c:v>130.7</c:v>
                </c:pt>
                <c:pt idx="1">
                  <c:v>132.1</c:v>
                </c:pt>
                <c:pt idx="2">
                  <c:v>170.8</c:v>
                </c:pt>
                <c:pt idx="3">
                  <c:v>123.4</c:v>
                </c:pt>
                <c:pt idx="4">
                  <c:v>152.9</c:v>
                </c:pt>
                <c:pt idx="5">
                  <c:v>156.9</c:v>
                </c:pt>
                <c:pt idx="6">
                  <c:v>145.2</c:v>
                </c:pt>
                <c:pt idx="7">
                  <c:v>132.6</c:v>
                </c:pt>
                <c:pt idx="8">
                  <c:v>201.0</c:v>
                </c:pt>
                <c:pt idx="9">
                  <c:v>109.4</c:v>
                </c:pt>
                <c:pt idx="10">
                  <c:v>156.9</c:v>
                </c:pt>
                <c:pt idx="11">
                  <c:v>256.5</c:v>
                </c:pt>
                <c:pt idx="12">
                  <c:v>251.2</c:v>
                </c:pt>
                <c:pt idx="13">
                  <c:v>269.3</c:v>
                </c:pt>
                <c:pt idx="14">
                  <c:v>259.5</c:v>
                </c:pt>
                <c:pt idx="15">
                  <c:v>269.7</c:v>
                </c:pt>
                <c:pt idx="16">
                  <c:v>210.5</c:v>
                </c:pt>
                <c:pt idx="17">
                  <c:v>203.5</c:v>
                </c:pt>
                <c:pt idx="18">
                  <c:v>197.5</c:v>
                </c:pt>
                <c:pt idx="19">
                  <c:v>221.3</c:v>
                </c:pt>
                <c:pt idx="20">
                  <c:v>204.7</c:v>
                </c:pt>
                <c:pt idx="21">
                  <c:v>226.2</c:v>
                </c:pt>
                <c:pt idx="22">
                  <c:v>202.9</c:v>
                </c:pt>
                <c:pt idx="23">
                  <c:v>193.5</c:v>
                </c:pt>
                <c:pt idx="24">
                  <c:v>197.6</c:v>
                </c:pt>
                <c:pt idx="25">
                  <c:v>205.3</c:v>
                </c:pt>
                <c:pt idx="26">
                  <c:v>200.1</c:v>
                </c:pt>
                <c:pt idx="27">
                  <c:v>178.1</c:v>
                </c:pt>
                <c:pt idx="28">
                  <c:v>158.8</c:v>
                </c:pt>
                <c:pt idx="29">
                  <c:v>146.7</c:v>
                </c:pt>
                <c:pt idx="30">
                  <c:v>182.6</c:v>
                </c:pt>
                <c:pt idx="31">
                  <c:v>99.3</c:v>
                </c:pt>
                <c:pt idx="32">
                  <c:v>170.2</c:v>
                </c:pt>
                <c:pt idx="33">
                  <c:v>161.2</c:v>
                </c:pt>
                <c:pt idx="34">
                  <c:v>147.1</c:v>
                </c:pt>
                <c:pt idx="35">
                  <c:v>196.3</c:v>
                </c:pt>
                <c:pt idx="36">
                  <c:v>251.2</c:v>
                </c:pt>
                <c:pt idx="37">
                  <c:v>257.3</c:v>
                </c:pt>
              </c:numCache>
            </c:numRef>
          </c:yVal>
          <c:bubbleSize>
            <c:numRef>
              <c:f>Sheet1!$C$2:$C$39</c:f>
              <c:numCache>
                <c:formatCode>General</c:formatCode>
                <c:ptCount val="38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  <c:pt idx="27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  <c:pt idx="31">
                  <c:v>0.3</c:v>
                </c:pt>
                <c:pt idx="32">
                  <c:v>0.3</c:v>
                </c:pt>
                <c:pt idx="33">
                  <c:v>0.3</c:v>
                </c:pt>
                <c:pt idx="34">
                  <c:v>0.3</c:v>
                </c:pt>
                <c:pt idx="35">
                  <c:v>0.3</c:v>
                </c:pt>
                <c:pt idx="36">
                  <c:v>0.3</c:v>
                </c:pt>
                <c:pt idx="37">
                  <c:v>0.3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Sheet1!$B$41</c:f>
              <c:strCache>
                <c:ptCount val="1"/>
                <c:pt idx="0">
                  <c:v>East Asia &amp; Pacific</c:v>
                </c:pt>
              </c:strCache>
            </c:strRef>
          </c:tx>
          <c:spPr>
            <a:solidFill>
              <a:srgbClr val="006EAF"/>
            </a:solidFill>
          </c:spPr>
          <c:invertIfNegative val="0"/>
          <c:xVal>
            <c:numRef>
              <c:f>Sheet1!$A$42:$A$64</c:f>
              <c:numCache>
                <c:formatCode>General</c:formatCode>
                <c:ptCount val="23"/>
                <c:pt idx="0">
                  <c:v>10.74</c:v>
                </c:pt>
                <c:pt idx="1">
                  <c:v>11.79</c:v>
                </c:pt>
                <c:pt idx="2">
                  <c:v>10.83</c:v>
                </c:pt>
                <c:pt idx="3">
                  <c:v>11.0</c:v>
                </c:pt>
                <c:pt idx="4">
                  <c:v>10.78</c:v>
                </c:pt>
                <c:pt idx="5">
                  <c:v>11.1</c:v>
                </c:pt>
                <c:pt idx="6">
                  <c:v>11.63</c:v>
                </c:pt>
                <c:pt idx="7">
                  <c:v>10.08</c:v>
                </c:pt>
                <c:pt idx="8">
                  <c:v>9.58</c:v>
                </c:pt>
                <c:pt idx="9">
                  <c:v>9.73</c:v>
                </c:pt>
                <c:pt idx="10">
                  <c:v>11.28</c:v>
                </c:pt>
                <c:pt idx="11">
                  <c:v>9.99</c:v>
                </c:pt>
                <c:pt idx="12">
                  <c:v>10.44</c:v>
                </c:pt>
                <c:pt idx="13">
                  <c:v>9.55</c:v>
                </c:pt>
                <c:pt idx="14">
                  <c:v>9.58</c:v>
                </c:pt>
                <c:pt idx="15">
                  <c:v>9.25</c:v>
                </c:pt>
                <c:pt idx="16">
                  <c:v>8.86</c:v>
                </c:pt>
                <c:pt idx="17">
                  <c:v>8.67</c:v>
                </c:pt>
                <c:pt idx="18">
                  <c:v>8.09</c:v>
                </c:pt>
                <c:pt idx="19">
                  <c:v>8.57</c:v>
                </c:pt>
                <c:pt idx="20">
                  <c:v>8.86</c:v>
                </c:pt>
                <c:pt idx="21">
                  <c:v>9.06</c:v>
                </c:pt>
                <c:pt idx="22">
                  <c:v>8.06</c:v>
                </c:pt>
              </c:numCache>
            </c:numRef>
          </c:xVal>
          <c:yVal>
            <c:numRef>
              <c:f>Sheet1!$B$42:$B$64</c:f>
              <c:numCache>
                <c:formatCode>General</c:formatCode>
                <c:ptCount val="23"/>
                <c:pt idx="0">
                  <c:v>284.3</c:v>
                </c:pt>
                <c:pt idx="1">
                  <c:v>282.4</c:v>
                </c:pt>
                <c:pt idx="2">
                  <c:v>266.9</c:v>
                </c:pt>
                <c:pt idx="3">
                  <c:v>270.0</c:v>
                </c:pt>
                <c:pt idx="4">
                  <c:v>263.1</c:v>
                </c:pt>
                <c:pt idx="5">
                  <c:v>258.4</c:v>
                </c:pt>
                <c:pt idx="6">
                  <c:v>255.9</c:v>
                </c:pt>
                <c:pt idx="7">
                  <c:v>219.8</c:v>
                </c:pt>
                <c:pt idx="8">
                  <c:v>215.8</c:v>
                </c:pt>
                <c:pt idx="9">
                  <c:v>209.5</c:v>
                </c:pt>
                <c:pt idx="10">
                  <c:v>207.6</c:v>
                </c:pt>
                <c:pt idx="11">
                  <c:v>202.3</c:v>
                </c:pt>
                <c:pt idx="12">
                  <c:v>201.3</c:v>
                </c:pt>
                <c:pt idx="13">
                  <c:v>192.8</c:v>
                </c:pt>
                <c:pt idx="14">
                  <c:v>175.4</c:v>
                </c:pt>
                <c:pt idx="15">
                  <c:v>175.4</c:v>
                </c:pt>
                <c:pt idx="16">
                  <c:v>175.8</c:v>
                </c:pt>
                <c:pt idx="17">
                  <c:v>166.1</c:v>
                </c:pt>
                <c:pt idx="18">
                  <c:v>161.9</c:v>
                </c:pt>
                <c:pt idx="19">
                  <c:v>149.2</c:v>
                </c:pt>
                <c:pt idx="20">
                  <c:v>138.9</c:v>
                </c:pt>
                <c:pt idx="21">
                  <c:v>135.6</c:v>
                </c:pt>
                <c:pt idx="22">
                  <c:v>136.4</c:v>
                </c:pt>
              </c:numCache>
            </c:numRef>
          </c:yVal>
          <c:bubbleSize>
            <c:numRef>
              <c:f>Sheet1!$C$42:$C$64</c:f>
              <c:numCache>
                <c:formatCode>General</c:formatCode>
                <c:ptCount val="2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5"/>
        <c:showNegBubbles val="0"/>
        <c:axId val="-2115720072"/>
        <c:axId val="-2115723560"/>
      </c:bubbleChart>
      <c:valAx>
        <c:axId val="-2115720072"/>
        <c:scaling>
          <c:orientation val="minMax"/>
          <c:max val="12.0"/>
          <c:min val="7.5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Log GDP per Capita (PPP)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310.0"/>
          <c:min val="60.0"/>
        </c:scaling>
        <c:delete val="0"/>
        <c:axPos val="l"/>
        <c:majorGridlines>
          <c:spPr>
            <a:ln>
              <a:solidFill>
                <a:srgbClr val="EEEE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Calibri"/>
                  </a:defRPr>
                </a:pPr>
                <a:r>
                  <a:t>HCI+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57200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00889E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43.4</c:v>
                </c:pt>
                <c:pt idx="3">
                  <c:v>44.9</c:v>
                </c:pt>
                <c:pt idx="4">
                  <c:v>42.8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006EAF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E87D1E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26.9</c:v>
                </c:pt>
                <c:pt idx="1">
                  <c:v>23.4</c:v>
                </c:pt>
                <c:pt idx="2">
                  <c:v>41.5</c:v>
                </c:pt>
                <c:pt idx="3">
                  <c:v>35.0</c:v>
                </c:pt>
                <c:pt idx="4">
                  <c:v>40.7</c:v>
                </c:pt>
                <c:pt idx="5">
                  <c:v>46.6</c:v>
                </c:pt>
                <c:pt idx="6">
                  <c:v>37.2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Score</c:v>
                </c:pt>
              </c:strCache>
            </c:strRef>
          </c:tx>
          <c:spPr>
            <a:solidFill>
              <a:srgbClr val="00889E"/>
            </a:solidFill>
          </c:spPr>
          <c:dPt>
            <c:idx val="2"/>
            <c:spPr>
              <a:solidFill>
                <a:srgbClr val="006EAF"/>
              </a:solidFill>
            </c:spPr>
          </c:dPt>
          <c:dPt>
            <c:idx val="6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4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EAP</c:v>
                </c:pt>
                <c:pt idx="3">
                  <c:v>LAC</c:v>
                </c:pt>
                <c:pt idx="4">
                  <c:v>MENA+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37.3</c:v>
                </c:pt>
                <c:pt idx="1">
                  <c:v>41.0</c:v>
                </c:pt>
                <c:pt idx="2">
                  <c:v>42.8</c:v>
                </c:pt>
                <c:pt idx="3">
                  <c:v>43.4</c:v>
                </c:pt>
                <c:pt idx="4">
                  <c:v>44.9</c:v>
                </c:pt>
                <c:pt idx="5">
                  <c:v>45.9</c:v>
                </c:pt>
                <c:pt idx="6">
                  <c:v>42.6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4"/>
            <c:spPr>
              <a:solidFill>
                <a:srgbClr val="006EAF"/>
              </a:solidFill>
            </c:spPr>
          </c:dPt>
          <c:dPt>
            <c:idx val="6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4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SSA</c:v>
                </c:pt>
                <c:pt idx="1">
                  <c:v>SAR</c:v>
                </c:pt>
                <c:pt idx="2">
                  <c:v>LAC</c:v>
                </c:pt>
                <c:pt idx="3">
                  <c:v>MENA+</c:v>
                </c:pt>
                <c:pt idx="4">
                  <c:v>EAP</c:v>
                </c:pt>
                <c:pt idx="5">
                  <c:v>ECA</c:v>
                </c:pt>
                <c:pt idx="6">
                  <c:v>World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64.1</c:v>
                </c:pt>
                <c:pt idx="1">
                  <c:v>83.0</c:v>
                </c:pt>
                <c:pt idx="2">
                  <c:v>98.3</c:v>
                </c:pt>
                <c:pt idx="3">
                  <c:v>105.8</c:v>
                </c:pt>
                <c:pt idx="4">
                  <c:v>118.1</c:v>
                </c:pt>
                <c:pt idx="5">
                  <c:v>140.8</c:v>
                </c:pt>
                <c:pt idx="6">
                  <c:v>107.4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Employment Score</c:v>
                </c:pt>
              </c:strCache>
            </c:strRef>
          </c:tx>
          <c:spPr>
            <a:solidFill>
              <a:srgbClr val="E87D1E"/>
            </a:solidFill>
          </c:spPr>
          <c:dPt>
            <c:idx val="4"/>
            <c:spPr>
              <a:solidFill>
                <a:srgbClr val="006EAF"/>
              </a:solidFill>
            </c:spPr>
          </c:dPt>
          <c:dPt>
            <c:idx val="3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14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SAR</c:v>
                </c:pt>
                <c:pt idx="1">
                  <c:v>SSA</c:v>
                </c:pt>
                <c:pt idx="2">
                  <c:v>MENA+</c:v>
                </c:pt>
                <c:pt idx="3">
                  <c:v>World</c:v>
                </c:pt>
                <c:pt idx="4">
                  <c:v>EAP</c:v>
                </c:pt>
                <c:pt idx="5">
                  <c:v>LAC</c:v>
                </c:pt>
                <c:pt idx="6">
                  <c:v>ECA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23.4</c:v>
                </c:pt>
                <c:pt idx="1">
                  <c:v>26.9</c:v>
                </c:pt>
                <c:pt idx="2">
                  <c:v>35.0</c:v>
                </c:pt>
                <c:pt idx="3">
                  <c:v>37.2</c:v>
                </c:pt>
                <c:pt idx="4">
                  <c:v>40.7</c:v>
                </c:pt>
                <c:pt idx="5">
                  <c:v>41.5</c:v>
                </c:pt>
                <c:pt idx="6">
                  <c:v>46.6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HCI+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0"/>
            <c:spPr>
              <a:solidFill>
                <a:srgbClr val="E05A4F"/>
              </a:solidFill>
            </c:spPr>
          </c:dPt>
          <c:dPt>
            <c:idx val="1"/>
            <c:spPr>
              <a:solidFill>
                <a:srgbClr val="E05A4F"/>
              </a:solidFill>
            </c:spPr>
          </c:dPt>
          <c:dPt>
            <c:idx val="2"/>
            <c:spPr>
              <a:solidFill>
                <a:srgbClr val="E05A4F"/>
              </a:solidFill>
            </c:spPr>
          </c:dPt>
          <c:dPt>
            <c:idx val="3"/>
            <c:spPr>
              <a:solidFill>
                <a:srgbClr val="E05A4F"/>
              </a:solidFill>
            </c:spPr>
          </c:dPt>
          <c:dPt>
            <c:idx val="4"/>
            <c:spPr>
              <a:solidFill>
                <a:srgbClr val="E05A4F"/>
              </a:solidFill>
            </c:spPr>
          </c:dPt>
          <c:dPt>
            <c:idx val="5"/>
            <c:spPr>
              <a:solidFill>
                <a:srgbClr val="E05A4F"/>
              </a:solidFill>
            </c:spPr>
          </c:dPt>
          <c:dPt>
            <c:idx val="6"/>
            <c:spPr>
              <a:solidFill>
                <a:srgbClr val="E05A4F"/>
              </a:solidFill>
            </c:spPr>
          </c:dPt>
          <c:dPt>
            <c:idx val="7"/>
            <c:spPr>
              <a:solidFill>
                <a:srgbClr val="E05A4F"/>
              </a:solidFill>
            </c:spPr>
          </c:dPt>
          <c:dPt>
            <c:idx val="8"/>
            <c:spPr>
              <a:solidFill>
                <a:srgbClr val="E05A4F"/>
              </a:solidFill>
            </c:spPr>
          </c:dPt>
          <c:dPt>
            <c:idx val="9"/>
            <c:spPr>
              <a:solidFill>
                <a:srgbClr val="E05A4F"/>
              </a:solidFill>
            </c:spPr>
          </c:dPt>
          <c:dPt>
            <c:idx val="10"/>
            <c:spPr>
              <a:solidFill>
                <a:srgbClr val="E05A4F"/>
              </a:solidFill>
            </c:spPr>
          </c:dPt>
          <c:dPt>
            <c:idx val="11"/>
            <c:spPr>
              <a:solidFill>
                <a:srgbClr val="E05A4F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6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135.6</c:v>
                </c:pt>
                <c:pt idx="1">
                  <c:v>136.4</c:v>
                </c:pt>
                <c:pt idx="2">
                  <c:v>138.9</c:v>
                </c:pt>
                <c:pt idx="3">
                  <c:v>145.2</c:v>
                </c:pt>
                <c:pt idx="4">
                  <c:v>149.2</c:v>
                </c:pt>
                <c:pt idx="5">
                  <c:v>161.6</c:v>
                </c:pt>
                <c:pt idx="6">
                  <c:v>161.9</c:v>
                </c:pt>
                <c:pt idx="7">
                  <c:v>164.4</c:v>
                </c:pt>
                <c:pt idx="8">
                  <c:v>166.1</c:v>
                </c:pt>
                <c:pt idx="9">
                  <c:v>175.8</c:v>
                </c:pt>
                <c:pt idx="10">
                  <c:v>175.4</c:v>
                </c:pt>
                <c:pt idx="11">
                  <c:v>175.4</c:v>
                </c:pt>
                <c:pt idx="12">
                  <c:v>192.8</c:v>
                </c:pt>
                <c:pt idx="13">
                  <c:v>201.3</c:v>
                </c:pt>
                <c:pt idx="14">
                  <c:v>202.3</c:v>
                </c:pt>
                <c:pt idx="15">
                  <c:v>207.6</c:v>
                </c:pt>
                <c:pt idx="16">
                  <c:v>209.5</c:v>
                </c:pt>
                <c:pt idx="17">
                  <c:v>215.8</c:v>
                </c:pt>
                <c:pt idx="18">
                  <c:v>219.8</c:v>
                </c:pt>
                <c:pt idx="19">
                  <c:v>228.6</c:v>
                </c:pt>
                <c:pt idx="20">
                  <c:v>255.9</c:v>
                </c:pt>
                <c:pt idx="21">
                  <c:v>258.4</c:v>
                </c:pt>
                <c:pt idx="22">
                  <c:v>263.1</c:v>
                </c:pt>
                <c:pt idx="23">
                  <c:v>266.9</c:v>
                </c:pt>
                <c:pt idx="24">
                  <c:v>270.0</c:v>
                </c:pt>
                <c:pt idx="25">
                  <c:v>282.4</c:v>
                </c:pt>
                <c:pt idx="26">
                  <c:v>284.3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00889E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38.8</c:v>
                </c:pt>
                <c:pt idx="1">
                  <c:v>39.3</c:v>
                </c:pt>
                <c:pt idx="2">
                  <c:v>40.6</c:v>
                </c:pt>
                <c:pt idx="3">
                  <c:v>36.4</c:v>
                </c:pt>
                <c:pt idx="4">
                  <c:v>38.5</c:v>
                </c:pt>
                <c:pt idx="5">
                  <c:v>35.9</c:v>
                </c:pt>
                <c:pt idx="6">
                  <c:v>41.0</c:v>
                </c:pt>
                <c:pt idx="7">
                  <c:v>43.3</c:v>
                </c:pt>
                <c:pt idx="8">
                  <c:v>40.7</c:v>
                </c:pt>
                <c:pt idx="9">
                  <c:v>44.4</c:v>
                </c:pt>
                <c:pt idx="10">
                  <c:v>40.7</c:v>
                </c:pt>
                <c:pt idx="11">
                  <c:v>40.0</c:v>
                </c:pt>
                <c:pt idx="12">
                  <c:v>41.7</c:v>
                </c:pt>
                <c:pt idx="13">
                  <c:v>42.4</c:v>
                </c:pt>
                <c:pt idx="14">
                  <c:v>42.5</c:v>
                </c:pt>
                <c:pt idx="15">
                  <c:v>44.4</c:v>
                </c:pt>
                <c:pt idx="16">
                  <c:v>42.5</c:v>
                </c:pt>
                <c:pt idx="17">
                  <c:v>42.5</c:v>
                </c:pt>
                <c:pt idx="18">
                  <c:v>46.5</c:v>
                </c:pt>
                <c:pt idx="19">
                  <c:v>41.0</c:v>
                </c:pt>
                <c:pt idx="20">
                  <c:v>47.9</c:v>
                </c:pt>
                <c:pt idx="21">
                  <c:v>47.4</c:v>
                </c:pt>
                <c:pt idx="22">
                  <c:v>46.6</c:v>
                </c:pt>
                <c:pt idx="23">
                  <c:v>48.8</c:v>
                </c:pt>
                <c:pt idx="24">
                  <c:v>48.0</c:v>
                </c:pt>
                <c:pt idx="25">
                  <c:v>47.7</c:v>
                </c:pt>
                <c:pt idx="26">
                  <c:v>47.5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006EAF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66.5</c:v>
                </c:pt>
                <c:pt idx="1">
                  <c:v>84.2</c:v>
                </c:pt>
                <c:pt idx="2">
                  <c:v>69.9</c:v>
                </c:pt>
                <c:pt idx="3">
                  <c:v>88.8</c:v>
                </c:pt>
                <c:pt idx="4">
                  <c:v>76.3</c:v>
                </c:pt>
                <c:pt idx="5">
                  <c:v>82.2</c:v>
                </c:pt>
                <c:pt idx="6">
                  <c:v>96.7</c:v>
                </c:pt>
                <c:pt idx="7">
                  <c:v>102.8</c:v>
                </c:pt>
                <c:pt idx="8">
                  <c:v>102.5</c:v>
                </c:pt>
                <c:pt idx="9">
                  <c:v>100.4</c:v>
                </c:pt>
                <c:pt idx="10">
                  <c:v>96.5</c:v>
                </c:pt>
                <c:pt idx="11">
                  <c:v>98.4</c:v>
                </c:pt>
                <c:pt idx="12">
                  <c:v>120.3</c:v>
                </c:pt>
                <c:pt idx="13">
                  <c:v>111.1</c:v>
                </c:pt>
                <c:pt idx="14">
                  <c:v>114.3</c:v>
                </c:pt>
                <c:pt idx="15">
                  <c:v>117.4</c:v>
                </c:pt>
                <c:pt idx="16">
                  <c:v>128.1</c:v>
                </c:pt>
                <c:pt idx="17">
                  <c:v>123.8</c:v>
                </c:pt>
                <c:pt idx="18">
                  <c:v>127.5</c:v>
                </c:pt>
                <c:pt idx="19">
                  <c:v>132.6</c:v>
                </c:pt>
                <c:pt idx="20">
                  <c:v>147.9</c:v>
                </c:pt>
                <c:pt idx="21">
                  <c:v>162.5</c:v>
                </c:pt>
                <c:pt idx="22">
                  <c:v>155.0</c:v>
                </c:pt>
                <c:pt idx="23">
                  <c:v>170.8</c:v>
                </c:pt>
                <c:pt idx="24">
                  <c:v>160.8</c:v>
                </c:pt>
                <c:pt idx="25">
                  <c:v>179.4</c:v>
                </c:pt>
                <c:pt idx="26">
                  <c:v>172.5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</c:v>
                </c:pt>
              </c:strCache>
            </c:strRef>
          </c:tx>
          <c:spPr>
            <a:solidFill>
              <a:srgbClr val="E87D1E"/>
            </a:solidFill>
          </c:spPr>
          <c:cat>
            <c:strRef>
              <c:f>Sheet1!$A$2:$A$28</c:f>
              <c:strCache>
                <c:ptCount val="27"/>
                <c:pt idx="0">
                  <c:v>LAO</c:v>
                </c:pt>
                <c:pt idx="1">
                  <c:v>VUT</c:v>
                </c:pt>
                <c:pt idx="2">
                  <c:v>KHM</c:v>
                </c:pt>
                <c:pt idx="3">
                  <c:v>MHL</c:v>
                </c:pt>
                <c:pt idx="4">
                  <c:v>MMR</c:v>
                </c:pt>
                <c:pt idx="5">
                  <c:v>NRU</c:v>
                </c:pt>
                <c:pt idx="6">
                  <c:v>KIR</c:v>
                </c:pt>
                <c:pt idx="7">
                  <c:v>WSM</c:v>
                </c:pt>
                <c:pt idx="8">
                  <c:v>TUV</c:v>
                </c:pt>
                <c:pt idx="9">
                  <c:v>TON</c:v>
                </c:pt>
                <c:pt idx="10">
                  <c:v>IDN</c:v>
                </c:pt>
                <c:pt idx="11">
                  <c:v>PHL</c:v>
                </c:pt>
                <c:pt idx="12">
                  <c:v>FJI</c:v>
                </c:pt>
                <c:pt idx="13">
                  <c:v>MYS</c:v>
                </c:pt>
                <c:pt idx="14">
                  <c:v>THA</c:v>
                </c:pt>
                <c:pt idx="15">
                  <c:v>BRN</c:v>
                </c:pt>
                <c:pt idx="16">
                  <c:v>MNG</c:v>
                </c:pt>
                <c:pt idx="17">
                  <c:v>VNM</c:v>
                </c:pt>
                <c:pt idx="18">
                  <c:v>CHN</c:v>
                </c:pt>
                <c:pt idx="19">
                  <c:v>PLW</c:v>
                </c:pt>
                <c:pt idx="20">
                  <c:v>MAC</c:v>
                </c:pt>
                <c:pt idx="21">
                  <c:v>HKG</c:v>
                </c:pt>
                <c:pt idx="22">
                  <c:v>NZL</c:v>
                </c:pt>
                <c:pt idx="23">
                  <c:v>KOR</c:v>
                </c:pt>
                <c:pt idx="24">
                  <c:v>AUS</c:v>
                </c:pt>
                <c:pt idx="25">
                  <c:v>SGP</c:v>
                </c:pt>
                <c:pt idx="26">
                  <c:v>JPN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30.3</c:v>
                </c:pt>
                <c:pt idx="1">
                  <c:v>13.0</c:v>
                </c:pt>
                <c:pt idx="2">
                  <c:v>28.4</c:v>
                </c:pt>
                <c:pt idx="3">
                  <c:v>20.0</c:v>
                </c:pt>
                <c:pt idx="4">
                  <c:v>34.3</c:v>
                </c:pt>
                <c:pt idx="5">
                  <c:v>43.5</c:v>
                </c:pt>
                <c:pt idx="6">
                  <c:v>24.2</c:v>
                </c:pt>
                <c:pt idx="7">
                  <c:v>18.3</c:v>
                </c:pt>
                <c:pt idx="8">
                  <c:v>23.0</c:v>
                </c:pt>
                <c:pt idx="9">
                  <c:v>31.0</c:v>
                </c:pt>
                <c:pt idx="10">
                  <c:v>38.1</c:v>
                </c:pt>
                <c:pt idx="11">
                  <c:v>37.1</c:v>
                </c:pt>
                <c:pt idx="12">
                  <c:v>30.8</c:v>
                </c:pt>
                <c:pt idx="13">
                  <c:v>47.8</c:v>
                </c:pt>
                <c:pt idx="14">
                  <c:v>45.5</c:v>
                </c:pt>
                <c:pt idx="15">
                  <c:v>45.8</c:v>
                </c:pt>
                <c:pt idx="16">
                  <c:v>38.9</c:v>
                </c:pt>
                <c:pt idx="17">
                  <c:v>49.5</c:v>
                </c:pt>
                <c:pt idx="18">
                  <c:v>45.8</c:v>
                </c:pt>
                <c:pt idx="19">
                  <c:v>55.0</c:v>
                </c:pt>
                <c:pt idx="20">
                  <c:v>60.1</c:v>
                </c:pt>
                <c:pt idx="21">
                  <c:v>48.5</c:v>
                </c:pt>
                <c:pt idx="22">
                  <c:v>61.5</c:v>
                </c:pt>
                <c:pt idx="23">
                  <c:v>47.4</c:v>
                </c:pt>
                <c:pt idx="24">
                  <c:v>61.2</c:v>
                </c:pt>
                <c:pt idx="25">
                  <c:v>55.3</c:v>
                </c:pt>
                <c:pt idx="26">
                  <c:v>64.4</c:v>
                </c:pt>
              </c:numCache>
            </c:numRef>
          </c:val>
        </c:ser>
        <c:gapWidth val="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 HCI+ &gt; Female HCI+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6B8CA3"/>
              </a:solidFill>
              <a:ln>
                <a:solidFill>
                  <a:srgbClr val="6B8CA3"/>
                </a:solidFill>
              </a:ln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277.5</c:v>
                </c:pt>
                <c:pt idx="1">
                  <c:v>258.9</c:v>
                </c:pt>
                <c:pt idx="2">
                  <c:v>264.8</c:v>
                </c:pt>
                <c:pt idx="3">
                  <c:v>262.7</c:v>
                </c:pt>
                <c:pt idx="4">
                  <c:v>253.8</c:v>
                </c:pt>
                <c:pt idx="5">
                  <c:v>196.3</c:v>
                </c:pt>
                <c:pt idx="6">
                  <c:v>177.2</c:v>
                </c:pt>
                <c:pt idx="7">
                  <c:v>158.7</c:v>
                </c:pt>
                <c:pt idx="8">
                  <c:v>171.8</c:v>
                </c:pt>
                <c:pt idx="9">
                  <c:v>175.2</c:v>
                </c:pt>
                <c:pt idx="10">
                  <c:v>164.2</c:v>
                </c:pt>
                <c:pt idx="11">
                  <c:v>140.3</c:v>
                </c:pt>
                <c:pt idx="12">
                  <c:v>139.5</c:v>
                </c:pt>
                <c:pt idx="13">
                  <c:v>130.5</c:v>
                </c:pt>
                <c:pt idx="14">
                  <c:v>128.0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290.8</c:v>
                </c:pt>
                <c:pt idx="1">
                  <c:v>274.9</c:v>
                </c:pt>
                <c:pt idx="2">
                  <c:v>275.2</c:v>
                </c:pt>
                <c:pt idx="3">
                  <c:v>263.5</c:v>
                </c:pt>
                <c:pt idx="4">
                  <c:v>263.0</c:v>
                </c:pt>
                <c:pt idx="5">
                  <c:v>206.3</c:v>
                </c:pt>
                <c:pt idx="6">
                  <c:v>208.4</c:v>
                </c:pt>
                <c:pt idx="7">
                  <c:v>192.1</c:v>
                </c:pt>
                <c:pt idx="8">
                  <c:v>179.0</c:v>
                </c:pt>
                <c:pt idx="9">
                  <c:v>176.4</c:v>
                </c:pt>
                <c:pt idx="10">
                  <c:v>164.6</c:v>
                </c:pt>
                <c:pt idx="11">
                  <c:v>158.1</c:v>
                </c:pt>
                <c:pt idx="12">
                  <c:v>150.9</c:v>
                </c:pt>
                <c:pt idx="13">
                  <c:v>140.7</c:v>
                </c:pt>
                <c:pt idx="14">
                  <c:v>144.8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Female HCI+ ≥ Male HCI+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E07B73"/>
              </a:solidFill>
              <a:ln>
                <a:solidFill>
                  <a:srgbClr val="E07B73"/>
                </a:solidFill>
              </a:ln>
            </c:spPr>
          </c:marker>
          <c:xVal>
            <c:numRef>
              <c:f>Sheet1!$A$19:$A$28</c:f>
              <c:numCache>
                <c:formatCode>General</c:formatCode>
                <c:ptCount val="10"/>
                <c:pt idx="0">
                  <c:v>284.1</c:v>
                </c:pt>
                <c:pt idx="1">
                  <c:v>260.2</c:v>
                </c:pt>
                <c:pt idx="2">
                  <c:v>225.4</c:v>
                </c:pt>
                <c:pt idx="3">
                  <c:v>220.8</c:v>
                </c:pt>
                <c:pt idx="4">
                  <c:v>214.2</c:v>
                </c:pt>
                <c:pt idx="5">
                  <c:v>211.0</c:v>
                </c:pt>
                <c:pt idx="6">
                  <c:v>210.5</c:v>
                </c:pt>
                <c:pt idx="7">
                  <c:v>173.4</c:v>
                </c:pt>
                <c:pt idx="8">
                  <c:v>163.5</c:v>
                </c:pt>
                <c:pt idx="9">
                  <c:v>150.0</c:v>
                </c:pt>
              </c:numCache>
            </c:numRef>
          </c:xVal>
          <c:yVal>
            <c:numRef>
              <c:f>Sheet1!$B$19:$B$28</c:f>
              <c:numCache>
                <c:formatCode>General</c:formatCode>
                <c:ptCount val="10"/>
                <c:pt idx="0">
                  <c:v>280.6</c:v>
                </c:pt>
                <c:pt idx="1">
                  <c:v>251.6</c:v>
                </c:pt>
                <c:pt idx="2">
                  <c:v>214.2</c:v>
                </c:pt>
                <c:pt idx="3">
                  <c:v>210.8</c:v>
                </c:pt>
                <c:pt idx="4">
                  <c:v>204.8</c:v>
                </c:pt>
                <c:pt idx="5">
                  <c:v>204.2</c:v>
                </c:pt>
                <c:pt idx="6">
                  <c:v>194.1</c:v>
                </c:pt>
                <c:pt idx="7">
                  <c:v>158.8</c:v>
                </c:pt>
                <c:pt idx="8">
                  <c:v>160.3</c:v>
                </c:pt>
                <c:pt idx="9">
                  <c:v>127.8</c:v>
                </c:pt>
              </c:numCache>
            </c:numRef>
          </c:yVal>
          <c:smooth val="0"/>
        </c:ser>
        <c:axId val="-2128940872"/>
        <c:axId val="-2129643912"/>
        <c:ser>
          <c:idx val="2"/>
          <c:order val="2"/>
          <c:tx>
            <c:strRef>
              <c:f/>
              <c:strCache>
                <c:ptCount val="1"/>
                <c:pt idx="0">
                  <c:v>45° line</c:v>
                </c:pt>
              </c:strCache>
            </c:strRef>
          </c:tx>
          <c:spPr>
            <a:ln w="12700">
              <a:solidFill>
                <a:srgbClr val="CCCCCC"/>
              </a:solidFill>
            </a:ln>
          </c:spPr>
          <c:marker>
            <c:symbol val="none"/>
          </c:marker>
          <c:xVal>
            <c:numRef>
              <c:f/>
              <c:numCache>
                <c:ptCount val="2"/>
                <c:pt idx="0">
                  <c:v>120</c:v>
                </c:pt>
                <c:pt idx="1">
                  <c:v>300</c:v>
                </c:pt>
              </c:numCache>
            </c:numRef>
          </c:xVal>
          <c:yVal>
            <c:numRef>
              <c:f/>
              <c:numCache>
                <c:ptCount val="2"/>
                <c:pt idx="0">
                  <c:v>120</c:v>
                </c:pt>
                <c:pt idx="1">
                  <c:v>300</c:v>
                </c:pt>
              </c:numCache>
            </c:numRef>
          </c:yVal>
          <c:smooth val="0"/>
        </c:ser>
      </c:scatterChart>
      <c:valAx>
        <c:axId val="-2128940872"/>
        <c:scaling>
          <c:orientation val="minMax"/>
          <c:max val="300.0"/>
          <c:min val="120.0"/>
        </c:scaling>
        <c:delete val="0"/>
        <c:axPos val="b"/>
        <c:majorGridlines>
          <c:spPr>
            <a:ln>
              <a:solidFill>
                <a:srgbClr val="E8E8E8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100" b="1">
                    <a:latin typeface="Calibri"/>
                  </a:defRPr>
                </a:pPr>
                <a:r>
                  <a:t>Female HCI+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00.0"/>
          <c:min val="120.0"/>
        </c:scaling>
        <c:delete val="0"/>
        <c:axPos val="l"/>
        <c:majorGridlines>
          <c:spPr>
            <a:ln>
              <a:solidFill>
                <a:srgbClr val="E8E8E8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100" b="1">
                    <a:latin typeface="Calibri"/>
                  </a:defRPr>
                </a:pPr>
                <a:r>
                  <a:t>Male HCI+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828800"/>
            <a:ext cx="164592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Human Capital</a:t>
            </a:r>
            <a:br/>
            <a:r>
              <a:t>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6EAF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Regional overview across 27 economies spanning health,</a:t>
            </a:r>
            <a:br/>
            <a:r>
              <a:t>education, and employment dimensions of human capital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6EAF"/>
                </a:solidFill>
                <a:latin typeface="Calibri"/>
              </a:defRPr>
            </a:pPr>
            <a:r>
              <a:t>27 Economies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6EAF"/>
                </a:solidFill>
                <a:latin typeface="Calibri"/>
              </a:defRPr>
            </a:pPr>
            <a:r>
              <a:t>All Income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REGIONAL HCI+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47472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201.7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A7A8C"/>
                </a:solidFill>
                <a:latin typeface="Calibri"/>
              </a:defRPr>
            </a:pPr>
            <a:r>
              <a:t>out of 325  |  World avg: 188.5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20624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889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407408"/>
            <a:ext cx="2504724" cy="91440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470916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1032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910328"/>
            <a:ext cx="1919833" cy="91440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521208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E87D1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41324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5413248"/>
            <a:ext cx="1701306" cy="9144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5321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Ranked #3 among 7 World Bank regions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HCI+ vs GDP per Capita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0467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HCI+ SCORE vs LOG GDP PER CAPITA (PPP)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EAP countries in blue. All other regions shown in light gray for context.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49807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78240" y="1188720"/>
            <a:ext cx="3017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63500" cy="493776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37160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6EAF"/>
                </a:solidFill>
                <a:latin typeface="Calibri"/>
              </a:defRPr>
            </a:pPr>
            <a:r>
              <a:t>EAP IN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37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Regional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737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201.7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029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World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94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188.5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487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651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Economies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651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9443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1089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Top Performer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1089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00889E"/>
                </a:solidFill>
                <a:latin typeface="Calibri"/>
              </a:defRPr>
            </a:pPr>
            <a:r>
              <a:t>Japan (284.3)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4015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5661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Lowest in 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566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E05A4F"/>
                </a:solidFill>
                <a:latin typeface="Calibri"/>
              </a:defRPr>
            </a:pPr>
            <a:r>
              <a:t>Lao PDR (135.6)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8587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Europe/C.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0233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233.3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3159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4805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Latin America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4805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183.2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4773168"/>
            <a:ext cx="256032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4937760"/>
            <a:ext cx="1645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vs Sub-Saharan Africa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9377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7A7A8C"/>
                </a:solidFill>
                <a:latin typeface="Calibri"/>
              </a:defRPr>
            </a:pPr>
            <a:r>
              <a:t>128.4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846320"/>
            <a:ext cx="26517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120640"/>
            <a:ext cx="26517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EAP (avg 201.7) ranks 3rd among WB regions, exceeding the global average by 13 points. The region shows enormous variation: Japan (284.3) leads globally, while Lao PDR (135.6) trails. High-income EAP economies rival Europe.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2590" y="426664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NGA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7946" y="424846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ZAF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7090" y="374596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48739" y="436143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ETH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8929" y="397838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GHA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6742" y="39264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RWA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48739" y="407837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UGA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19579" y="424197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TZA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6298" y="335383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1417" y="454321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SEN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3287" y="39264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BWA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7487" y="263319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DEU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09816" y="270201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FRA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7487" y="246699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SWE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7978" y="259424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POL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5490" y="246180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4634" y="323048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TUR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37455" y="332137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ALB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8929" y="339928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KGZ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53303" y="309025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ROU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59452" y="330579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GEO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4634" y="302662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CHL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6789" y="332916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9959" y="345121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788" y="339798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08295" y="329800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ARG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32606" y="336552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JAM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7598" y="365118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NIC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58438" y="390178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IND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0767" y="405889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BGD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59452" y="359275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LKA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90418" y="467435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PAK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3937" y="375375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JOR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59452" y="387061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EGY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39769" y="405369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MAR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12130" y="341486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IRN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9991" y="270201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USA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3652" y="262281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CCCCCC"/>
                </a:solidFill>
                <a:latin typeface="Calibri"/>
              </a:defRPr>
            </a:pPr>
            <a:r>
              <a:t>CAN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7645" y="227222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JPN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15173" y="229689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SGP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91148" y="249815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KOR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319" y="245790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AUS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16980" y="254750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NZL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91655" y="2608527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HKG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77835" y="264098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78628" y="310972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CHN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36948" y="316166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VNM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59452" y="324346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58659" y="3268138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BRN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45125" y="3336956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THA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12637" y="3349940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MYS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92447" y="346030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FJI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36948" y="368623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IDN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47439" y="368623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PHL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8929" y="3681045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TON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87090" y="3806994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TUV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6742" y="3861529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KIR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38754" y="402643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8929" y="4160172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KHM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65601" y="4203021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LAO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82241" y="4192633"/>
            <a:ext cx="4572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1">
                <a:solidFill>
                  <a:srgbClr val="006EAF"/>
                </a:solidFill>
                <a:latin typeface="Calibri"/>
              </a:defRPr>
            </a:pPr>
            <a:r>
              <a:t>VUT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Component Decomposition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201.7 / 325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09728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18872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6EAF"/>
                </a:solidFill>
                <a:latin typeface="Calibri"/>
              </a:defRPr>
            </a:pPr>
            <a:r>
              <a:t>EAP vs WORLD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0876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Filled = EAP  |  Hollow =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78308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2157984"/>
            <a:ext cx="173736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46022" y="205740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52972" y="2057400"/>
            <a:ext cx="219456" cy="219456"/>
          </a:xfrm>
          <a:prstGeom prst="ellipse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88380" y="224028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889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6032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706624"/>
            <a:ext cx="173736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02416" y="260604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05693" y="2606040"/>
            <a:ext cx="219456" cy="219456"/>
          </a:xfrm>
          <a:prstGeom prst="ellipse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1101" y="278892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0896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3255264"/>
            <a:ext cx="173736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89074" y="3154680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75942" y="3154680"/>
            <a:ext cx="219456" cy="219456"/>
          </a:xfrm>
          <a:prstGeom prst="ellipse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11350" y="3337560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4048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6EAF"/>
                </a:solidFill>
                <a:latin typeface="Calibri"/>
              </a:defRPr>
            </a:pPr>
            <a:r>
              <a:t>REGIONAL AVERAGES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16052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434340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Sub-Saharan Africa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3434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128.4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63600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South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636008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147.5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928616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Latin America &amp; Carib.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928616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183.2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221224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MENA+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22122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185.7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513832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513832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006EAF"/>
                </a:solidFill>
                <a:latin typeface="Calibri"/>
              </a:defRPr>
            </a:pPr>
            <a:r>
              <a:t>201.7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80644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Europe &amp; Central Asia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8064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233.3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09904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099048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1">
                <a:solidFill>
                  <a:srgbClr val="E87D1E"/>
                </a:solidFill>
                <a:latin typeface="Calibri"/>
              </a:defRPr>
            </a:pPr>
            <a:r>
              <a:t>188.5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  |  Regional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EAP Avg: 42.8 / 50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111556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  |  Regional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EAP Avg: 118.1 / 180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111556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Component  |  Regional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E87D1E"/>
                </a:solidFill>
                <a:latin typeface="Calibri"/>
              </a:defRPr>
            </a:pPr>
            <a:r>
              <a:t>EAP Avg: 40.7 / 70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188720"/>
          <a:ext cx="1115568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All Economies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201.7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ALL EAP ECONOMIES BY HCI+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107899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5760720"/>
            <a:ext cx="228600" cy="109728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715000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Above world avg (188.5)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5760720"/>
            <a:ext cx="228600" cy="109728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571500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Below world avg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Country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600" b="1">
                <a:solidFill>
                  <a:srgbClr val="006EAF"/>
                </a:solidFill>
                <a:latin typeface="Calibri"/>
              </a:defRPr>
            </a:pPr>
            <a:r>
              <a:t>Health + Education + Employment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 BY ECONOMY (sorted by total HCI+)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645920"/>
          <a:ext cx="107899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Avg: 42.8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Health outcomes reflect adult survival (ages 15-60) and freedom from childhood stunting.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ADULT SURVIVAL RATE (EAP 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Probability of surviving from age 15 to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4211909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81.5%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006EAF"/>
                </a:solidFill>
                <a:latin typeface="Calibri"/>
              </a:defRPr>
            </a:pPr>
            <a:r>
              <a:t>Best: Korea 96.7%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5794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NOT STUNTED RATE (EAP AVG)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Share of children under 5 not stunted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86.6%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337560"/>
            <a:ext cx="4276100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7A7A8C"/>
                </a:solidFill>
                <a:latin typeface="Calibri"/>
              </a:defRPr>
            </a:pPr>
            <a:r>
              <a:t>World avg: 77.1%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006EAF"/>
                </a:solidFill>
                <a:latin typeface="Calibri"/>
              </a:defRPr>
            </a:pPr>
            <a:r>
              <a:t>Best: Korea 99.1%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99252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4932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Avg: 118.1 / 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Education captures learning quality, years of schooling, pre-primary education, and tertiary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9748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Expected Years</a:t>
            </a:r>
            <a:br/>
            <a:r>
              <a:t>of Schooling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6EAF"/>
                </a:solidFill>
                <a:latin typeface="Calibri Light"/>
              </a:defRPr>
            </a:pPr>
            <a:r>
              <a:t>10.8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years (EAP avg)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1869294" cy="109728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2496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3896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10.1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Japan 12.0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828800"/>
            <a:ext cx="2697480" cy="50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Harmonized Learning</a:t>
            </a:r>
            <a:br/>
            <a:r>
              <a:t>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A9E"/>
                </a:solidFill>
                <a:latin typeface="Calibri Light"/>
              </a:defRPr>
            </a:pPr>
            <a:r>
              <a:t>436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HLO score (out of 625)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74720" y="3520440"/>
            <a:ext cx="1690396" cy="109728"/>
          </a:xfrm>
          <a:prstGeom prst="round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8190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9590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411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Singapore 594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828800"/>
            <a:ext cx="269748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Pre-Primary</a:t>
            </a:r>
            <a:br/>
            <a:r>
              <a:t>Education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889E"/>
                </a:solidFill>
                <a:latin typeface="Calibri Light"/>
              </a:defRPr>
            </a:pPr>
            <a:r>
              <a:t>0.59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learning-adj. years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3520440"/>
            <a:ext cx="1429664" cy="109728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9733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1133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0.46 yrs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Singapore 0.91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1828800"/>
            <a:ext cx="269748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1828800"/>
            <a:ext cx="269748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Tertiary</a:t>
            </a:r>
            <a:br/>
            <a:r>
              <a:t>Enrollment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7D1E"/>
                </a:solidFill>
                <a:latin typeface="Calibri Light"/>
              </a:defRPr>
            </a:pPr>
            <a:r>
              <a:t>37.4%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gross enrollment rate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35440" y="3520440"/>
            <a:ext cx="906261" cy="10972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25390" y="3429000"/>
            <a:ext cx="25400" cy="292608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96790" y="3703320"/>
            <a:ext cx="54864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4048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World: 32.6%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0233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006EAF"/>
                </a:solidFill>
                <a:latin typeface="Calibri"/>
              </a:defRPr>
            </a:pPr>
            <a:r>
              <a:t>Best: Korea 76.9%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709160"/>
            <a:ext cx="11247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709160"/>
            <a:ext cx="63500" cy="146304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Education is EAP's strongest component, scoring 118.1 — well above the world average (107.4) and second only to Europe &amp; Central Asia (140.8). Singapore leads globally with an HLO of 594. EAP averages 10.8 expected years of schooling. Tertiary enrollment (37.4%) and pre-primary (0.59 years) remain areas for growth across the region.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Component  |  East Asia &amp; Pacific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E87D1E"/>
                </a:solidFill>
                <a:latin typeface="Calibri"/>
              </a:defRPr>
            </a:pPr>
            <a:r>
              <a:t>Avg: 40.7 / 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Employment captures labor force participation, wage employment, and skill accumulation for youth (15–24) and working-age (25–65).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E87D1E"/>
                </a:solidFill>
                <a:latin typeface="Calibri"/>
              </a:defRPr>
            </a:pPr>
            <a:r>
              <a:t>YOUTH (15–24)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520440" cy="381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LFP Youth</a:t>
            </a:r>
            <a:br/>
            <a:r>
              <a:t>(15–24)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E87D1E"/>
                </a:solidFill>
                <a:latin typeface="Calibri Light"/>
              </a:defRPr>
            </a:pPr>
            <a:r>
              <a:t>60.0%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2002536" cy="9144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57343" y="2587752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74463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48.2%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Nauru 79.7%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783080"/>
            <a:ext cx="3520440" cy="38100"/>
          </a:xfrm>
          <a:prstGeom prst="rect">
            <a:avLst/>
          </a:prstGeom>
          <a:solidFill>
            <a:srgbClr val="D06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Emp. Rate Youth</a:t>
            </a:r>
            <a:br/>
            <a:r>
              <a:t>(15–24)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D06D12"/>
                </a:solidFill>
                <a:latin typeface="Calibri Light"/>
              </a:defRPr>
            </a:pPr>
            <a:r>
              <a:t>53.0%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2651760"/>
            <a:ext cx="1768906" cy="91440"/>
          </a:xfrm>
          <a:prstGeom prst="roundRect">
            <a:avLst/>
          </a:prstGeom>
          <a:solidFill>
            <a:srgbClr val="D06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19353" y="2587752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6473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39.6%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Cambodia 68.5%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1783080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1783080"/>
            <a:ext cx="3520440" cy="38100"/>
          </a:xfrm>
          <a:prstGeom prst="rect">
            <a:avLst/>
          </a:prstGeom>
          <a:solidFill>
            <a:srgbClr val="C06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Wage Emp.</a:t>
            </a:r>
            <a:br/>
            <a:r>
              <a:t>Youth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1945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C06510"/>
                </a:solidFill>
                <a:latin typeface="Calibri Light"/>
              </a:defRPr>
            </a:pPr>
            <a:r>
              <a:t>75.2%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240280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wage share of employment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651760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0" y="2651760"/>
            <a:ext cx="2509845" cy="91440"/>
          </a:xfrm>
          <a:prstGeom prst="roundRect">
            <a:avLst/>
          </a:prstGeom>
          <a:solidFill>
            <a:srgbClr val="C06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85715" y="2587752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2835" y="2807208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2926080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55.1%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090672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Japan 93.8%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2044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889E"/>
                </a:solidFill>
                <a:latin typeface="Calibri"/>
              </a:defRPr>
            </a:pPr>
            <a:r>
              <a:t>WORKING AGE (25–65)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749039"/>
            <a:ext cx="3520440" cy="381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LFP Working Age</a:t>
            </a:r>
            <a:br/>
            <a:r>
              <a:t>(25–65)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00889E"/>
                </a:solidFill>
                <a:latin typeface="Calibri Light"/>
              </a:defRPr>
            </a:pPr>
            <a:r>
              <a:t>75.3%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8640" y="4617719"/>
            <a:ext cx="2513182" cy="91440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71708" y="4553711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8828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72.6%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Palau 87.8%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4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6240" y="3749039"/>
            <a:ext cx="3520440" cy="38100"/>
          </a:xfrm>
          <a:prstGeom prst="rect">
            <a:avLst/>
          </a:prstGeom>
          <a:solidFill>
            <a:srgbClr val="0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Emp. Rate Working Age</a:t>
            </a:r>
            <a:br/>
            <a:r>
              <a:t>(25–65)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007080"/>
                </a:solidFill>
                <a:latin typeface="Calibri Light"/>
              </a:defRPr>
            </a:pPr>
            <a:r>
              <a:t>72.5%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9768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297680" y="4617719"/>
            <a:ext cx="2419731" cy="91440"/>
          </a:xfrm>
          <a:prstGeom prst="roundRect">
            <a:avLst/>
          </a:prstGeom>
          <a:solidFill>
            <a:srgbClr val="00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93921" y="4553711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1041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68.8%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Palau 85.2%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55280" y="3749039"/>
            <a:ext cx="35204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55280" y="3749039"/>
            <a:ext cx="352044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3840479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1A1A2E"/>
                </a:solidFill>
                <a:latin typeface="Calibri"/>
              </a:defRPr>
            </a:pPr>
            <a:r>
              <a:t>Wage Emp.</a:t>
            </a:r>
            <a:br/>
            <a:r>
              <a:t>Working 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0" y="416051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006EAF"/>
                </a:solidFill>
                <a:latin typeface="Calibri Light"/>
              </a:defRPr>
            </a:pPr>
            <a:r>
              <a:t>71.0%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0" y="4206239"/>
            <a:ext cx="19659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wage share of employment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0" y="4617719"/>
            <a:ext cx="3337560" cy="91440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046720" y="4617719"/>
            <a:ext cx="2369667" cy="91440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42580" y="4553711"/>
            <a:ext cx="25400" cy="2286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59700" y="4773167"/>
            <a:ext cx="45720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00" b="0">
                <a:solidFill>
                  <a:srgbClr val="E87D1E"/>
                </a:solidFill>
                <a:latin typeface="Calibri"/>
              </a:defRPr>
            </a:pPr>
            <a:r>
              <a:t>World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20" y="4892039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7A7A8C"/>
                </a:solidFill>
                <a:latin typeface="Calibri"/>
              </a:defRPr>
            </a:pPr>
            <a:r>
              <a:t>World: 59.8%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5056631"/>
            <a:ext cx="3337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1">
                <a:solidFill>
                  <a:srgbClr val="006EAF"/>
                </a:solidFill>
                <a:latin typeface="Calibri"/>
              </a:defRPr>
            </a:pPr>
            <a:r>
              <a:t>Best: Japan 92.4%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440680"/>
            <a:ext cx="1124712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7200" y="5440680"/>
            <a:ext cx="50800" cy="77724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5468112"/>
            <a:ext cx="4206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E87D1E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650992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EAP employment (40.7) ranks 3rd among regions, above world avg (37.2). Youth LFP (60.0%) far exceeds global avg (48.2%). Japan leads wage employment; Palau and Nauru post strong LFP rates.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Gender Analysis  |  Male vs Female HCI+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MALE HCI+ vs FEMALE HCI+ BY ECONOMY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2860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6400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Countries above the 45° line: Male HCI+ &gt; Female HCI+. Below: Female HCI+ &gt; Male HCI+.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11680"/>
          <a:ext cx="7680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18020" y="212994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JPN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6127" y="233202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SGP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808" y="2444953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KOR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601" y="243900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AUS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58" y="267080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NZL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7089" y="268071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HKG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7678" y="290657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MAC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476" y="364754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CHN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6553" y="371490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VNM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8446" y="383377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MNG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8152" y="384566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BRN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9356" y="4045762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THA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5549" y="380405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7542" y="376245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FJI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2090" y="408538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IDN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545" y="434492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PHL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2358" y="4396435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4692" y="474512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TUV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8846" y="4630216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WSM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2532" y="4715408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KIR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0397" y="475899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MMR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30324" y="4901641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MHL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5040" y="5359298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E07B73"/>
                </a:solidFill>
                <a:latin typeface="Calibri"/>
              </a:defRPr>
            </a:pPr>
            <a:r>
              <a:t>KHM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1996" y="5103723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LAO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8016" y="5022494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1">
                <a:solidFill>
                  <a:srgbClr val="6B8CA3"/>
                </a:solidFill>
                <a:latin typeface="Calibri"/>
              </a:defRPr>
            </a:pPr>
            <a:r>
              <a:t>VUT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1188720"/>
            <a:ext cx="28346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1188720"/>
            <a:ext cx="63500" cy="530352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37160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6EAF"/>
                </a:solidFill>
                <a:latin typeface="Calibri"/>
              </a:defRPr>
            </a:pPr>
            <a:r>
              <a:t>GENDER ANALYSIS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1737360"/>
            <a:ext cx="228600" cy="137160"/>
          </a:xfrm>
          <a:prstGeom prst="rect">
            <a:avLst/>
          </a:prstGeom>
          <a:solidFill>
            <a:srgbClr val="6B8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1709928"/>
            <a:ext cx="21031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Male HCI+ &gt; Female HCI+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1965960"/>
            <a:ext cx="228600" cy="137160"/>
          </a:xfrm>
          <a:prstGeom prst="rect">
            <a:avLst/>
          </a:prstGeom>
          <a:solidFill>
            <a:srgbClr val="E07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1938528"/>
            <a:ext cx="21031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Female HCI+ ≥ Male HCI+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240280"/>
            <a:ext cx="246888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237744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6517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Above 45° 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8803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15 economies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15468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Male HCI+ exceeds Female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3375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Below 45° 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5661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10 economies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40480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Female HCI+ exceeds Male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0233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Largest male</a:t>
            </a:r>
            <a:br/>
            <a:r>
              <a:t>advantage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2519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Indonesia (+33.4)</a:t>
            </a:r>
            <a:br/>
            <a:r>
              <a:t>Fiji (+31.2)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7091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Largest female</a:t>
            </a:r>
            <a:br/>
            <a:r>
              <a:t>advantage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493776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Cambodia (−22.2)</a:t>
            </a:r>
            <a:br/>
            <a:r>
              <a:t>Thailand (−16.4)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5394960"/>
            <a:ext cx="246888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5532120"/>
            <a:ext cx="24688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806440"/>
            <a:ext cx="24688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Most EAP economies show higher male HCI+, driven largely by employment gaps. However, several countries — notably Cambodia, Thailand, China, and Vietnam — show female advantage, reflecting higher female education outcomes and labor force participation in these economies.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East Asia &amp; Pacific  |  HCI+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2025</a:t>
            </a:r>
          </a:p>
        </p:txBody>
      </p:sp>
      <p:pic>
        <p:nvPicPr>
          <p:cNvPr id="6" name="Picture 5" descr="eap_hci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