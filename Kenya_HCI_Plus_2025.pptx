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Health (36.6)</c:v>
                </c:pt>
              </c:strCache>
            </c:strRef>
          </c:tx>
          <c:spPr>
            <a:solidFill>
              <a:srgbClr val="00A85A"/>
            </a:solidFill>
          </c:spPr>
          <c:cat>
            <c:strRef>
              <c:f>Sheet1!$A$2:$A$2</c:f>
              <c:strCache>
                <c:ptCount val="1"/>
                <c:pt idx="0">
                  <c:v>Kenya HCI+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36.6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Education (109.0)</c:v>
                </c:pt>
              </c:strCache>
            </c:strRef>
          </c:tx>
          <c:spPr>
            <a:solidFill>
              <a:srgbClr val="0096D6"/>
            </a:solidFill>
          </c:spPr>
          <c:cat>
            <c:strRef>
              <c:f>Sheet1!$A$2:$A$2</c:f>
              <c:strCache>
                <c:ptCount val="1"/>
                <c:pt idx="0">
                  <c:v>Kenya HCI+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109.0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Employment (25.3)</c:v>
                </c:pt>
              </c:strCache>
            </c:strRef>
          </c:tx>
          <c:spPr>
            <a:solidFill>
              <a:srgbClr val="F2A900"/>
            </a:solidFill>
          </c:spPr>
          <c:cat>
            <c:strRef>
              <c:f>Sheet1!$A$2:$A$2</c:f>
              <c:strCache>
                <c:ptCount val="1"/>
                <c:pt idx="0">
                  <c:v>Kenya HCI+</c:v>
                </c:pt>
              </c:strCache>
            </c: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25.3</c:v>
                </c:pt>
              </c:numCache>
            </c:numRef>
          </c:val>
        </c:ser>
        <c:gapWidth val="80"/>
        <c:overlap val="100"/>
        <c:axId val="-2068027336"/>
        <c:axId val="-2113994440"/>
      </c:barChart>
      <c:catAx>
        <c:axId val="-2068027336"/>
        <c:scaling>
          <c:orientation val="minMax"/>
        </c:scaling>
        <c:delete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25.0"/>
        </c:scaling>
        <c:delete val="0"/>
        <c:axPos val="b"/>
        <c:majorGridlines>
          <c:spPr>
            <a:ln>
              <a:solidFill>
                <a:srgbClr val="D0D5DD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D0D5DD"/>
            </a:solidFill>
          </a:ln>
        </c:sp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Female</c:v>
                </c:pt>
              </c:strCache>
            </c:strRef>
          </c:tx>
          <c:spPr>
            <a:solidFill>
              <a:srgbClr val="E84D3D"/>
            </a:solidFill>
          </c:spPr>
          <c:cat>
            <c:strRef>
              <c:f>Sheet1!$A$2:$A$5</c:f>
              <c:strCache>
                <c:ptCount val="4"/>
                <c:pt idx="0">
                  <c:v>Health</c:v>
                </c:pt>
                <c:pt idx="1">
                  <c:v>Education</c:v>
                </c:pt>
                <c:pt idx="2">
                  <c:v>Employment</c:v>
                </c:pt>
                <c:pt idx="3">
                  <c:v>Total HCI+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38.3</c:v>
                </c:pt>
                <c:pt idx="1">
                  <c:v>109.4</c:v>
                </c:pt>
                <c:pt idx="2">
                  <c:v>18.6</c:v>
                </c:pt>
                <c:pt idx="3">
                  <c:v>166.3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Male</c:v>
                </c:pt>
              </c:strCache>
            </c:strRef>
          </c:tx>
          <c:spPr>
            <a:solidFill>
              <a:srgbClr val="0096D6"/>
            </a:solidFill>
          </c:spPr>
          <c:cat>
            <c:strRef>
              <c:f>Sheet1!$A$2:$A$5</c:f>
              <c:strCache>
                <c:ptCount val="4"/>
                <c:pt idx="0">
                  <c:v>Health</c:v>
                </c:pt>
                <c:pt idx="1">
                  <c:v>Education</c:v>
                </c:pt>
                <c:pt idx="2">
                  <c:v>Employment</c:v>
                </c:pt>
                <c:pt idx="3">
                  <c:v>Total HCI+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35.0</c:v>
                </c:pt>
                <c:pt idx="1">
                  <c:v>108.5</c:v>
                </c:pt>
                <c:pt idx="2">
                  <c:v>32.1</c:v>
                </c:pt>
                <c:pt idx="3">
                  <c:v>175.6</c:v>
                </c:pt>
              </c:numCache>
            </c:numRef>
          </c:val>
        </c:ser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/>
      <c:txPr>
        <a:bodyPr/>
        <a:lstStyle/>
        <a:p>
          <a:pPr>
            <a:defRPr sz="900"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Female (38.3)</c:v>
                </c:pt>
              </c:strCache>
            </c:strRef>
          </c:tx>
          <c:spPr>
            <a:solidFill>
              <a:srgbClr val="E84D3D"/>
            </a:solidFill>
          </c:spPr>
          <c:cat>
            <c:strRef>
              <c:f>Sheet1!$A$2:$A$2</c:f>
              <c:strCache>
                <c:ptCount val="1"/>
                <c:pt idx="0">
                  <c:v>Health Component Score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38.3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Male (35.0)</c:v>
                </c:pt>
              </c:strCache>
            </c:strRef>
          </c:tx>
          <c:spPr>
            <a:solidFill>
              <a:srgbClr val="0096D6"/>
            </a:solidFill>
          </c:spPr>
          <c:cat>
            <c:strRef>
              <c:f>Sheet1!$A$2:$A$2</c:f>
              <c:strCache>
                <c:ptCount val="1"/>
                <c:pt idx="0">
                  <c:v>Health Component Score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35.0</c:v>
                </c:pt>
              </c:numCache>
            </c:numRef>
          </c:val>
        </c:ser>
        <c:gapWidth val="60"/>
        <c:axId val="-2068027336"/>
        <c:axId val="-2113994440"/>
      </c:barChart>
      <c:catAx>
        <c:axId val="-2068027336"/>
        <c:scaling>
          <c:orientation val="minMax"/>
        </c:scaling>
        <c:delete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legend>
      <c:legendPos/>
      <c:txPr>
        <a:bodyPr/>
        <a:lstStyle/>
        <a:p>
          <a:pPr>
            <a:defRPr sz="900"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Female (109.4)</c:v>
                </c:pt>
              </c:strCache>
            </c:strRef>
          </c:tx>
          <c:spPr>
            <a:solidFill>
              <a:srgbClr val="E84D3D"/>
            </a:solidFill>
          </c:spPr>
          <c:cat>
            <c:strRef>
              <c:f>Sheet1!$A$2:$A$2</c:f>
              <c:strCache>
                <c:ptCount val="1"/>
                <c:pt idx="0">
                  <c:v>Education Component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109.4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Male (108.5)</c:v>
                </c:pt>
              </c:strCache>
            </c:strRef>
          </c:tx>
          <c:spPr>
            <a:solidFill>
              <a:srgbClr val="0096D6"/>
            </a:solidFill>
          </c:spPr>
          <c:cat>
            <c:strRef>
              <c:f>Sheet1!$A$2:$A$2</c:f>
              <c:strCache>
                <c:ptCount val="1"/>
                <c:pt idx="0">
                  <c:v>Education Component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108.5</c:v>
                </c:pt>
              </c:numCache>
            </c:numRef>
          </c:val>
        </c:ser>
        <c:gapWidth val="60"/>
        <c:axId val="-2068027336"/>
        <c:axId val="-2113994440"/>
      </c:barChart>
      <c:catAx>
        <c:axId val="-2068027336"/>
        <c:scaling>
          <c:orientation val="minMax"/>
        </c:scaling>
        <c:delete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legend>
      <c:legendPos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Female</c:v>
                </c:pt>
              </c:strCache>
            </c:strRef>
          </c:tx>
          <c:spPr>
            <a:solidFill>
              <a:srgbClr val="E84D3D"/>
            </a:solidFill>
          </c:spPr>
          <c:cat>
            <c:strRef>
              <c:f>Sheet1!$A$2:$A$5</c:f>
              <c:strCache>
                <c:ptCount val="4"/>
                <c:pt idx="0">
                  <c:v>LFP Youth</c:v>
                </c:pt>
                <c:pt idx="1">
                  <c:v>Wage Emp Youth</c:v>
                </c:pt>
                <c:pt idx="2">
                  <c:v>LFP Working Age</c:v>
                </c:pt>
                <c:pt idx="3">
                  <c:v>Wage Emp Working Age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37.2</c:v>
                </c:pt>
                <c:pt idx="1">
                  <c:v>32.9</c:v>
                </c:pt>
                <c:pt idx="2">
                  <c:v>71.0</c:v>
                </c:pt>
                <c:pt idx="3">
                  <c:v>25.4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Male</c:v>
                </c:pt>
              </c:strCache>
            </c:strRef>
          </c:tx>
          <c:spPr>
            <a:solidFill>
              <a:srgbClr val="0096D6"/>
            </a:solidFill>
          </c:spPr>
          <c:cat>
            <c:strRef>
              <c:f>Sheet1!$A$2:$A$5</c:f>
              <c:strCache>
                <c:ptCount val="4"/>
                <c:pt idx="0">
                  <c:v>LFP Youth</c:v>
                </c:pt>
                <c:pt idx="1">
                  <c:v>Wage Emp Youth</c:v>
                </c:pt>
                <c:pt idx="2">
                  <c:v>LFP Working Age</c:v>
                </c:pt>
                <c:pt idx="3">
                  <c:v>Wage Emp Working Age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42.4</c:v>
                </c:pt>
                <c:pt idx="1">
                  <c:v>43.9</c:v>
                </c:pt>
                <c:pt idx="2">
                  <c:v>85.2</c:v>
                </c:pt>
                <c:pt idx="3">
                  <c:v>44.2</c:v>
                </c:pt>
              </c:numCache>
            </c:numRef>
          </c:val>
        </c:ser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txPr>
        <a:bodyPr/>
        <a:lstStyle/>
        <a:p>
          <a:pPr>
            <a:defRPr sz="900"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12191695" cy="1828800"/>
          </a:xfrm>
          <a:prstGeom prst="rect">
            <a:avLst/>
          </a:prstGeom>
          <a:solidFill>
            <a:srgbClr val="001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2103120"/>
            <a:ext cx="1828800" cy="508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377440"/>
            <a:ext cx="91440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4400" b="1">
                <a:solidFill>
                  <a:srgbClr val="FFFFFF"/>
                </a:solidFill>
                <a:latin typeface="Calibri Light"/>
              </a:defRPr>
            </a:pPr>
            <a:r>
              <a:t>Human Capital Index Plus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383280"/>
            <a:ext cx="91440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400" b="1">
                <a:solidFill>
                  <a:srgbClr val="0096D6"/>
                </a:solidFill>
                <a:latin typeface="Calibri"/>
              </a:defRPr>
            </a:pPr>
            <a:r>
              <a:t>HCI+  | 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114800"/>
            <a:ext cx="91440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KENYA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303520"/>
            <a:ext cx="73152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AABBCC"/>
                </a:solidFill>
                <a:latin typeface="Calibri"/>
              </a:defRPr>
            </a:pPr>
            <a:r>
              <a:t>Measuring human capital from birth through working age</a:t>
            </a:r>
            <a:br/>
            <a:r>
              <a:t>across health, education, and employment dimensions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6126480"/>
            <a:ext cx="2286000" cy="320040"/>
          </a:xfrm>
          <a:prstGeom prst="roundRect">
            <a:avLst/>
          </a:prstGeom>
          <a:solidFill>
            <a:srgbClr val="00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6126480"/>
            <a:ext cx="228600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0">
                <a:solidFill>
                  <a:srgbClr val="0096D6"/>
                </a:solidFill>
                <a:latin typeface="Calibri"/>
              </a:defRPr>
            </a:pPr>
            <a:r>
              <a:t>Sub-Saharan Africa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40480" y="6126480"/>
            <a:ext cx="2286000" cy="320040"/>
          </a:xfrm>
          <a:prstGeom prst="roundRect">
            <a:avLst/>
          </a:prstGeom>
          <a:solidFill>
            <a:srgbClr val="00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0" y="6126480"/>
            <a:ext cx="228600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0">
                <a:solidFill>
                  <a:srgbClr val="0096D6"/>
                </a:solidFill>
                <a:latin typeface="Calibri"/>
              </a:defRPr>
            </a:pPr>
            <a:r>
              <a:t>Lower Middle Income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0" y="2286000"/>
            <a:ext cx="2560320" cy="3200400"/>
          </a:xfrm>
          <a:prstGeom prst="roundRect">
            <a:avLst/>
          </a:prstGeom>
          <a:solidFill>
            <a:srgbClr val="00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0" y="2468880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1">
                <a:solidFill>
                  <a:srgbClr val="0096D6"/>
                </a:solidFill>
                <a:latin typeface="Calibri"/>
              </a:defRPr>
            </a:pPr>
            <a:r>
              <a:t>OVERALL SCORE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2926080"/>
            <a:ext cx="2560320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6400" b="1">
                <a:solidFill>
                  <a:srgbClr val="FFFFFF"/>
                </a:solidFill>
                <a:latin typeface="Calibri Light"/>
              </a:defRPr>
            </a:pPr>
            <a:r>
              <a:t>170.8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4389120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300" b="0">
                <a:solidFill>
                  <a:srgbClr val="8C8C8C"/>
                </a:solidFill>
                <a:latin typeface="Calibri"/>
              </a:defRPr>
            </a:pPr>
            <a:r>
              <a:t>out of 325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4754880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1">
                <a:solidFill>
                  <a:srgbClr val="F2A900"/>
                </a:solidFill>
                <a:latin typeface="Calibri"/>
              </a:defRPr>
            </a:pPr>
            <a:r>
              <a:t>52.6% of potential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731520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2600" b="1">
                <a:solidFill>
                  <a:srgbClr val="FFFFFF"/>
                </a:solidFill>
                <a:latin typeface="Calibri Light"/>
              </a:defRPr>
            </a:pPr>
            <a:r>
              <a:t>Kenya  |  HCI+ Score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82880"/>
            <a:ext cx="365760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2000" b="1">
                <a:solidFill>
                  <a:srgbClr val="0096D6"/>
                </a:solidFill>
                <a:latin typeface="Calibri"/>
              </a:defRPr>
            </a:pPr>
            <a:r>
              <a:t>Score: 170.8 / 325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4572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8C8C8C"/>
                </a:solidFill>
                <a:latin typeface="Calibri"/>
              </a:defRPr>
            </a:pPr>
            <a:r>
              <a:t>OVERALL HCI+ COMPOSITION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3657600" cy="381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31520" y="1828800"/>
          <a:ext cx="5029200" cy="1371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31520" y="3474720"/>
            <a:ext cx="3383280" cy="14630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3520440"/>
            <a:ext cx="3291840" cy="50800"/>
          </a:xfrm>
          <a:prstGeom prst="rect">
            <a:avLst/>
          </a:prstGeom>
          <a:solidFill>
            <a:srgbClr val="00A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703320"/>
            <a:ext cx="310896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2800" b="1">
                <a:solidFill>
                  <a:srgbClr val="00A85A"/>
                </a:solidFill>
                <a:latin typeface="Calibri"/>
              </a:defRPr>
            </a:pPr>
            <a:r>
              <a:t>36.6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434840"/>
            <a:ext cx="31089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8C8C8C"/>
                </a:solidFill>
                <a:latin typeface="Calibri"/>
              </a:defRPr>
            </a:pPr>
            <a:r>
              <a:t>HEALTH COMPONENT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3474720"/>
            <a:ext cx="3383280" cy="14630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34840" y="3520440"/>
            <a:ext cx="3291840" cy="508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3703320"/>
            <a:ext cx="310896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2800" b="1">
                <a:solidFill>
                  <a:srgbClr val="0096D6"/>
                </a:solidFill>
                <a:latin typeface="Calibri"/>
              </a:defRPr>
            </a:pPr>
            <a:r>
              <a:t>109.0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4434840"/>
            <a:ext cx="31089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8C8C8C"/>
                </a:solidFill>
                <a:latin typeface="Calibri"/>
              </a:defRPr>
            </a:pPr>
            <a:r>
              <a:t>EDUCATION COMPONENT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3474720"/>
            <a:ext cx="3383280" cy="14630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92440" y="3520440"/>
            <a:ext cx="3291840" cy="50800"/>
          </a:xfrm>
          <a:prstGeom prst="rect">
            <a:avLst/>
          </a:prstGeom>
          <a:solidFill>
            <a:srgbClr val="F2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83880" y="3703320"/>
            <a:ext cx="310896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2800" b="1">
                <a:solidFill>
                  <a:srgbClr val="F2A900"/>
                </a:solidFill>
                <a:latin typeface="Calibri"/>
              </a:defRPr>
            </a:pPr>
            <a:r>
              <a:t>25.3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80" y="4434840"/>
            <a:ext cx="31089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8C8C8C"/>
                </a:solidFill>
                <a:latin typeface="Calibri"/>
              </a:defRPr>
            </a:pPr>
            <a:r>
              <a:t>EMPLOYMENT COMPONENT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212080"/>
            <a:ext cx="4572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8C8C8C"/>
                </a:solidFill>
                <a:latin typeface="Calibri"/>
              </a:defRPr>
            </a:pPr>
            <a:r>
              <a:t>GENDER COMPARISON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5532120"/>
            <a:ext cx="3657600" cy="381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731520" y="5623560"/>
          <a:ext cx="10515600" cy="6400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4" name="Rounded Rectangle 23"/>
          <p:cNvSpPr/>
          <p:nvPr/>
        </p:nvSpPr>
        <p:spPr>
          <a:xfrm>
            <a:off x="6400800" y="1280160"/>
            <a:ext cx="502920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0" y="1280160"/>
            <a:ext cx="63500" cy="18288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5120" y="1371600"/>
            <a:ext cx="4572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0096D6"/>
                </a:solidFill>
                <a:latin typeface="Calibri"/>
              </a:defRPr>
            </a:pPr>
            <a:r>
              <a:t>KEY INSIGHT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1691640"/>
            <a:ext cx="457200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Kenya scores 170.8 out of 325 on the HCI+, meaning a child born today can expect to achieve 52.6% of their potential human capital. Education is the strongest contributor at 109.0 points, while employment outcomes (25.3) present the greatest opportunity for improvement.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6446520"/>
            <a:ext cx="5486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Source: World Bank Human Capital Index Plus (HCI+) 2025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6446520"/>
            <a:ext cx="3657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900" b="0">
                <a:solidFill>
                  <a:srgbClr val="0096D6"/>
                </a:solidFill>
                <a:latin typeface="Calibri"/>
              </a:defRPr>
            </a:pPr>
            <a:r>
              <a:t>humancapital.worldbank.org/hciplus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0" y="6446520"/>
            <a:ext cx="640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900" b="0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50800"/>
          </a:xfrm>
          <a:prstGeom prst="rect">
            <a:avLst/>
          </a:prstGeom>
          <a:solidFill>
            <a:srgbClr val="00A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"/>
            <a:ext cx="914400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2600" b="1">
                <a:solidFill>
                  <a:srgbClr val="FFFFFF"/>
                </a:solidFill>
                <a:latin typeface="Calibri Light"/>
              </a:defRPr>
            </a:pPr>
            <a:r>
              <a:t>Health Component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182880"/>
            <a:ext cx="365760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2000" b="1">
                <a:solidFill>
                  <a:srgbClr val="00A85A"/>
                </a:solidFill>
                <a:latin typeface="Calibri"/>
              </a:defRPr>
            </a:pPr>
            <a:r>
              <a:t>Score: 36.6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54864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8C8C8C"/>
                </a:solidFill>
                <a:latin typeface="Calibri"/>
              </a:defRPr>
            </a:pPr>
            <a:r>
              <a:t>Health outcomes reflect a population's ability to survive into productive adulthood and develop without the burden of childhood malnutrition.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103120"/>
            <a:ext cx="5029200" cy="2560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103120"/>
            <a:ext cx="5029200" cy="50800"/>
          </a:xfrm>
          <a:prstGeom prst="rect">
            <a:avLst/>
          </a:prstGeom>
          <a:solidFill>
            <a:srgbClr val="00A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286000"/>
            <a:ext cx="4572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00A85A"/>
                </a:solidFill>
                <a:latin typeface="Calibri"/>
              </a:defRPr>
            </a:pPr>
            <a:r>
              <a:t>ADULT SURVIVAL 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606040"/>
            <a:ext cx="4572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8C8C8C"/>
                </a:solidFill>
                <a:latin typeface="Calibri"/>
              </a:defRPr>
            </a:pPr>
            <a:r>
              <a:t>Probability of surviving from age 15 to 60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017520"/>
            <a:ext cx="22860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4800" b="1">
                <a:solidFill>
                  <a:srgbClr val="00A85A"/>
                </a:solidFill>
                <a:latin typeface="Calibri Light"/>
              </a:defRPr>
            </a:pPr>
            <a:r>
              <a:t>68.4%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3017520"/>
            <a:ext cx="20116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E84D3D"/>
                </a:solidFill>
                <a:latin typeface="Calibri"/>
              </a:defRPr>
            </a:pPr>
            <a:r>
              <a:t>Female: 72.5%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3383280"/>
            <a:ext cx="20116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0096D6"/>
                </a:solidFill>
                <a:latin typeface="Calibri"/>
              </a:defRPr>
            </a:pPr>
            <a:r>
              <a:t>Male: 64.4%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5840" y="3931920"/>
            <a:ext cx="4572000" cy="228600"/>
          </a:xfrm>
          <a:prstGeom prst="round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05840" y="3931920"/>
            <a:ext cx="3127248" cy="228600"/>
          </a:xfrm>
          <a:prstGeom prst="roundRect">
            <a:avLst/>
          </a:prstGeom>
          <a:solidFill>
            <a:srgbClr val="00A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206240"/>
            <a:ext cx="457200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8C8C8C"/>
                </a:solidFill>
                <a:latin typeface="Calibri"/>
              </a:defRPr>
            </a:pPr>
            <a:r>
              <a:t>68.4% survival rate (target: 100%)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2103120"/>
            <a:ext cx="5029200" cy="2560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0" y="2103120"/>
            <a:ext cx="5029200" cy="50800"/>
          </a:xfrm>
          <a:prstGeom prst="rect">
            <a:avLst/>
          </a:prstGeom>
          <a:solidFill>
            <a:srgbClr val="00A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2286000"/>
            <a:ext cx="4572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00A85A"/>
                </a:solidFill>
                <a:latin typeface="Calibri"/>
              </a:defRPr>
            </a:pPr>
            <a:r>
              <a:t>NOT STUNTED RATE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2606040"/>
            <a:ext cx="4572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8C8C8C"/>
                </a:solidFill>
                <a:latin typeface="Calibri"/>
              </a:defRPr>
            </a:pPr>
            <a:r>
              <a:t>Share of children under 5 not stunted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3017520"/>
            <a:ext cx="22860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4800" b="1">
                <a:solidFill>
                  <a:srgbClr val="00A85A"/>
                </a:solidFill>
                <a:latin typeface="Calibri Light"/>
              </a:defRPr>
            </a:pPr>
            <a:r>
              <a:t>82.4%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3017520"/>
            <a:ext cx="20116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E84D3D"/>
                </a:solidFill>
                <a:latin typeface="Calibri"/>
              </a:defRPr>
            </a:pPr>
            <a:r>
              <a:t>Female: 84.4%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3383280"/>
            <a:ext cx="20116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0096D6"/>
                </a:solidFill>
                <a:latin typeface="Calibri"/>
              </a:defRPr>
            </a:pPr>
            <a:r>
              <a:t>Male: 80.4%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75120" y="3931920"/>
            <a:ext cx="4572000" cy="228600"/>
          </a:xfrm>
          <a:prstGeom prst="round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675120" y="3931920"/>
            <a:ext cx="3767328" cy="228600"/>
          </a:xfrm>
          <a:prstGeom prst="roundRect">
            <a:avLst/>
          </a:prstGeom>
          <a:solidFill>
            <a:srgbClr val="00A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5120" y="4206240"/>
            <a:ext cx="457200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8C8C8C"/>
                </a:solidFill>
                <a:latin typeface="Calibri"/>
              </a:defRPr>
            </a:pPr>
            <a:r>
              <a:t>82.4% not stunted (target: 100%)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029200"/>
            <a:ext cx="4572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8C8C8C"/>
                </a:solidFill>
                <a:latin typeface="Calibri"/>
              </a:defRPr>
            </a:pPr>
            <a:r>
              <a:t>HEALTH COMPONENT BY GENDER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5303520"/>
            <a:ext cx="2743200" cy="38100"/>
          </a:xfrm>
          <a:prstGeom prst="rect">
            <a:avLst/>
          </a:prstGeom>
          <a:solidFill>
            <a:srgbClr val="00A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0" name="Chart 29"/>
          <p:cNvGraphicFramePr>
            <a:graphicFrameLocks noGrp="1"/>
          </p:cNvGraphicFramePr>
          <p:nvPr/>
        </p:nvGraphicFramePr>
        <p:xfrm>
          <a:off x="731520" y="5394960"/>
          <a:ext cx="5029200" cy="822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1" name="Rounded Rectangle 30"/>
          <p:cNvSpPr/>
          <p:nvPr/>
        </p:nvSpPr>
        <p:spPr>
          <a:xfrm>
            <a:off x="6400800" y="5029200"/>
            <a:ext cx="502920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0" y="5029200"/>
            <a:ext cx="63500" cy="1188720"/>
          </a:xfrm>
          <a:prstGeom prst="rect">
            <a:avLst/>
          </a:prstGeom>
          <a:solidFill>
            <a:srgbClr val="00A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75120" y="5120640"/>
            <a:ext cx="45720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00A85A"/>
                </a:solidFill>
                <a:latin typeface="Calibri"/>
              </a:defRPr>
            </a:pPr>
            <a:r>
              <a:t>KEY TAKEAWAY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5394960"/>
            <a:ext cx="45720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1A1A2E"/>
                </a:solidFill>
                <a:latin typeface="Calibri"/>
              </a:defRPr>
            </a:pPr>
            <a:r>
              <a:t>Kenya's adult survival rate of 68.4% indicates significant room for improvement. However, the relatively high not-stunted rate of 82.4% suggests progress in childhood nutrition. Women have better survival and nutrition outcomes than men.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6446520"/>
            <a:ext cx="5486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Source: World Bank Human Capital Index Plus (HCI+) 2025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0" y="6446520"/>
            <a:ext cx="3657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900" b="0">
                <a:solidFill>
                  <a:srgbClr val="0096D6"/>
                </a:solidFill>
                <a:latin typeface="Calibri"/>
              </a:defRPr>
            </a:pPr>
            <a:r>
              <a:t>humancapital.worldbank.org/hciplus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0" y="6446520"/>
            <a:ext cx="640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900" b="0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508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"/>
            <a:ext cx="914400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2600" b="1">
                <a:solidFill>
                  <a:srgbClr val="FFFFFF"/>
                </a:solidFill>
                <a:latin typeface="Calibri Light"/>
              </a:defRPr>
            </a:pPr>
            <a:r>
              <a:t>Education Component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182880"/>
            <a:ext cx="365760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2000" b="1">
                <a:solidFill>
                  <a:srgbClr val="0096D6"/>
                </a:solidFill>
                <a:latin typeface="Calibri"/>
              </a:defRPr>
            </a:pPr>
            <a:r>
              <a:t>Score: 109.0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7315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8C8C8C"/>
                </a:solidFill>
                <a:latin typeface="Calibri"/>
              </a:defRPr>
            </a:pPr>
            <a:r>
              <a:t>Education captures learning outcomes, years of schooling, pre-primary education, and tertiary enrollment — the foundation for human capital accumulation.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103120"/>
            <a:ext cx="2560320" cy="2377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103120"/>
            <a:ext cx="2560320" cy="508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645920" y="2377440"/>
            <a:ext cx="548640" cy="548640"/>
          </a:xfrm>
          <a:prstGeom prst="ellipse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45920" y="2377440"/>
            <a:ext cx="548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08960"/>
            <a:ext cx="237744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3200" b="1">
                <a:solidFill>
                  <a:srgbClr val="0096D6"/>
                </a:solidFill>
                <a:latin typeface="Calibri Light"/>
              </a:defRPr>
            </a:pPr>
            <a:r>
              <a:t>11.03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611880"/>
            <a:ext cx="23774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8C8C8C"/>
                </a:solidFill>
                <a:latin typeface="Calibri"/>
              </a:defRPr>
            </a:pPr>
            <a:r>
              <a:t>years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9319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A1A2E"/>
                </a:solidFill>
                <a:latin typeface="Calibri"/>
              </a:defRPr>
            </a:pPr>
            <a:r>
              <a:t>Expected Years</a:t>
            </a:r>
            <a:br/>
            <a:r>
              <a:t>of Schooling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20440" y="2103120"/>
            <a:ext cx="2560320" cy="2377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520440" y="2103120"/>
            <a:ext cx="2560320" cy="50800"/>
          </a:xfrm>
          <a:prstGeom prst="rect">
            <a:avLst/>
          </a:prstGeom>
          <a:solidFill>
            <a:srgbClr val="007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434840" y="2377440"/>
            <a:ext cx="548640" cy="548640"/>
          </a:xfrm>
          <a:prstGeom prst="ellipse">
            <a:avLst/>
          </a:prstGeom>
          <a:solidFill>
            <a:srgbClr val="007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34840" y="2377440"/>
            <a:ext cx="548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80" y="3108960"/>
            <a:ext cx="237744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3200" b="1">
                <a:solidFill>
                  <a:srgbClr val="007AB8"/>
                </a:solidFill>
                <a:latin typeface="Calibri Light"/>
              </a:defRPr>
            </a:pPr>
            <a:r>
              <a:t>418.1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11880" y="3611880"/>
            <a:ext cx="23774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8C8C8C"/>
                </a:solidFill>
                <a:latin typeface="Calibri"/>
              </a:defRPr>
            </a:pPr>
            <a:r>
              <a:t>HLO score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11880" y="39319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A1A2E"/>
                </a:solidFill>
                <a:latin typeface="Calibri"/>
              </a:defRPr>
            </a:pPr>
            <a:r>
              <a:t>Harmonized Learning</a:t>
            </a:r>
            <a:br/>
            <a:r>
              <a:t>Outcomes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2103120"/>
            <a:ext cx="2560320" cy="2377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09360" y="2103120"/>
            <a:ext cx="2560320" cy="50800"/>
          </a:xfrm>
          <a:prstGeom prst="rect">
            <a:avLst/>
          </a:prstGeom>
          <a:solidFill>
            <a:srgbClr val="00A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223760" y="2377440"/>
            <a:ext cx="548640" cy="548640"/>
          </a:xfrm>
          <a:prstGeom prst="ellipse">
            <a:avLst/>
          </a:prstGeom>
          <a:solidFill>
            <a:srgbClr val="00A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23760" y="2377440"/>
            <a:ext cx="548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3108960"/>
            <a:ext cx="237744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3200" b="1">
                <a:solidFill>
                  <a:srgbClr val="00A85A"/>
                </a:solidFill>
                <a:latin typeface="Calibri Light"/>
              </a:defRPr>
            </a:pPr>
            <a:r>
              <a:t>0.62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3611880"/>
            <a:ext cx="23774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8C8C8C"/>
                </a:solidFill>
                <a:latin typeface="Calibri"/>
              </a:defRPr>
            </a:pPr>
            <a:r>
              <a:t>LAYS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9319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A1A2E"/>
                </a:solidFill>
                <a:latin typeface="Calibri"/>
              </a:defRPr>
            </a:pPr>
            <a:r>
              <a:t>Pre-Primary</a:t>
            </a:r>
            <a:br/>
            <a:r>
              <a:t>Education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98280" y="2103120"/>
            <a:ext cx="2560320" cy="2377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098280" y="2103120"/>
            <a:ext cx="2560320" cy="50800"/>
          </a:xfrm>
          <a:prstGeom prst="rect">
            <a:avLst/>
          </a:prstGeom>
          <a:solidFill>
            <a:srgbClr val="F2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012680" y="2377440"/>
            <a:ext cx="548640" cy="548640"/>
          </a:xfrm>
          <a:prstGeom prst="ellipse">
            <a:avLst/>
          </a:prstGeom>
          <a:solidFill>
            <a:srgbClr val="F2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12680" y="2377440"/>
            <a:ext cx="548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89720" y="3108960"/>
            <a:ext cx="237744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3200" b="1">
                <a:solidFill>
                  <a:srgbClr val="F2A900"/>
                </a:solidFill>
                <a:latin typeface="Calibri Light"/>
              </a:defRPr>
            </a:pPr>
            <a:r>
              <a:t>20.3%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89720" y="3611880"/>
            <a:ext cx="23774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8C8C8C"/>
                </a:solidFill>
                <a:latin typeface="Calibri"/>
              </a:defRPr>
            </a:pPr>
            <a:r>
              <a:t>gross rate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89720" y="39319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A1A2E"/>
                </a:solidFill>
                <a:latin typeface="Calibri"/>
              </a:defRPr>
            </a:pPr>
            <a:r>
              <a:t>Tertiary</a:t>
            </a:r>
            <a:br/>
            <a:r>
              <a:t>Enrollment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4754880"/>
            <a:ext cx="4572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8C8C8C"/>
                </a:solidFill>
                <a:latin typeface="Calibri"/>
              </a:defRPr>
            </a:pPr>
            <a:r>
              <a:t>EDUCATION COMPONENT BY GENDER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1520" y="5029200"/>
            <a:ext cx="2743200" cy="381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8" name="Chart 37"/>
          <p:cNvGraphicFramePr>
            <a:graphicFrameLocks noGrp="1"/>
          </p:cNvGraphicFramePr>
          <p:nvPr/>
        </p:nvGraphicFramePr>
        <p:xfrm>
          <a:off x="731520" y="5120640"/>
          <a:ext cx="5029200" cy="822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9" name="Rounded Rectangle 38"/>
          <p:cNvSpPr/>
          <p:nvPr/>
        </p:nvSpPr>
        <p:spPr>
          <a:xfrm>
            <a:off x="6400800" y="4754880"/>
            <a:ext cx="502920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400800" y="4754880"/>
            <a:ext cx="63500" cy="13716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75120" y="4846320"/>
            <a:ext cx="45720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0096D6"/>
                </a:solidFill>
                <a:latin typeface="Calibri"/>
              </a:defRPr>
            </a:pPr>
            <a:r>
              <a:t>KEY TAKEAWAY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75120" y="5120640"/>
            <a:ext cx="45720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1A1A2E"/>
                </a:solidFill>
                <a:latin typeface="Calibri"/>
              </a:defRPr>
            </a:pPr>
            <a:r>
              <a:t>Education is Kenya's strongest HCI+ pillar at 109.0 points. With 11.03 expected years of schooling and an HLO score of 418.1, Kenya demonstrates solid educational foundations. Tertiary enrollment at 20.3% presents an area for growth. Gender parity in education is nearly achieved, with minimal gaps between male and female scores.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" y="6446520"/>
            <a:ext cx="5486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Source: World Bank Human Capital Index Plus (HCI+) 2025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600" y="6446520"/>
            <a:ext cx="3657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900" b="0">
                <a:solidFill>
                  <a:srgbClr val="0096D6"/>
                </a:solidFill>
                <a:latin typeface="Calibri"/>
              </a:defRPr>
            </a:pPr>
            <a:r>
              <a:t>humancapital.worldbank.org/hciplus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430000" y="6446520"/>
            <a:ext cx="640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900" b="0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50800"/>
          </a:xfrm>
          <a:prstGeom prst="rect">
            <a:avLst/>
          </a:prstGeom>
          <a:solidFill>
            <a:srgbClr val="F2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"/>
            <a:ext cx="914400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2600" b="1">
                <a:solidFill>
                  <a:srgbClr val="FFFFFF"/>
                </a:solidFill>
                <a:latin typeface="Calibri Light"/>
              </a:defRPr>
            </a:pPr>
            <a:r>
              <a:t>Employment &amp; On-the-Job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182880"/>
            <a:ext cx="365760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2000" b="1">
                <a:solidFill>
                  <a:srgbClr val="F2A900"/>
                </a:solidFill>
                <a:latin typeface="Calibri"/>
              </a:defRPr>
            </a:pPr>
            <a:r>
              <a:t>Score: 25.3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7315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8C8C8C"/>
                </a:solidFill>
                <a:latin typeface="Calibri"/>
              </a:defRPr>
            </a:pPr>
            <a:r>
              <a:t>Employment outcomes capture labor force participation, wage employment, and unemployment rates for both youth and working-age populations.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5029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F2A900"/>
                </a:solidFill>
                <a:latin typeface="Calibri"/>
              </a:defRPr>
            </a:pPr>
            <a:r>
              <a:t>YOUTH (15–24)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331720"/>
            <a:ext cx="1828800" cy="38100"/>
          </a:xfrm>
          <a:prstGeom prst="rect">
            <a:avLst/>
          </a:prstGeom>
          <a:solidFill>
            <a:srgbClr val="F2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2468880"/>
            <a:ext cx="502920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606040"/>
            <a:ext cx="1828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8C8C8C"/>
                </a:solidFill>
                <a:latin typeface="Calibri"/>
              </a:defRPr>
            </a:pPr>
            <a:r>
              <a:t>Indicator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606040"/>
            <a:ext cx="914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1">
                <a:solidFill>
                  <a:srgbClr val="8C8C8C"/>
                </a:solidFill>
                <a:latin typeface="Calibri"/>
              </a:defRPr>
            </a:pPr>
            <a:r>
              <a:t>Both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606040"/>
            <a:ext cx="914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1">
                <a:solidFill>
                  <a:srgbClr val="0096D6"/>
                </a:solidFill>
                <a:latin typeface="Calibri"/>
              </a:defRPr>
            </a:pPr>
            <a:r>
              <a:t>Male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606040"/>
            <a:ext cx="914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1">
                <a:solidFill>
                  <a:srgbClr val="E84D3D"/>
                </a:solidFill>
                <a:latin typeface="Calibri"/>
              </a:defRPr>
            </a:pPr>
            <a:r>
              <a:t>Female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2880360"/>
            <a:ext cx="4572000" cy="12700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2971800"/>
            <a:ext cx="1828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1A1A2E"/>
                </a:solidFill>
                <a:latin typeface="Calibri"/>
              </a:defRPr>
            </a:pPr>
            <a:r>
              <a:t>Labor Force Participation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2971800"/>
            <a:ext cx="914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1">
                <a:solidFill>
                  <a:srgbClr val="1A1A2E"/>
                </a:solidFill>
                <a:latin typeface="Calibri"/>
              </a:defRPr>
            </a:pPr>
            <a:r>
              <a:t>39.6%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971800"/>
            <a:ext cx="914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0">
                <a:solidFill>
                  <a:srgbClr val="0096D6"/>
                </a:solidFill>
                <a:latin typeface="Calibri"/>
              </a:defRPr>
            </a:pPr>
            <a:r>
              <a:t>42.4%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2971800"/>
            <a:ext cx="914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0">
                <a:solidFill>
                  <a:srgbClr val="E84D3D"/>
                </a:solidFill>
                <a:latin typeface="Calibri"/>
              </a:defRPr>
            </a:pPr>
            <a:r>
              <a:t>37.2%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3291840"/>
            <a:ext cx="4572000" cy="127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474720"/>
            <a:ext cx="1828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1A1A2E"/>
                </a:solidFill>
                <a:latin typeface="Calibri"/>
              </a:defRPr>
            </a:pPr>
            <a:r>
              <a:t>Wage Employment Share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3474720"/>
            <a:ext cx="914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1">
                <a:solidFill>
                  <a:srgbClr val="1A1A2E"/>
                </a:solidFill>
                <a:latin typeface="Calibri"/>
              </a:defRPr>
            </a:pPr>
            <a:r>
              <a:t>38.8%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3474720"/>
            <a:ext cx="914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0">
                <a:solidFill>
                  <a:srgbClr val="0096D6"/>
                </a:solidFill>
                <a:latin typeface="Calibri"/>
              </a:defRPr>
            </a:pPr>
            <a:r>
              <a:t>43.9%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3474720"/>
            <a:ext cx="914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0">
                <a:solidFill>
                  <a:srgbClr val="E84D3D"/>
                </a:solidFill>
                <a:latin typeface="Calibri"/>
              </a:defRPr>
            </a:pPr>
            <a:r>
              <a:t>32.9%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011680"/>
            <a:ext cx="5029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F2A900"/>
                </a:solidFill>
                <a:latin typeface="Calibri"/>
              </a:defRPr>
            </a:pPr>
            <a:r>
              <a:t>WORKING AGE (25–65)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2331720"/>
            <a:ext cx="1828800" cy="38100"/>
          </a:xfrm>
          <a:prstGeom prst="rect">
            <a:avLst/>
          </a:prstGeom>
          <a:solidFill>
            <a:srgbClr val="F2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00800" y="2468880"/>
            <a:ext cx="502920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2606040"/>
            <a:ext cx="1828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8C8C8C"/>
                </a:solidFill>
                <a:latin typeface="Calibri"/>
              </a:defRPr>
            </a:pPr>
            <a:r>
              <a:t>Indicator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2606040"/>
            <a:ext cx="914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1">
                <a:solidFill>
                  <a:srgbClr val="8C8C8C"/>
                </a:solidFill>
                <a:latin typeface="Calibri"/>
              </a:defRPr>
            </a:pPr>
            <a:r>
              <a:t>Both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0" y="2606040"/>
            <a:ext cx="914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1">
                <a:solidFill>
                  <a:srgbClr val="0096D6"/>
                </a:solidFill>
                <a:latin typeface="Calibri"/>
              </a:defRPr>
            </a:pPr>
            <a:r>
              <a:t>Male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41280" y="2606040"/>
            <a:ext cx="914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1">
                <a:solidFill>
                  <a:srgbClr val="E84D3D"/>
                </a:solidFill>
                <a:latin typeface="Calibri"/>
              </a:defRPr>
            </a:pPr>
            <a:r>
              <a:t>Female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0" y="2880360"/>
            <a:ext cx="4572000" cy="12700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0" y="2971800"/>
            <a:ext cx="1828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1A1A2E"/>
                </a:solidFill>
                <a:latin typeface="Calibri"/>
              </a:defRPr>
            </a:pPr>
            <a:r>
              <a:t>Labor Force Participation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2971800"/>
            <a:ext cx="914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1">
                <a:solidFill>
                  <a:srgbClr val="1A1A2E"/>
                </a:solidFill>
                <a:latin typeface="Calibri"/>
              </a:defRPr>
            </a:pPr>
            <a:r>
              <a:t>78.0%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26880" y="2971800"/>
            <a:ext cx="914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0">
                <a:solidFill>
                  <a:srgbClr val="0096D6"/>
                </a:solidFill>
                <a:latin typeface="Calibri"/>
              </a:defRPr>
            </a:pPr>
            <a:r>
              <a:t>85.2%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41280" y="2971800"/>
            <a:ext cx="914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0">
                <a:solidFill>
                  <a:srgbClr val="E84D3D"/>
                </a:solidFill>
                <a:latin typeface="Calibri"/>
              </a:defRPr>
            </a:pPr>
            <a:r>
              <a:t>71.0%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0" y="3291840"/>
            <a:ext cx="4572000" cy="127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80" y="3474720"/>
            <a:ext cx="1828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1A1A2E"/>
                </a:solidFill>
                <a:latin typeface="Calibri"/>
              </a:defRPr>
            </a:pPr>
            <a:r>
              <a:t>Wage Employment Share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12480" y="3474720"/>
            <a:ext cx="914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1">
                <a:solidFill>
                  <a:srgbClr val="1A1A2E"/>
                </a:solidFill>
                <a:latin typeface="Calibri"/>
              </a:defRPr>
            </a:pPr>
            <a:r>
              <a:t>35.6%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26880" y="3474720"/>
            <a:ext cx="914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0">
                <a:solidFill>
                  <a:srgbClr val="0096D6"/>
                </a:solidFill>
                <a:latin typeface="Calibri"/>
              </a:defRPr>
            </a:pPr>
            <a:r>
              <a:t>44.2%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41280" y="3474720"/>
            <a:ext cx="914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0">
                <a:solidFill>
                  <a:srgbClr val="E84D3D"/>
                </a:solidFill>
                <a:latin typeface="Calibri"/>
              </a:defRPr>
            </a:pPr>
            <a:r>
              <a:t>25.4%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" y="4572000"/>
            <a:ext cx="4572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8C8C8C"/>
                </a:solidFill>
                <a:latin typeface="Calibri"/>
              </a:defRPr>
            </a:pPr>
            <a:r>
              <a:t>EMPLOYMENT COMPONENT BY GENDER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31520" y="4846320"/>
            <a:ext cx="2743200" cy="38100"/>
          </a:xfrm>
          <a:prstGeom prst="rect">
            <a:avLst/>
          </a:prstGeom>
          <a:solidFill>
            <a:srgbClr val="F2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4" name="Chart 43"/>
          <p:cNvGraphicFramePr>
            <a:graphicFrameLocks noGrp="1"/>
          </p:cNvGraphicFramePr>
          <p:nvPr/>
        </p:nvGraphicFramePr>
        <p:xfrm>
          <a:off x="731520" y="4937760"/>
          <a:ext cx="5029200" cy="1280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5" name="Rounded Rectangle 44"/>
          <p:cNvSpPr/>
          <p:nvPr/>
        </p:nvSpPr>
        <p:spPr>
          <a:xfrm>
            <a:off x="6400800" y="4572000"/>
            <a:ext cx="502920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400800" y="4572000"/>
            <a:ext cx="63500" cy="1645920"/>
          </a:xfrm>
          <a:prstGeom prst="rect">
            <a:avLst/>
          </a:prstGeom>
          <a:solidFill>
            <a:srgbClr val="F2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675120" y="4663440"/>
            <a:ext cx="45720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F2A900"/>
                </a:solidFill>
                <a:latin typeface="Calibri"/>
              </a:defRPr>
            </a:pPr>
            <a:r>
              <a:t>KEY TAKEAWAY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75120" y="4937760"/>
            <a:ext cx="457200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1A1A2E"/>
                </a:solidFill>
                <a:latin typeface="Calibri"/>
              </a:defRPr>
            </a:pPr>
            <a:r>
              <a:t>Employment is Kenya's weakest HCI+ component at 25.3 points. While working-age labor force participation is relatively strong at 78.0%, youth employment (39.6% LFP) and wage employment shares remain low. Significant gender gaps exist: women's wage employment (25.4%) is nearly half that of men (44.2%), presenting a major opportunity for improvement.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7200" y="6446520"/>
            <a:ext cx="5486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Source: World Bank Human Capital Index Plus (HCI+) 2025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29600" y="6446520"/>
            <a:ext cx="3657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900" b="0">
                <a:solidFill>
                  <a:srgbClr val="0096D6"/>
                </a:solidFill>
                <a:latin typeface="Calibri"/>
              </a:defRPr>
            </a:pPr>
            <a:r>
              <a:t>humancapital.worldbank.org/hciplus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430000" y="6446520"/>
            <a:ext cx="640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900" b="0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